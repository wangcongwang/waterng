
<file path=[Content_Types].xml><?xml version="1.0" encoding="utf-8"?>
<Types xmlns="http://schemas.openxmlformats.org/package/2006/content-types">
  <Default Extension="svg" ContentType="image/svg+xml"/>
  <Default Extension="jpg" ContentType="image/jpeg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29.xml" ContentType="application/vnd.openxmlformats-officedocument.presentationml.slide+xml"/>
  <Override PartName="/ppt/slides/slide31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3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5" Type="http://schemas.openxmlformats.org/officeDocument/2006/relationships/viewProps" Target="viewProps.xml" /><Relationship Id="rId34" Type="http://schemas.openxmlformats.org/officeDocument/2006/relationships/tableStyles" Target="tableStyles.xml" /><Relationship Id="rId33" Type="http://schemas.openxmlformats.org/officeDocument/2006/relationships/presProps" Target="presProps.xml" /><Relationship Id="rId32" Type="http://schemas.openxmlformats.org/officeDocument/2006/relationships/notesMaster" Target="notesMasters/notesMaster1.xml" /><Relationship Id="rId31" Type="http://schemas.openxmlformats.org/officeDocument/2006/relationships/slide" Target="slides/slide31.xml" /><Relationship Id="rId30" Type="http://schemas.openxmlformats.org/officeDocument/2006/relationships/slide" Target="slides/slide30.xml" /><Relationship Id="rId3" Type="http://schemas.openxmlformats.org/officeDocument/2006/relationships/slide" Target="slides/slide3.xml" /><Relationship Id="rId8" Type="http://schemas.openxmlformats.org/officeDocument/2006/relationships/slide" Target="slides/slide8.xml" /><Relationship Id="rId29" Type="http://schemas.openxmlformats.org/officeDocument/2006/relationships/slide" Target="slides/slide29.xml" /><Relationship Id="rId28" Type="http://schemas.openxmlformats.org/officeDocument/2006/relationships/slide" Target="slides/slide28.xml" /><Relationship Id="rId27" Type="http://schemas.openxmlformats.org/officeDocument/2006/relationships/slide" Target="slides/slide27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4" Type="http://schemas.openxmlformats.org/officeDocument/2006/relationships/slide" Target="slides/slide24.xml" /><Relationship Id="rId23" Type="http://schemas.openxmlformats.org/officeDocument/2006/relationships/slide" Target="slides/slide23.xml" /><Relationship Id="rId22" Type="http://schemas.openxmlformats.org/officeDocument/2006/relationships/slide" Target="slides/slide22.xml" /><Relationship Id="rId21" Type="http://schemas.openxmlformats.org/officeDocument/2006/relationships/slide" Target="slides/slide21.xml" /><Relationship Id="rId20" Type="http://schemas.openxmlformats.org/officeDocument/2006/relationships/slide" Target="slides/slide20.xml" /><Relationship Id="rId2" Type="http://schemas.openxmlformats.org/officeDocument/2006/relationships/slide" Target="slides/slide2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9" Type="http://schemas.openxmlformats.org/officeDocument/2006/relationships/slide" Target="slides/slide9.xml" /><Relationship Id="rId16" Type="http://schemas.openxmlformats.org/officeDocument/2006/relationships/slide" Target="slides/slide16.xml" /><Relationship Id="rId15" Type="http://schemas.openxmlformats.org/officeDocument/2006/relationships/slide" Target="slides/slide15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7" Type="http://schemas.openxmlformats.org/officeDocument/2006/relationships/slide" Target="slides/slide1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3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24.svg" /><Relationship Id="rId3" Type="http://schemas.openxmlformats.org/officeDocument/2006/relationships/image" Target="media/image25.svg" /><Relationship Id="rId1" Type="http://schemas.openxmlformats.org/officeDocument/2006/relationships/image" Target="media/image23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27.svg" /><Relationship Id="rId1" Type="http://schemas.openxmlformats.org/officeDocument/2006/relationships/image" Target="media/image26.svg" /><Relationship Id="rId4" Type="http://schemas.openxmlformats.org/officeDocument/2006/relationships/image" Target="media/image23.svg" /><Relationship Id="rId3" Type="http://schemas.openxmlformats.org/officeDocument/2006/relationships/image" Target="media/image28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9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30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32.svg" /><Relationship Id="rId3" Type="http://schemas.openxmlformats.org/officeDocument/2006/relationships/image" Target="media/image33.svg" /><Relationship Id="rId1" Type="http://schemas.openxmlformats.org/officeDocument/2006/relationships/image" Target="media/image31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media/image4.svg" /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4" Type="http://schemas.openxmlformats.org/officeDocument/2006/relationships/image" Target="media/image10.svg" /><Relationship Id="rId3" Type="http://schemas.openxmlformats.org/officeDocument/2006/relationships/image" Target="media/image9.svg" /><Relationship Id="rId2" Type="http://schemas.openxmlformats.org/officeDocument/2006/relationships/image" Target="media/image8.svg" /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4.sv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5.svg" /><Relationship Id="rId2" Type="http://schemas.openxmlformats.org/officeDocument/2006/relationships/image" Target="media/image16.sv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4" Type="http://schemas.openxmlformats.org/officeDocument/2006/relationships/image" Target="media/image20.svg" /><Relationship Id="rId3" Type="http://schemas.openxmlformats.org/officeDocument/2006/relationships/image" Target="media/image19.svg" /><Relationship Id="rId1" Type="http://schemas.openxmlformats.org/officeDocument/2006/relationships/image" Target="media/image17.svg" /><Relationship Id="rId2" Type="http://schemas.openxmlformats.org/officeDocument/2006/relationships/image" Target="media/image18.sv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21.svg" /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22.svg" /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fontFamily: 'Inter, PingFang SC, Helvetica Neue, sans-serif', background: '#0F1034' }}&gt;&#10;    &lt;Image src='resources/images/cover_bg.jpg' style={{ position: 'absolute', top: 0, left: 0, width: 1280, height: 720, objectFit: 'cover' }} /&gt;&#10;    &lt;Box style={{ position: 'absolute', top: 0, left: 0, width: 1280, height: 720, background: 'linear-gradient(90deg, rgba(15,16,52,0.95) 0%, rgba(15,16,52,0.87) 40%, rgba(15,16,52,0.46) 70%, rgba(15,16,52,0.72) 100%)' }} /&gt;&#10;    &lt;Box style={{ position: 'absolute', bottom: 0, right: 0, width: 520, height: 240, background: 'linear-gradient(315deg, rgba(8,10,32,1) 0%, rgba(8,10,32,0.9) 24%, rgba(8,10,32,0) 64%)' }} /&gt;&#10;&#10;    &lt;Box style={{ position: 'relative', width: '100%', height: '100%', padding: '68px 80px', flexDirection: 'column', justifyContent: 'space-between' }}&gt;&#10;        &lt;Box style={{ flexDirection: 'row', alignItems: 'center', gap: 14 }}&gt;&#10;            &lt;Box style={{ width: 34, height: 3, background: '#2AA7CF' }} /&gt;&#10;            &lt;Text style={{ fontSize: 16, color: '#7FD3EC', letterSpacing: 3.2, fontWeight: 'bold' }}&gt;AQUALIFE / ELKEN · 内部功能讲解&lt;/Text&gt;&#10;        &lt;/Box&gt;&#10;&#10;        &lt;Box style={{ flexDirection: 'column' }}&gt;&#10;            &lt;Text style={{ fontSize: 68, fontWeight: 'bold', color: '#FFFFFF', lineHeight: 1.15, letterSpacing: -1.5 }}&gt;&#10;                三种下单路径&#10;                &lt;br /&gt;&#10;                一个账户落点&#10;            &lt;/Text&gt;&#10;            &lt;Text style={{ fontSize: 22, color: '#B9C6E4', lineHeight: 1.5, marginTop: 20, width: 830 }}&gt;&#10;                客户可以不注册直接下单，也可以先注册再购买，还可以用已有账户购买。三种走法，订单归属和奖金去向完全不同。&#10;            &lt;/Text&gt;&#10;&#10;            &lt;Box style={{ flexDirection: 'row', gap: 14, marginTop: 32 }}&gt;&#10;                {[&#10;                    { t: '路径一 · 没有账号直接下单', c: '#202259' },&#10;                    { t: '路径二 · 注册账户去购买', c: '#2AA7CF' },&#10;                    { t: '路径三 · 已有账户去购买', c: '#F287B7' },&#10;                ].map(function (it, i) {&#10;                    return (&#10;                        &lt;Box key={i} style={{ flexDirection: 'row', alignItems: 'center', gap: 10, padding: '11px 18px', background: 'rgba(255,255,255,0.08)', border: '1px solid rgba(255,255,255,0.18)', borderRadius: 8 }}&gt;&#10;                            &lt;Box style={{ width: 10, height: 10, borderRadius: 5, background: it.c, border: '1px solid rgba(255,255,255,0.5)' }} /&gt;&#10;                            &lt;Text style={{ fontSize: 17, color: '#E6EDF8' }}&gt;{it.t}&lt;/Text&gt;&#10;                        &lt;/Box&gt;&#10;                    );&#10;                })}&#10;            &lt;/Box&gt;&#10;        &lt;/Box&gt;&#10;&#10;        &lt;Box style={{ flexDirection: 'row', justifyContent: 'space-between', alignItems: 'center' }}&gt;&#10;            &lt;Text style={{ fontSize: 16, color: '#8A9BC0', letterSpacing: 0.4 }}&gt;下单流程 · 会员注册 · 账户与奖金后台&lt;/Text&gt;&#10;            &lt;Box style={{ padding: '9px 18px', background: 'rgba(8,10,32,0.94)', border: '1px solid rgba(127,211,236,0.32)', borderRadius: 999 }}&gt;&#10;                &lt;Text style={{ fontSize: 15, color: '#CFE9F4', letterSpacing: 0.4 }}&gt;2026-09-14 · 内部讲解会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034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034">
                  <a:alpha val="95000"/>
                </a:srgbClr>
              </a:gs>
              <a:gs pos="40000">
                <a:srgbClr val="0F1034">
                  <a:alpha val="87000"/>
                </a:srgbClr>
              </a:gs>
              <a:gs pos="70000">
                <a:srgbClr val="0F1034">
                  <a:alpha val="46000"/>
                </a:srgbClr>
              </a:gs>
              <a:gs pos="100000">
                <a:srgbClr val="0F1034">
                  <a:alpha val="72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7239000" y="4572000"/>
            <a:ext cx="4953000" cy="2286000"/>
          </a:xfrm>
          <a:prstGeom prst="rect">
            <a:avLst/>
          </a:prstGeom>
          <a:gradFill>
            <a:gsLst>
              <a:gs pos="0">
                <a:srgbClr val="080A20">
                  <a:alpha val="100000"/>
                </a:srgbClr>
              </a:gs>
              <a:gs pos="24000">
                <a:srgbClr val="080A20">
                  <a:alpha val="90000"/>
                </a:srgbClr>
              </a:gs>
              <a:gs pos="64000">
                <a:srgbClr val="080A20">
                  <a:alpha val="0"/>
                </a:srgbClr>
              </a:gs>
            </a:gsLst>
            <a:lin ang="13500000" scaled="1"/>
          </a:gra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762000" y="733425"/>
            <a:ext cx="323850" cy="28575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219200" y="647700"/>
            <a:ext cx="3295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40">
                <a:solidFill>
                  <a:srgbClr val="7FD3EC"/>
                </a:solidFill>
                <a:latin typeface="Inter"/>
                <a:ea typeface="Inter"/>
              </a:rPr>
              <a:t>AQUALIFE / ELKEN · </a:t>
            </a:r>
            <a:r>
              <a:rPr lang="zh-CN" sz="1200" b="1" spc="240">
                <a:solidFill>
                  <a:srgbClr val="7FD3EC"/>
                </a:solidFill>
                <a:latin typeface="Inter"/>
                <a:ea typeface="Inter"/>
              </a:rPr>
              <a:t>内部功能讲解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1628775"/>
            <a:ext cx="10668000" cy="17907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100" b="1" spc="-112">
                <a:solidFill>
                  <a:srgbClr val="FFFFFF"/>
                </a:solidFill>
                <a:latin typeface="Inter"/>
                <a:ea typeface="Inter"/>
              </a:rPr>
              <a:t>三种下单路径</a:t>
            </a:r>
            <a:endParaRPr/>
          </a:p>
          <a:p>
            <a:pPr>
              <a:lnSpc>
                <a:spcPct val="114999"/>
              </a:lnSpc>
            </a:pPr>
            <a:r>
              <a:rPr lang="zh-CN" sz="5100" b="1" spc="-112">
                <a:solidFill>
                  <a:srgbClr val="FFFFFF"/>
                </a:solidFill>
                <a:latin typeface="Inter"/>
                <a:ea typeface="Inter"/>
              </a:rPr>
              <a:t>一个账户落点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3609975"/>
            <a:ext cx="79057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B9C6E4"/>
                </a:solidFill>
                <a:latin typeface="Inter"/>
                <a:ea typeface="Inter"/>
              </a:rPr>
              <a:t>客户可以不注册直接下单，也可以先注册再购买，还可以用已有账户购买。三种走法，订单归属和奖金去向完全不同。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762000" y="4676775"/>
            <a:ext cx="2505075" cy="409575"/>
          </a:xfrm>
          <a:prstGeom prst="roundRect">
            <a:avLst>
              <a:gd name="adj" fmla="val 186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933450" y="4838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123950" y="4781550"/>
            <a:ext cx="1971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6EDF8"/>
                </a:solidFill>
                <a:latin typeface="Inter"/>
                <a:ea typeface="Inter"/>
              </a:rPr>
              <a:t>路径一</a:t>
            </a:r>
            <a:r>
              <a:rPr lang="en-US" sz="1275">
                <a:solidFill>
                  <a:srgbClr val="E6EDF8"/>
                </a:solidFill>
                <a:latin typeface="Inter"/>
                <a:ea typeface="Inter"/>
              </a:rPr>
              <a:t> · </a:t>
            </a:r>
            <a:r>
              <a:rPr lang="zh-CN" sz="1275">
                <a:solidFill>
                  <a:srgbClr val="E6EDF8"/>
                </a:solidFill>
                <a:latin typeface="Inter"/>
                <a:ea typeface="Inter"/>
              </a:rPr>
              <a:t>没有账号直接下单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400425" y="4676775"/>
            <a:ext cx="2343150" cy="409575"/>
          </a:xfrm>
          <a:prstGeom prst="roundRect">
            <a:avLst>
              <a:gd name="adj" fmla="val 186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3571875" y="4838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762375" y="4781550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6EDF8"/>
                </a:solidFill>
                <a:latin typeface="Inter"/>
                <a:ea typeface="Inter"/>
              </a:rPr>
              <a:t>路径二</a:t>
            </a:r>
            <a:r>
              <a:rPr lang="en-US" sz="1275">
                <a:solidFill>
                  <a:srgbClr val="E6EDF8"/>
                </a:solidFill>
                <a:latin typeface="Inter"/>
                <a:ea typeface="Inter"/>
              </a:rPr>
              <a:t> · </a:t>
            </a:r>
            <a:r>
              <a:rPr lang="zh-CN" sz="1275">
                <a:solidFill>
                  <a:srgbClr val="E6EDF8"/>
                </a:solidFill>
                <a:latin typeface="Inter"/>
                <a:ea typeface="Inter"/>
              </a:rPr>
              <a:t>注册账户去购买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876925" y="4676775"/>
            <a:ext cx="2343150" cy="409575"/>
          </a:xfrm>
          <a:prstGeom prst="roundRect">
            <a:avLst>
              <a:gd name="adj" fmla="val 186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48375" y="4838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287B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238875" y="4781550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6EDF8"/>
                </a:solidFill>
                <a:latin typeface="Inter"/>
                <a:ea typeface="Inter"/>
              </a:rPr>
              <a:t>路径三</a:t>
            </a:r>
            <a:r>
              <a:rPr lang="en-US" sz="1275">
                <a:solidFill>
                  <a:srgbClr val="E6EDF8"/>
                </a:solidFill>
                <a:latin typeface="Inter"/>
                <a:ea typeface="Inter"/>
              </a:rPr>
              <a:t> · </a:t>
            </a:r>
            <a:r>
              <a:rPr lang="zh-CN" sz="1275">
                <a:solidFill>
                  <a:srgbClr val="E6EDF8"/>
                </a:solidFill>
                <a:latin typeface="Inter"/>
                <a:ea typeface="Inter"/>
              </a:rPr>
              <a:t>已有账户去购买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62000" y="5943600"/>
            <a:ext cx="2724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30">
                <a:solidFill>
                  <a:srgbClr val="8A9BC0"/>
                </a:solidFill>
                <a:latin typeface="Inter"/>
                <a:ea typeface="Inter"/>
              </a:rPr>
              <a:t>下单流程</a:t>
            </a:r>
            <a:r>
              <a:rPr lang="en-US" sz="1200" spc="30">
                <a:solidFill>
                  <a:srgbClr val="8A9BC0"/>
                </a:solidFill>
                <a:latin typeface="Inter"/>
                <a:ea typeface="Inter"/>
              </a:rPr>
              <a:t> · </a:t>
            </a:r>
            <a:r>
              <a:rPr lang="zh-CN" sz="1200" spc="30">
                <a:solidFill>
                  <a:srgbClr val="8A9BC0"/>
                </a:solidFill>
                <a:latin typeface="Inter"/>
                <a:ea typeface="Inter"/>
              </a:rPr>
              <a:t>会员注册</a:t>
            </a:r>
            <a:r>
              <a:rPr lang="en-US" sz="1200" spc="30">
                <a:solidFill>
                  <a:srgbClr val="8A9BC0"/>
                </a:solidFill>
                <a:latin typeface="Inter"/>
                <a:ea typeface="Inter"/>
              </a:rPr>
              <a:t> · </a:t>
            </a:r>
            <a:r>
              <a:rPr lang="zh-CN" sz="1200" spc="30">
                <a:solidFill>
                  <a:srgbClr val="8A9BC0"/>
                </a:solidFill>
                <a:latin typeface="Inter"/>
                <a:ea typeface="Inter"/>
              </a:rPr>
              <a:t>账户与奖金后台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9305925" y="5867400"/>
            <a:ext cx="2124075" cy="342900"/>
          </a:xfrm>
          <a:prstGeom prst="roundRect">
            <a:avLst>
              <a:gd name="adj" fmla="val 2775000"/>
            </a:avLst>
          </a:prstGeom>
          <a:solidFill>
            <a:srgbClr val="080A20">
              <a:alpha val="94000"/>
            </a:srgbClr>
          </a:solidFill>
          <a:ln w="12700">
            <a:solidFill>
              <a:srgbClr val="7FD3EC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477375" y="5953125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">
                <a:solidFill>
                  <a:srgbClr val="CFE9F4"/>
                </a:solidFill>
                <a:latin typeface="Inter"/>
                <a:ea typeface="Inter"/>
              </a:rPr>
              <a:t>2026-09-14 · </a:t>
            </a:r>
            <a:r>
              <a:rPr lang="zh-CN" sz="1125" spc="30">
                <a:solidFill>
                  <a:srgbClr val="CFE9F4"/>
                </a:solidFill>
                <a:latin typeface="Inter"/>
                <a:ea typeface="Inter"/>
              </a:rPr>
              <a:t>内部讲解会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34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今天的讲解路线&lt;/Text&gt;&#10;        &lt;Text style={{ fontSize: 16, color: '#5C646A', lineHeight: 1.4, marginTop: 6 }}&gt;&#10;            按客户实际会走的三种路径来讲，最后落到同一个账户&#10;        &lt;/Text&gt;&#10;    &lt;/Box&gt;&#10;&#10;    {/* ===== B 区 ===== */}&#10;    &lt;Box style={{ height: 540, flexDirection: 'row', gap: 26 }}&gt;&#10;        {/* 左侧标题栏 */}&#10;        &lt;Box style={{ width: 330, background: '#202259', borderRadius: 10, padding: '26px 24px', flexDirection: 'column', justifyContent: 'space-between' }}&gt;&#10;            &lt;Box style={{ flexDirection: 'column' }}&gt;&#10;                &lt;Text style={{ fontSize: 15, color: '#7FD3EC', letterSpacing: 2.2, fontWeight: 'bold' }}&gt;AGENDA&lt;/Text&gt;&#10;                &lt;Text style={{ fontSize: 38, fontWeight: 'bold', color: '#FFFFFF', lineHeight: 1.15, marginTop: 14 }}&gt;&#10;                    三条路径&#10;                    &lt;br /&gt;&#10;                    一个落点&#10;                &lt;/Text&gt;&#10;                &lt;Text style={{ fontSize: 17, color: '#B9C6E4', lineHeight: 1.6, marginTop: 18 }}&gt;&#10;                    差别不在怎么点鼠标，而在于下单那一刻&quot;有没有会员身份&quot;。这一点决定了订单归谁、奖金给谁、账户里看不看得到。&#10;                &lt;/Text&gt;&#10;            &lt;/Box&gt;&#10;            &lt;Box style={{ flexDirection: 'row', alignItems: 'center', gap: 10, paddingTop: 16, borderTop: '1px solid rgba(127,211,236,0.3)', marginTop: 'auto' }}&gt;&#10;                &lt;FAIcon name='layer-group' style={{ fill: '#7FD3EC', width: 18, height: 18 }} /&gt;&#10;                &lt;Text style={{ fontSize: 15, color: '#B9C6E4' }}&gt;建议节奏：三个路径各 10 分钟&lt;/Text&gt;&#10;            &lt;/Box&gt;&#10;        &lt;/Box&gt;&#10;&#10;        {/* 右侧四板块 */}&#10;        &lt;Box style={{ flex: 1, flexDirection: 'column', gap: 12 }}&gt;&#10;            {[&#10;                { no: '01', c: '#202259', t: '路径一 · 没有账号直接下单', en: 'Guest checkout', d: '访客能走多远？订单算谁的？奖金给了谁？这一章有三个反直觉的答案，也是今天最需要提前对齐的部分。' },&#10;                { no: '02', c: '#2AA7CF', t: '路径二 · 注册账户去购买', en: 'Signup then buy', d: '注册表单里就带选品和支付，点下 Save 的那一刻订单已经生成。要讲清这笔订单和奖金怎么落进新账户。' },&#10;                { no: '03', c: '#F287B7', t: '路径三 · 已有账户去购买', en: 'Member checkout', d: '先登录再下单。要讲清登录解锁了哪几项能力，以及同一笔单在账户里长什么样、和路径二有什么不同。' },&#10;                { no: '04', c: '#202259', t: '共用下单界面与账户落点', en: 'Shared flow &amp; account', d: '不管走哪条路径，选品、配送、支付、下单这套动作是一样的；最后都落到账户里的订单列表和奖金数字上。' },&#10;            ].map(function (it, i) {&#10;                return (&#10;                    &lt;Box key={i} style={{ flex: 1, flexDirection: 'row', gap: 16, padding: '14px 18px', background: '#F4F6F8', borderLeft: '4px solid ' + it.c, borderRadius: 8, alignItems: 'center' }}&gt;&#10;                        &lt;Box style={{ width: 46, height: 46, background: it.c, borderRadius: 8, justifyContent: 'center', alignItems: 'center' }}&gt;&#10;                            &lt;Text style={{ fontSize: 19, fontWeight: 'bold', color: '#FFFFFF' }}&gt;{it.no}&lt;/Text&gt;&#10;                        &lt;/Box&gt;&#10;                        &lt;Box style={{ flex: 1, flexDirection: 'column' }}&gt;&#10;                            &lt;Box style={{ flexDirection: 'row', alignItems: 'baseline', gap: 10 }}&gt;&#10;                                &lt;Text style={{ fontSize: 21, fontWeight: 'bold', color: '#202259' }}&gt;{it.t}&lt;/Text&gt;&#10;                                &lt;Text style={{ fontSize: 14, color: '#859EB3', letterSpacing: 0.6 }}&gt;{it.en}&lt;/Text&gt;&#10;                            &lt;/Box&gt;&#10;                            &lt;Text style={{ fontSize: 16, color: '#3F4A55', lineHeight: 1.5, marginTop: 5 }}&gt;{it.d}&lt;/Text&gt;&#10;                        &lt;/Box&gt;&#10;                    &lt;/Box&gt;&#10;                );&#10;            })}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02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今天的讲解路线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按客户实际会走的三种路径来讲，最后落到同一个账户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571500" y="1143000"/>
            <a:ext cx="3143250" cy="5143500"/>
          </a:xfrm>
          <a:prstGeom prst="roundRect">
            <a:avLst>
              <a:gd name="adj" fmla="val 303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00100" y="1390650"/>
            <a:ext cx="2686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65">
                <a:solidFill>
                  <a:srgbClr val="7FD3EC"/>
                </a:solidFill>
                <a:latin typeface="Inter"/>
                <a:ea typeface="Inter"/>
              </a:rPr>
              <a:t>AGENDA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00100" y="1695450"/>
            <a:ext cx="2686050" cy="10001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2850" b="1">
                <a:solidFill>
                  <a:srgbClr val="FFFFFF"/>
                </a:solidFill>
                <a:latin typeface="Inter"/>
                <a:ea typeface="Inter"/>
              </a:rPr>
              <a:t>三条路径</a:t>
            </a:r>
            <a:endParaRPr/>
          </a:p>
          <a:p>
            <a:pPr>
              <a:lnSpc>
                <a:spcPct val="114999"/>
              </a:lnSpc>
            </a:pPr>
            <a:r>
              <a:rPr lang="zh-CN" sz="2850" b="1">
                <a:solidFill>
                  <a:srgbClr val="FFFFFF"/>
                </a:solidFill>
                <a:latin typeface="Inter"/>
                <a:ea typeface="Inter"/>
              </a:rPr>
              <a:t>一个落点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00100" y="2867025"/>
            <a:ext cx="268605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差别不在怎么点鼠标，而在于下单那一刻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有没有会员身份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。这一点决定了订单归谁、奖金给谁、账户里看不看得到。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800100" y="5705475"/>
            <a:ext cx="2686050" cy="342900"/>
          </a:xfrm>
          <a:custGeom>
            <a:pathLst>
              <a:path w="282" h="36">
                <a:moveTo>
                  <a:pt x="0" y="0"/>
                </a:moveTo>
                <a:lnTo>
                  <a:pt x="282" y="0"/>
                </a:lnTo>
                <a:lnTo>
                  <a:pt x="282" y="1"/>
                </a:lnTo>
                <a:lnTo>
                  <a:pt x="0" y="1"/>
                </a:lnTo>
                <a:close/>
              </a:path>
            </a:pathLst>
          </a:custGeom>
          <a:solidFill>
            <a:srgbClr val="7FD3EC">
              <a:alpha val="30000"/>
            </a:srgbClr>
          </a:solidFill>
          <a:ln/>
        </p:spPr>
        <p:txBody>
          <a:bodyPr/>
          <a:p/>
        </p:txBody>
      </p:sp>
      <p:pic>
        <p:nvPicPr>
          <p:cNvPr id="4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5867400"/>
            <a:ext cx="171450" cy="171450"/>
          </a:xfrm>
          <a:prstGeom prst="rect">
            <a:avLst/>
          </a:prstGeom>
          <a:ln/>
        </p:spPr>
      </p:pic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066800" y="5867400"/>
            <a:ext cx="196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6E4"/>
                </a:solidFill>
                <a:latin typeface="Inter"/>
                <a:ea typeface="Inter"/>
              </a:rPr>
              <a:t>建议节奏：三个路径各</a:t>
            </a:r>
            <a:r>
              <a:rPr lang="en-US" sz="1125">
                <a:solidFill>
                  <a:srgbClr val="B9C6E4"/>
                </a:solidFill>
                <a:latin typeface="Inter"/>
                <a:ea typeface="Inter"/>
              </a:rPr>
              <a:t> 10 </a:t>
            </a:r>
            <a:r>
              <a:rPr lang="zh-CN" sz="1125">
                <a:solidFill>
                  <a:srgbClr val="B9C6E4"/>
                </a:solidFill>
                <a:latin typeface="Inter"/>
                <a:ea typeface="Inter"/>
              </a:rPr>
              <a:t>分钟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4000500" y="1143000"/>
            <a:ext cx="7658100" cy="1200150"/>
          </a:xfrm>
          <a:prstGeom prst="roundRect">
            <a:avLst>
              <a:gd name="adj" fmla="val 634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46" name=""/>
          <p:cNvSpPr/>
          <p:nvPr/>
        </p:nvSpPr>
        <p:spPr>
          <a:xfrm rot="0" flipH="0" flipV="0">
            <a:off x="4000500" y="1143000"/>
            <a:ext cx="7658100" cy="1200150"/>
          </a:xfrm>
          <a:custGeom>
            <a:pathLst>
              <a:path w="804" h="12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22"/>
                </a:lnTo>
                <a:cubicBezTo>
                  <a:pt x="4" y="124"/>
                  <a:pt x="5" y="126"/>
                  <a:pt x="7" y="126"/>
                </a:cubicBezTo>
                <a:cubicBezTo>
                  <a:pt x="3" y="126"/>
                  <a:pt x="0" y="122"/>
                  <a:pt x="0" y="11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4171950" y="15240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4295775" y="1638300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4762500" y="1323975"/>
            <a:ext cx="2438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路径一</a:t>
            </a:r>
            <a:r>
              <a:rPr lang="en-US" sz="1575" b="1">
                <a:solidFill>
                  <a:srgbClr val="202259"/>
                </a:solidFill>
                <a:latin typeface="Inter"/>
                <a:ea typeface="Inter"/>
              </a:rPr>
              <a:t> · </a:t>
            </a: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没有账号直接下单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7296150" y="1323975"/>
            <a:ext cx="1057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45">
                <a:solidFill>
                  <a:srgbClr val="859EB3"/>
                </a:solidFill>
                <a:latin typeface="Inter"/>
                <a:ea typeface="Inter"/>
              </a:rPr>
              <a:t>Guest checkout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4762500" y="1619250"/>
            <a:ext cx="6686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访客能走多远？订单算谁的？奖金给了谁？这一章有三个反直觉的答案，也是今天最需要提前对齐的部分。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4000500" y="2457450"/>
            <a:ext cx="7658100" cy="1200150"/>
          </a:xfrm>
          <a:prstGeom prst="roundRect">
            <a:avLst>
              <a:gd name="adj" fmla="val 634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53" name=""/>
          <p:cNvSpPr/>
          <p:nvPr/>
        </p:nvSpPr>
        <p:spPr>
          <a:xfrm rot="0" flipH="0" flipV="0">
            <a:off x="4000500" y="2457450"/>
            <a:ext cx="7658100" cy="1200150"/>
          </a:xfrm>
          <a:custGeom>
            <a:pathLst>
              <a:path w="804" h="12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22"/>
                </a:lnTo>
                <a:cubicBezTo>
                  <a:pt x="4" y="124"/>
                  <a:pt x="5" y="126"/>
                  <a:pt x="7" y="126"/>
                </a:cubicBezTo>
                <a:cubicBezTo>
                  <a:pt x="3" y="126"/>
                  <a:pt x="0" y="122"/>
                  <a:pt x="0" y="11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454" name=""/>
          <p:cNvSpPr/>
          <p:nvPr/>
        </p:nvSpPr>
        <p:spPr>
          <a:xfrm rot="0" flipH="0" flipV="0">
            <a:off x="4171950" y="28384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4286250" y="2952750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4762500" y="2638425"/>
            <a:ext cx="2238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路径二</a:t>
            </a:r>
            <a:r>
              <a:rPr lang="en-US" sz="1575" b="1">
                <a:solidFill>
                  <a:srgbClr val="202259"/>
                </a:solidFill>
                <a:latin typeface="Inter"/>
                <a:ea typeface="Inter"/>
              </a:rPr>
              <a:t> · </a:t>
            </a: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注册账户去购买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096125" y="2638425"/>
            <a:ext cx="1095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45">
                <a:solidFill>
                  <a:srgbClr val="859EB3"/>
                </a:solidFill>
                <a:latin typeface="Inter"/>
                <a:ea typeface="Inter"/>
              </a:rPr>
              <a:t>Signup then buy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4762500" y="2933700"/>
            <a:ext cx="6686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注册表单里就带选品和支付，点下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Save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的那一刻订单已经生成。要讲清这笔订单和奖金怎么落进新账户。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4000500" y="3771900"/>
            <a:ext cx="7658100" cy="1200150"/>
          </a:xfrm>
          <a:prstGeom prst="roundRect">
            <a:avLst>
              <a:gd name="adj" fmla="val 634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60" name=""/>
          <p:cNvSpPr/>
          <p:nvPr/>
        </p:nvSpPr>
        <p:spPr>
          <a:xfrm rot="0" flipH="0" flipV="0">
            <a:off x="4000500" y="3771900"/>
            <a:ext cx="7658100" cy="1200150"/>
          </a:xfrm>
          <a:custGeom>
            <a:pathLst>
              <a:path w="804" h="12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22"/>
                </a:lnTo>
                <a:cubicBezTo>
                  <a:pt x="4" y="124"/>
                  <a:pt x="5" y="126"/>
                  <a:pt x="7" y="126"/>
                </a:cubicBezTo>
                <a:cubicBezTo>
                  <a:pt x="3" y="126"/>
                  <a:pt x="0" y="122"/>
                  <a:pt x="0" y="11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461" name=""/>
          <p:cNvSpPr/>
          <p:nvPr/>
        </p:nvSpPr>
        <p:spPr>
          <a:xfrm rot="0" flipH="0" flipV="0">
            <a:off x="4171950" y="41529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4286250" y="4267200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4762500" y="3952875"/>
            <a:ext cx="2238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路径三</a:t>
            </a:r>
            <a:r>
              <a:rPr lang="en-US" sz="1575" b="1">
                <a:solidFill>
                  <a:srgbClr val="202259"/>
                </a:solidFill>
                <a:latin typeface="Inter"/>
                <a:ea typeface="Inter"/>
              </a:rPr>
              <a:t> · </a:t>
            </a: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已有账户去购买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7096125" y="3952875"/>
            <a:ext cx="1209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45">
                <a:solidFill>
                  <a:srgbClr val="859EB3"/>
                </a:solidFill>
                <a:latin typeface="Inter"/>
                <a:ea typeface="Inter"/>
              </a:rPr>
              <a:t>Member checkout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4762500" y="4248150"/>
            <a:ext cx="6686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先登录再下单。要讲清登录解锁了哪几项能力，以及同一笔单在账户里长什么样、和路径二有什么不同。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4000500" y="5086350"/>
            <a:ext cx="7658100" cy="1200150"/>
          </a:xfrm>
          <a:prstGeom prst="roundRect">
            <a:avLst>
              <a:gd name="adj" fmla="val 634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4000500" y="5086350"/>
            <a:ext cx="7658100" cy="1200150"/>
          </a:xfrm>
          <a:custGeom>
            <a:pathLst>
              <a:path w="804" h="12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22"/>
                </a:lnTo>
                <a:cubicBezTo>
                  <a:pt x="4" y="124"/>
                  <a:pt x="5" y="126"/>
                  <a:pt x="7" y="126"/>
                </a:cubicBezTo>
                <a:cubicBezTo>
                  <a:pt x="3" y="126"/>
                  <a:pt x="0" y="122"/>
                  <a:pt x="0" y="11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468" name=""/>
          <p:cNvSpPr/>
          <p:nvPr/>
        </p:nvSpPr>
        <p:spPr>
          <a:xfrm rot="0" flipH="0" flipV="0">
            <a:off x="4171950" y="54673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4286250" y="5581650"/>
            <a:ext cx="21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4762500" y="5267325"/>
            <a:ext cx="2200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2259"/>
                </a:solidFill>
                <a:latin typeface="Inter"/>
                <a:ea typeface="Inter"/>
              </a:rPr>
              <a:t>共用下单界面与账户落点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7058025" y="5267325"/>
            <a:ext cx="1543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45">
                <a:solidFill>
                  <a:srgbClr val="859EB3"/>
                </a:solidFill>
                <a:latin typeface="Inter"/>
                <a:ea typeface="Inter"/>
              </a:rPr>
              <a:t>Shared flow &amp; account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4762500" y="5562600"/>
            <a:ext cx="6686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不管走哪条路径，选品、配送、支付、下单这套动作是一样的；最后都落到账户里的订单列表和奖金数字上。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02 / 31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41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三条路径，差在四个地方&lt;/Text&gt;&#10;        &lt;Text style={{ fontSize: 16, color: '#5C646A', lineHeight: 1.4, marginTop: 6 }}&gt;&#10;            入口、订单归属、订单状态、账户落点 —— 记住这四行，后面每一章都在展开它们&#10;        &lt;/Text&gt;&#10;    &lt;/Box&gt;&#10;&#10;    {/* ===== B 区 ===== */}&#10;    &lt;Box style={{ height: 540, flexDirection: 'row', gap: 24 }}&gt;&#10;        {/* 左侧对比表 */}&#10;        &lt;Box style={{ width: 756, flexDirection: 'column' }}&gt;&#10;            {/* 表头 */}&#10;            &lt;Box style={{ flexDirection: 'row', gap: 6, marginBottom: 6 }}&gt;&#10;                &lt;Box style={{ width: 148, height: 50, justifyContent: 'center', paddingLeft: 12 }}&gt;&#10;                    &lt;Text style={{ fontSize: 15, fontWeight: 'bold', color: '#5C646A' }}&gt;对比维度&lt;/Text&gt;&#10;                &lt;/Box&gt;&#10;                {[&#10;                    { t: '路径一 · 访客', c: '#202259' },&#10;                    { t: '路径二 · 注册', c: '#2AA7CF' },&#10;                    { t: '路径三 · 已有账户', c: '#F287B7' },&#10;                ].map(function (h, i) {&#10;                    return (&#10;                        &lt;Box key={i} style={{ width: 198, height: 50, background: h.c, borderRadius: 8, justifyContent: 'center', alignItems: 'center' }}&gt;&#10;                            &lt;Text style={{ fontSize: 17, fontWeight: 'bold', color: '#FFFFFF' }}&gt;{h.t}&lt;/Text&gt;&#10;                        &lt;/Box&gt;&#10;                    );&#10;                })}&#10;            &lt;/Box&gt;&#10;&#10;            {[&#10;                {&#10;                    k: '入口',&#10;                    v: ['无需登录，直接进商品页或结算页', '注册表单内含选品与支付', '先登录，再进商品页'],&#10;                },&#10;                {&#10;                    k: '下单时的会员字段',&#10;                    v: ['memberId 与 operatorId 都是 null', 'memberId 用新生成的会员 ID', '两个字段都是自己的会员 ID'],&#10;                },&#10;                {&#10;                    k: '订单状态',&#10;                    v: ['pending / Unpaid', 'completed（无 payStatus 字段）', 'pending；余额支付则 Paid'],&#10;                },&#10;                {&#10;                    k: '账户里能看到吗',&#10;                    v: ['看不到，且会被剔除删除', '看得到 · My orders', '看得到 · My orders'],&#10;                },&#10;                {&#10;                    k: '这笔单的奖金归谁',&#10;                    v: ['自己 0 BV，全额给分享链接的人', '计入自己的奖金（自购 BV）', '计入自己的奖金（自购 BV）'],&#10;                },&#10;            ].map(function (row, i) {&#10;                return (&#10;                    &lt;Box key={i} style={{ flexDirection: 'row', gap: 6, flex: 1, marginBottom: i === 4 ? 0 : 6 }}&gt;&#10;                        &lt;Box style={{ width: 148, background: '#F4F6F8', borderRadius: 8, padding: '10px 12px', justifyContent: 'center' }}&gt;&#10;                            &lt;Text style={{ fontSize: 16, fontWeight: 'bold', color: '#202259', lineHeight: 1.35 }}&gt;{row.k}&lt;/Text&gt;&#10;                        &lt;/Box&gt;&#10;                        {row.v.map(function (cell, j) {&#10;                            var colors = ['#202259', '#2AA7CF', '#F287B7'];&#10;                            var isWarn = i === 3 &amp;&amp; j === 0;&#10;                            return (&#10;                                &lt;Box key={j} style={{ width: 198, background: isWarn ? 'rgba(242,135,183,0.14)' : '#FFFFFF', border: '1px solid #E3E6E8', borderRadius: 8, padding: '10px 12px', justifyContent: 'center' }}&gt;&#10;                                    &lt;Box style={{ width: 18, height: 3, background: colors[j], marginBottom: 7 }} /&gt;&#10;                                    &lt;Text style={{ fontSize: 15, color: '#3F4A55', lineHeight: 1.45 }}&gt;{cell}&lt;/Text&gt;&#10;                                &lt;/Box&gt;&#10;                            );&#10;                        })}&#10;                    &lt;/Box&gt;&#10;                );&#10;            })}&#10;        &lt;/Box&gt;&#10;&#10;        {/* 右侧洞察 */}&#10;        &lt;Box style={{ flex: 1, flexDirection: 'column', gap: 14 }}&gt;&#10;            &lt;Box style={{ background: '#202259', borderRadius: 10, padding: '20px 20px', flexDirection: 'column' }}&gt;&#10;                &lt;Text style={{ fontSize: 15, color: '#7FD3EC', letterSpacing: 1.8, fontWeight: 'bold' }}&gt;ONE LINE&lt;/Text&gt;&#10;                &lt;Text style={{ fontSize: 22, fontWeight: 'bold', color: '#FFFFFF', lineHeight: 1.35, marginTop: 10 }}&gt;&#10;                    差别只有一个：下单那一刻，有没有会员身份。&#10;                &lt;/Text&gt;&#10;            &lt;/Box&gt;&#10;&#10;            &lt;Box style={{ flex: 1, background: '#F4F6F8', borderRadius: 10, padding: '18px 20px', flexDirection: 'column', gap: 12 }}&gt;&#10;                &lt;Box style={{ flexDirection: 'row', gap: 12, alignItems: 'flex-start' }}&gt;&#10;                    &lt;FAIcon name='check-circle' style={{ fill: '#2AA7CF', width: 20, height: 20, marginTop: 2 }} /&gt;&#10;                    &lt;Text style={{ fontSize: 16, color: '#3F4A55', lineHeight: 1.55, flex: 1 }}&gt;&#10;                        &lt;span style={{ fontWeight: 'bold', color: '#202259' }}&gt;有身份&lt;/span&gt;：订单落进账户，订单的 BV 计入自己的奖金。&#10;                    &lt;/Text&gt;&#10;                &lt;/Box&gt;&#10;                &lt;Box style={{ flexDirection: 'row', gap: 12, alignItems: 'flex-start' }}&gt;&#10;                    &lt;FAIcon name='times-circle' style={{ fill: '#F287B7', width: 20, height: 20, marginTop: 2 }} /&gt;&#10;                    &lt;Text style={{ fontSize: 16, color: '#3F4A55', lineHeight: 1.55, flex: 1 }}&gt;&#10;                        &lt;span style={{ fontWeight: 'bold', color: '#202259' }}&gt;没身份&lt;/span&gt;：订单还能查，但进不了账户，BV 全额流向分享链接的人。&#10;                    &lt;/Text&gt;&#10;                &lt;/Box&gt;&#10;                &lt;Box style={{ flexDirection: 'row', gap: 12, alignItems: 'flex-start' }}&gt;&#10;                    &lt;FAIcon name='info-circle' style={{ fill: '#859EB3', width: 20, height: 20, marginTop: 2 }} /&gt;&#10;                    &lt;Text style={{ fontSize: 16, color: '#3F4A55', lineHeight: 1.55, flex: 1 }}&gt;&#10;                        路径二和路径三在账户里的结果几乎一样，区别只在订单字段的形态 —— 第 14 页会具体讲。&#10;                    &lt;/Text&gt;&#10;                &lt;/Box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03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三条路径，差在四个地方</a:t>
            </a:r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入口、订单归属、订单状态、账户落点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记住这四行，后面每一章都在展开它们</a:t>
            </a:r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685800" y="1295400"/>
            <a:ext cx="129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C646A"/>
                </a:solidFill>
                <a:latin typeface="Inter"/>
                <a:ea typeface="Inter"/>
              </a:rPr>
              <a:t>对比维度</a:t>
            </a:r>
            <a:endParaRPr/>
          </a:p>
        </p:txBody>
      </p:sp>
      <p:sp>
        <p:nvSpPr>
          <p:cNvPr id="946" name=""/>
          <p:cNvSpPr/>
          <p:nvPr/>
        </p:nvSpPr>
        <p:spPr>
          <a:xfrm rot="0" flipH="0" flipV="0">
            <a:off x="2028825" y="1143000"/>
            <a:ext cx="1885950" cy="476250"/>
          </a:xfrm>
          <a:prstGeom prst="roundRect">
            <a:avLst>
              <a:gd name="adj" fmla="val 16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2476500" y="1285875"/>
            <a:ext cx="1000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路径一</a:t>
            </a: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访客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3962400" y="1143000"/>
            <a:ext cx="1885950" cy="476250"/>
          </a:xfrm>
          <a:prstGeom prst="roundRect">
            <a:avLst>
              <a:gd name="adj" fmla="val 16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4410075" y="1285875"/>
            <a:ext cx="1000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路径二</a:t>
            </a: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注册</a:t>
            </a:r>
            <a:endParaRPr/>
          </a:p>
        </p:txBody>
      </p:sp>
      <p:sp>
        <p:nvSpPr>
          <p:cNvPr id="950" name=""/>
          <p:cNvSpPr/>
          <p:nvPr/>
        </p:nvSpPr>
        <p:spPr>
          <a:xfrm rot="0" flipH="0" flipV="0">
            <a:off x="5895975" y="1143000"/>
            <a:ext cx="1885950" cy="476250"/>
          </a:xfrm>
          <a:prstGeom prst="roundRect">
            <a:avLst>
              <a:gd name="adj" fmla="val 16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6181725" y="1285875"/>
            <a:ext cx="1323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路径三</a:t>
            </a: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已有账户</a:t>
            </a:r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571500" y="1676400"/>
            <a:ext cx="1409700" cy="923925"/>
          </a:xfrm>
          <a:prstGeom prst="roundRect">
            <a:avLst>
              <a:gd name="adj" fmla="val 8247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685800" y="2019300"/>
            <a:ext cx="1181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入口</a:t>
            </a:r>
            <a:endParaRPr/>
          </a:p>
        </p:txBody>
      </p:sp>
      <p:sp>
        <p:nvSpPr>
          <p:cNvPr id="954" name=""/>
          <p:cNvSpPr/>
          <p:nvPr/>
        </p:nvSpPr>
        <p:spPr>
          <a:xfrm rot="0" flipH="0" flipV="0">
            <a:off x="2028825" y="1676400"/>
            <a:ext cx="18859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55" name=""/>
          <p:cNvSpPr/>
          <p:nvPr/>
        </p:nvSpPr>
        <p:spPr>
          <a:xfrm rot="0" flipH="0" flipV="0">
            <a:off x="2143125" y="1838325"/>
            <a:ext cx="171450" cy="28575"/>
          </a:xfrm>
          <a:prstGeom prst="rect">
            <a:avLst/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2143125" y="1933575"/>
            <a:ext cx="16573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无需登录，直接进商品页或结算页</a:t>
            </a:r>
            <a:endParaRPr/>
          </a:p>
        </p:txBody>
      </p:sp>
      <p:sp>
        <p:nvSpPr>
          <p:cNvPr id="957" name=""/>
          <p:cNvSpPr/>
          <p:nvPr/>
        </p:nvSpPr>
        <p:spPr>
          <a:xfrm rot="0" flipH="0" flipV="0">
            <a:off x="3962400" y="1676400"/>
            <a:ext cx="18859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58" name=""/>
          <p:cNvSpPr/>
          <p:nvPr/>
        </p:nvSpPr>
        <p:spPr>
          <a:xfrm rot="0" flipH="0" flipV="0">
            <a:off x="4076700" y="1962150"/>
            <a:ext cx="171450" cy="28575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4076700" y="2057400"/>
            <a:ext cx="1657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注册表单内含选品与支付</a:t>
            </a:r>
            <a:endParaRPr/>
          </a:p>
        </p:txBody>
      </p:sp>
      <p:sp>
        <p:nvSpPr>
          <p:cNvPr id="960" name=""/>
          <p:cNvSpPr/>
          <p:nvPr/>
        </p:nvSpPr>
        <p:spPr>
          <a:xfrm rot="0" flipH="0" flipV="0">
            <a:off x="5895975" y="1676400"/>
            <a:ext cx="18859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61" name=""/>
          <p:cNvSpPr/>
          <p:nvPr/>
        </p:nvSpPr>
        <p:spPr>
          <a:xfrm rot="0" flipH="0" flipV="0">
            <a:off x="6010275" y="1962150"/>
            <a:ext cx="171450" cy="28575"/>
          </a:xfrm>
          <a:prstGeom prst="rect">
            <a:avLst/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6010275" y="2057400"/>
            <a:ext cx="1657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先登录，再进商品页</a:t>
            </a:r>
            <a:endParaRPr/>
          </a:p>
        </p:txBody>
      </p:sp>
      <p:sp>
        <p:nvSpPr>
          <p:cNvPr id="963" name=""/>
          <p:cNvSpPr/>
          <p:nvPr/>
        </p:nvSpPr>
        <p:spPr>
          <a:xfrm rot="0" flipH="0" flipV="0">
            <a:off x="571500" y="2657475"/>
            <a:ext cx="1409700" cy="923925"/>
          </a:xfrm>
          <a:prstGeom prst="roundRect">
            <a:avLst>
              <a:gd name="adj" fmla="val 8247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685800" y="2876550"/>
            <a:ext cx="11811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下单时的会员字段</a:t>
            </a:r>
            <a:endParaRPr/>
          </a:p>
        </p:txBody>
      </p:sp>
      <p:sp>
        <p:nvSpPr>
          <p:cNvPr id="965" name=""/>
          <p:cNvSpPr/>
          <p:nvPr/>
        </p:nvSpPr>
        <p:spPr>
          <a:xfrm rot="0" flipH="0" flipV="0">
            <a:off x="2028825" y="2657475"/>
            <a:ext cx="18859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66" name=""/>
          <p:cNvSpPr/>
          <p:nvPr/>
        </p:nvSpPr>
        <p:spPr>
          <a:xfrm rot="0" flipH="0" flipV="0">
            <a:off x="2143125" y="2819400"/>
            <a:ext cx="171450" cy="28575"/>
          </a:xfrm>
          <a:prstGeom prst="rect">
            <a:avLst/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2143125" y="2914650"/>
            <a:ext cx="16573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memberId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与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operatorId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都是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null</a:t>
            </a:r>
            <a:endParaRPr/>
          </a:p>
        </p:txBody>
      </p:sp>
      <p:sp>
        <p:nvSpPr>
          <p:cNvPr id="968" name=""/>
          <p:cNvSpPr/>
          <p:nvPr/>
        </p:nvSpPr>
        <p:spPr>
          <a:xfrm rot="0" flipH="0" flipV="0">
            <a:off x="3962400" y="2657475"/>
            <a:ext cx="18859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69" name=""/>
          <p:cNvSpPr/>
          <p:nvPr/>
        </p:nvSpPr>
        <p:spPr>
          <a:xfrm rot="0" flipH="0" flipV="0">
            <a:off x="4076700" y="2819400"/>
            <a:ext cx="171450" cy="28575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4076700" y="2914650"/>
            <a:ext cx="16573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memberId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用新生成的会员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ID</a:t>
            </a:r>
            <a:endParaRPr/>
          </a:p>
        </p:txBody>
      </p:sp>
      <p:sp>
        <p:nvSpPr>
          <p:cNvPr id="971" name=""/>
          <p:cNvSpPr/>
          <p:nvPr/>
        </p:nvSpPr>
        <p:spPr>
          <a:xfrm rot="0" flipH="0" flipV="0">
            <a:off x="5895975" y="2657475"/>
            <a:ext cx="18859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72" name=""/>
          <p:cNvSpPr/>
          <p:nvPr/>
        </p:nvSpPr>
        <p:spPr>
          <a:xfrm rot="0" flipH="0" flipV="0">
            <a:off x="6010275" y="2819400"/>
            <a:ext cx="171450" cy="28575"/>
          </a:xfrm>
          <a:prstGeom prst="rect">
            <a:avLst/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6010275" y="2914650"/>
            <a:ext cx="16573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两个字段都是自己的会员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ID</a:t>
            </a:r>
            <a:endParaRPr/>
          </a:p>
        </p:txBody>
      </p:sp>
      <p:sp>
        <p:nvSpPr>
          <p:cNvPr id="974" name=""/>
          <p:cNvSpPr/>
          <p:nvPr/>
        </p:nvSpPr>
        <p:spPr>
          <a:xfrm rot="0" flipH="0" flipV="0">
            <a:off x="571500" y="3638550"/>
            <a:ext cx="1409700" cy="933450"/>
          </a:xfrm>
          <a:prstGeom prst="roundRect">
            <a:avLst>
              <a:gd name="adj" fmla="val 816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685800" y="3981450"/>
            <a:ext cx="1181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订单状态</a:t>
            </a:r>
            <a:endParaRPr/>
          </a:p>
        </p:txBody>
      </p:sp>
      <p:sp>
        <p:nvSpPr>
          <p:cNvPr id="976" name=""/>
          <p:cNvSpPr/>
          <p:nvPr/>
        </p:nvSpPr>
        <p:spPr>
          <a:xfrm rot="0" flipH="0" flipV="0">
            <a:off x="2028825" y="3638550"/>
            <a:ext cx="188595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77" name=""/>
          <p:cNvSpPr/>
          <p:nvPr/>
        </p:nvSpPr>
        <p:spPr>
          <a:xfrm rot="0" flipH="0" flipV="0">
            <a:off x="2143125" y="3933825"/>
            <a:ext cx="171450" cy="28575"/>
          </a:xfrm>
          <a:prstGeom prst="rect">
            <a:avLst/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2143125" y="4029075"/>
            <a:ext cx="1657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pending / Unpaid</a:t>
            </a:r>
            <a:endParaRPr/>
          </a:p>
        </p:txBody>
      </p:sp>
      <p:sp>
        <p:nvSpPr>
          <p:cNvPr id="979" name=""/>
          <p:cNvSpPr/>
          <p:nvPr/>
        </p:nvSpPr>
        <p:spPr>
          <a:xfrm rot="0" flipH="0" flipV="0">
            <a:off x="3962400" y="3638550"/>
            <a:ext cx="188595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80" name=""/>
          <p:cNvSpPr/>
          <p:nvPr/>
        </p:nvSpPr>
        <p:spPr>
          <a:xfrm rot="0" flipH="0" flipV="0">
            <a:off x="4076700" y="3810000"/>
            <a:ext cx="171450" cy="28575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4076700" y="3905250"/>
            <a:ext cx="16573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completed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（无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payStatus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字段）</a:t>
            </a:r>
            <a:endParaRPr/>
          </a:p>
        </p:txBody>
      </p:sp>
      <p:sp>
        <p:nvSpPr>
          <p:cNvPr id="982" name=""/>
          <p:cNvSpPr/>
          <p:nvPr/>
        </p:nvSpPr>
        <p:spPr>
          <a:xfrm rot="0" flipH="0" flipV="0">
            <a:off x="5895975" y="3638550"/>
            <a:ext cx="188595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83" name=""/>
          <p:cNvSpPr/>
          <p:nvPr/>
        </p:nvSpPr>
        <p:spPr>
          <a:xfrm rot="0" flipH="0" flipV="0">
            <a:off x="6010275" y="3810000"/>
            <a:ext cx="171450" cy="28575"/>
          </a:xfrm>
          <a:prstGeom prst="rect">
            <a:avLst/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6010275" y="3905250"/>
            <a:ext cx="16573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pending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；余额支付则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Paid</a:t>
            </a:r>
            <a:endParaRPr/>
          </a:p>
        </p:txBody>
      </p:sp>
      <p:sp>
        <p:nvSpPr>
          <p:cNvPr id="985" name=""/>
          <p:cNvSpPr/>
          <p:nvPr/>
        </p:nvSpPr>
        <p:spPr>
          <a:xfrm rot="0" flipH="0" flipV="0">
            <a:off x="571500" y="4629150"/>
            <a:ext cx="1409700" cy="676275"/>
          </a:xfrm>
          <a:prstGeom prst="roundRect">
            <a:avLst>
              <a:gd name="adj" fmla="val 11268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685800" y="4848225"/>
            <a:ext cx="1181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账户里能看到吗</a:t>
            </a:r>
            <a:endParaRPr/>
          </a:p>
        </p:txBody>
      </p:sp>
      <p:sp>
        <p:nvSpPr>
          <p:cNvPr id="987" name=""/>
          <p:cNvSpPr/>
          <p:nvPr/>
        </p:nvSpPr>
        <p:spPr>
          <a:xfrm rot="0" flipH="0" flipV="0">
            <a:off x="2028825" y="4629150"/>
            <a:ext cx="1885950" cy="676275"/>
          </a:xfrm>
          <a:prstGeom prst="roundRect">
            <a:avLst>
              <a:gd name="adj" fmla="val 11268"/>
            </a:avLst>
          </a:prstGeom>
          <a:solidFill>
            <a:srgbClr val="F287B7">
              <a:alpha val="14000"/>
            </a:srgbClr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88" name=""/>
          <p:cNvSpPr/>
          <p:nvPr/>
        </p:nvSpPr>
        <p:spPr>
          <a:xfrm rot="0" flipH="0" flipV="0">
            <a:off x="2143125" y="4791075"/>
            <a:ext cx="171450" cy="28575"/>
          </a:xfrm>
          <a:prstGeom prst="rect">
            <a:avLst/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2143125" y="4886325"/>
            <a:ext cx="1657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看不到，且会被剔除删除</a:t>
            </a:r>
            <a:endParaRPr/>
          </a:p>
        </p:txBody>
      </p:sp>
      <p:sp>
        <p:nvSpPr>
          <p:cNvPr id="990" name=""/>
          <p:cNvSpPr/>
          <p:nvPr/>
        </p:nvSpPr>
        <p:spPr>
          <a:xfrm rot="0" flipH="0" flipV="0">
            <a:off x="3962400" y="4629150"/>
            <a:ext cx="188595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91" name=""/>
          <p:cNvSpPr/>
          <p:nvPr/>
        </p:nvSpPr>
        <p:spPr>
          <a:xfrm rot="0" flipH="0" flipV="0">
            <a:off x="4076700" y="4791075"/>
            <a:ext cx="171450" cy="28575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4076700" y="4886325"/>
            <a:ext cx="1657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看得到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· My orders</a:t>
            </a:r>
            <a:endParaRPr/>
          </a:p>
        </p:txBody>
      </p:sp>
      <p:sp>
        <p:nvSpPr>
          <p:cNvPr id="993" name=""/>
          <p:cNvSpPr/>
          <p:nvPr/>
        </p:nvSpPr>
        <p:spPr>
          <a:xfrm rot="0" flipH="0" flipV="0">
            <a:off x="5895975" y="4629150"/>
            <a:ext cx="188595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94" name=""/>
          <p:cNvSpPr/>
          <p:nvPr/>
        </p:nvSpPr>
        <p:spPr>
          <a:xfrm rot="0" flipH="0" flipV="0">
            <a:off x="6010275" y="4791075"/>
            <a:ext cx="171450" cy="28575"/>
          </a:xfrm>
          <a:prstGeom prst="rect">
            <a:avLst/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6010275" y="4886325"/>
            <a:ext cx="1657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看得到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· My orders</a:t>
            </a:r>
            <a:endParaRPr/>
          </a:p>
        </p:txBody>
      </p:sp>
      <p:sp>
        <p:nvSpPr>
          <p:cNvPr id="996" name=""/>
          <p:cNvSpPr/>
          <p:nvPr/>
        </p:nvSpPr>
        <p:spPr>
          <a:xfrm rot="0" flipH="0" flipV="0">
            <a:off x="571500" y="5362575"/>
            <a:ext cx="1409700" cy="923925"/>
          </a:xfrm>
          <a:prstGeom prst="roundRect">
            <a:avLst>
              <a:gd name="adj" fmla="val 8247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685800" y="5581650"/>
            <a:ext cx="11811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这笔单的奖金归谁</a:t>
            </a:r>
            <a:endParaRPr/>
          </a:p>
        </p:txBody>
      </p:sp>
      <p:sp>
        <p:nvSpPr>
          <p:cNvPr id="998" name=""/>
          <p:cNvSpPr/>
          <p:nvPr/>
        </p:nvSpPr>
        <p:spPr>
          <a:xfrm rot="0" flipH="0" flipV="0">
            <a:off x="2028825" y="5362575"/>
            <a:ext cx="18859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999" name=""/>
          <p:cNvSpPr/>
          <p:nvPr/>
        </p:nvSpPr>
        <p:spPr>
          <a:xfrm rot="0" flipH="0" flipV="0">
            <a:off x="2143125" y="5524500"/>
            <a:ext cx="171450" cy="28575"/>
          </a:xfrm>
          <a:prstGeom prst="rect">
            <a:avLst/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2143125" y="5619750"/>
            <a:ext cx="16573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自己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0 BV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，全额给分享链接的人</a:t>
            </a:r>
            <a:endParaRPr/>
          </a:p>
        </p:txBody>
      </p:sp>
      <p:sp>
        <p:nvSpPr>
          <p:cNvPr id="1001" name=""/>
          <p:cNvSpPr/>
          <p:nvPr/>
        </p:nvSpPr>
        <p:spPr>
          <a:xfrm rot="0" flipH="0" flipV="0">
            <a:off x="3962400" y="5362575"/>
            <a:ext cx="18859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1002" name=""/>
          <p:cNvSpPr/>
          <p:nvPr/>
        </p:nvSpPr>
        <p:spPr>
          <a:xfrm rot="0" flipH="0" flipV="0">
            <a:off x="4076700" y="5524500"/>
            <a:ext cx="171450" cy="28575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4076700" y="5619750"/>
            <a:ext cx="16573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计入自己的奖金（自购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BV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1004" name=""/>
          <p:cNvSpPr/>
          <p:nvPr/>
        </p:nvSpPr>
        <p:spPr>
          <a:xfrm rot="0" flipH="0" flipV="0">
            <a:off x="5895975" y="5362575"/>
            <a:ext cx="188595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1005" name=""/>
          <p:cNvSpPr/>
          <p:nvPr/>
        </p:nvSpPr>
        <p:spPr>
          <a:xfrm rot="0" flipH="0" flipV="0">
            <a:off x="6010275" y="5524500"/>
            <a:ext cx="171450" cy="28575"/>
          </a:xfrm>
          <a:prstGeom prst="rect">
            <a:avLst/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6010275" y="5619750"/>
            <a:ext cx="16573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计入自己的奖金（自购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BV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1007" name=""/>
          <p:cNvSpPr/>
          <p:nvPr/>
        </p:nvSpPr>
        <p:spPr>
          <a:xfrm rot="0" flipH="0" flipV="0">
            <a:off x="8001000" y="1143000"/>
            <a:ext cx="3619500" cy="1333500"/>
          </a:xfrm>
          <a:prstGeom prst="roundRect">
            <a:avLst>
              <a:gd name="adj" fmla="val 7143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8191500" y="1333500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35">
                <a:solidFill>
                  <a:srgbClr val="7FD3EC"/>
                </a:solidFill>
                <a:latin typeface="Inter"/>
                <a:ea typeface="Inter"/>
              </a:rPr>
              <a:t>ONE LINE</a:t>
            </a:r>
            <a:endParaRPr/>
          </a:p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8191500" y="1600200"/>
            <a:ext cx="3238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650" b="1">
                <a:solidFill>
                  <a:srgbClr val="FFFFFF"/>
                </a:solidFill>
                <a:latin typeface="Inter"/>
                <a:ea typeface="Inter"/>
              </a:rPr>
              <a:t>差别只有一个：下单那一刻，有没有会员身份。</a:t>
            </a:r>
            <a:endParaRPr/>
          </a:p>
        </p:txBody>
      </p:sp>
      <p:sp>
        <p:nvSpPr>
          <p:cNvPr id="1010" name=""/>
          <p:cNvSpPr/>
          <p:nvPr/>
        </p:nvSpPr>
        <p:spPr>
          <a:xfrm rot="0" flipH="0" flipV="0">
            <a:off x="8001000" y="2609850"/>
            <a:ext cx="3619500" cy="3676650"/>
          </a:xfrm>
          <a:prstGeom prst="roundRect">
            <a:avLst>
              <a:gd name="adj" fmla="val 2632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10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0" y="2800350"/>
            <a:ext cx="190500" cy="190500"/>
          </a:xfrm>
          <a:prstGeom prst="rect">
            <a:avLst/>
          </a:prstGeom>
          <a:ln/>
        </p:spPr>
      </p:pic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8496300" y="2781300"/>
            <a:ext cx="2933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有身份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：订单落进账户，订单的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计入自己的奖金。</a:t>
            </a:r>
            <a:endParaRPr/>
          </a:p>
        </p:txBody>
      </p:sp>
      <p:pic>
        <p:nvPicPr>
          <p:cNvPr id="10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91500" y="3486150"/>
            <a:ext cx="190500" cy="190500"/>
          </a:xfrm>
          <a:prstGeom prst="rect">
            <a:avLst/>
          </a:prstGeom>
          <a:ln/>
        </p:spPr>
      </p:pic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8496300" y="3467100"/>
            <a:ext cx="2933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没身份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：订单还能查，但进不了账户，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全额流向分享链接的人。</a:t>
            </a:r>
            <a:endParaRPr/>
          </a:p>
        </p:txBody>
      </p:sp>
      <p:pic>
        <p:nvPicPr>
          <p:cNvPr id="10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191500" y="4171950"/>
            <a:ext cx="190500" cy="190500"/>
          </a:xfrm>
          <a:prstGeom prst="rect">
            <a:avLst/>
          </a:prstGeom>
          <a:ln/>
        </p:spPr>
      </p:pic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8496300" y="4152900"/>
            <a:ext cx="29337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路径二和路径三在账户里的结果几乎一样，区别只在订单字段的形态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第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14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页会具体讲。</a:t>
            </a:r>
            <a:endParaRPr/>
          </a:p>
        </p:txBody>
      </p:sp>
      <p:sp>
        <p:nvSpPr>
          <p:cNvPr id="1017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018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03 / 31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107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前提：这是一个纯前端系统&lt;/Text&gt;&#10;        &lt;Text style={{ fontSize: 16, color: '#5C646A', lineHeight: 1.4, marginTop: 6 }}&gt;&#10;            三条路径的差异，全部由浏览器本地的几个存储键决定&#10;        &lt;/Text&gt;&#10;    &lt;/Box&gt;&#10;&#10;    {/* ===== B 区 ===== */}&#10;    &lt;Box style={{ height: 540, flexDirection: 'row', gap: 24 }}&gt;&#10;        {/* 左：架构结论 */}&#10;        &lt;Box style={{ width: 620, flexDirection: 'column', gap: 16 }}&gt;&#10;            &lt;Box style={{ background: '#202259', borderRadius: 10, padding: '24px 26px', flexDirection: 'column' }}&gt;&#10;                &lt;Text style={{ fontSize: 15, color: '#7FD3EC', letterSpacing: 2, fontWeight: 'bold' }}&gt;ARCHITECTURE&lt;/Text&gt;&#10;                &lt;Box style={{ flexDirection: 'row', alignItems: 'baseline', gap: 12, marginTop: 12 }}&gt;&#10;                    &lt;Text style={{ fontSize: 72, fontWeight: 'bold', color: '#FFFFFF', lineHeight: 1, letterSpacing: -3, fontFamily: 'Menlo, ui-monospace, monospace' }}&gt;0&lt;/Text&gt;&#10;                    &lt;Text style={{ fontSize: 22, fontWeight: 'bold', color: '#7FD3EC' }}&gt;后端&lt;/Text&gt;&#10;                &lt;/Box&gt;&#10;                &lt;Text style={{ fontSize: 17, color: '#B9C6E4', lineHeight: 1.55, marginTop: 14 }}&gt;&#10;                    没有服务端、没有数据库、没有接口调用。订单、会员档案、奖金流水全部写在浏览器的 localStorage 里。这决定了三件事：数据不跨设备、访客订单无法被&quot;认领&quot;、以及下面这个演示陷阱。&#10;                &lt;/Text&gt;&#10;            &lt;/Box&gt;&#10;&#10;            &lt;Box style={{ background: 'rgba(242,135,183,0.14)', borderLeft: '4px solid #F287B7', borderRadius: 8, padding: '18px 20px', flexDirection: 'column', flex: 1 }}&gt;&#10;                &lt;Box style={{ flexDirection: 'row', alignItems: 'center', gap: 10, marginBottom: 10 }}&gt;&#10;                    &lt;FAIcon name='exclamation-triangle' style={{ fill: '#B3528A', width: 20, height: 20 }} /&gt;&#10;                    &lt;Text style={{ fontSize: 19, fontWeight: 'bold', color: '#7A2F5C' }}&gt;演示前必须知道&lt;/Text&gt;&#10;                &lt;/Box&gt;&#10;                &lt;Text style={{ fontSize: 16, color: '#4A3040', lineHeight: 1.6 }}&gt;&#10;                    全新浏览器第一次打开站点时，系统会自动种入一个&quot;已登录&quot;的演示账户和一张示例订单。也就是说，你直接打开结算页，其实已经是登录状态。&#10;                &lt;/Text&gt;&#10;                &lt;Text style={{ fontSize: 16, color: '#4A3040', lineHeight: 1.6, marginTop: 10 }}&gt;&#10;                    要演示真正的&quot;访客下单&quot;，必须先点一次 &lt;span style={{ fontWeight: 'bold' }}&gt;Sign out&lt;/span&gt;。另外，登出只清登录态，个人资料和地址仍留在本地 —— 下单表单会被预填，这是个已知现象。&#10;                &lt;/Text&gt;&#10;            &lt;/Box&gt;&#10;        &lt;/Box&gt;&#10;&#10;        {/* 右：六个键 */}&#10;        &lt;Box style={{ flex: 1, flexDirection: 'column' }}&gt;&#10;            &lt;Text style={{ fontSize: 19, fontWeight: 'bold', color: '#202259', marginBottom: 12 }}&gt;&#10;                六个存储键，分成三个桶&#10;            &lt;/Text&gt;&#10;            &lt;Box style={{ flex: 1, flexDirection: 'column', gap: 9 }}&gt;&#10;                {[&#10;                    { k: 'al.auth.user', b: '身份', d: '登录态。访客时不存在', c: '#202259' },&#10;                    { k: 'al.memberData', b: '身份', d: '会员主档：等级、推荐人、报单中心', c: '#202259' },&#10;                    { k: 'al.orders', b: '交易', d: '订单数组。访客单也混在里面，只是归属字段为空', c: '#2AA7CF' },&#10;                    { k: 'al.cart', b: '交易', d: '购物车，注册时会先清空再写入所选商品', c: '#2AA7CF' },&#10;                    { k: 'al.bvCredits', b: '资金', d: 'BV 奖金台账，推荐返佣记在这里', c: '#F287B7' },&#10;                    { k: 'al.ecoin', b: '资金', d: 'Ecoin 台账，充值、转账、抵扣都走它', c: '#F287B7' },&#10;                ].map(function (it, i) {&#10;                    return (&#10;                        &lt;Box key={i} style={{ flex: 1, flexDirection: 'row', alignItems: 'center', gap: 12, background: '#F4F6F8', borderRadius: 8, padding: '0 14px', borderLeft: '4px solid ' + it.c }}&gt;&#10;                            &lt;Box style={{ flexDirection: 'column', width: 156 }}&gt;&#10;                                &lt;Text style={{ fontSize: 15, color: '#202259', fontFamily: 'Menlo, ui-monospace, monospace' }}&gt;{it.k}&lt;/Text&gt;&#10;                            &lt;/Box&gt;&#10;                            &lt;Box style={{ padding: '2px 9px', background: it.c, borderRadius: 4 }}&gt;&#10;                                &lt;Text style={{ fontSize: 13, color: '#FFFFFF' }}&gt;{it.b}&lt;/Text&gt;&#10;                            &lt;/Box&gt;&#10;                            &lt;Text style={{ fontSize: 15, color: '#3F4A55', flex: 1, lineHeight: 1.35 }}&gt;{it.d}&lt;/Text&gt;&#10;                        &lt;/Box&gt;&#10;                    );&#10;                })}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04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9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前提：这是一个纯前端系统</a:t>
            </a:r>
            <a:endParaRPr/>
          </a:p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三条路径的差异，全部由浏览器本地的几个存储键决定</a:t>
            </a:r>
            <a:endParaRPr/>
          </a:p>
        </p:txBody>
      </p:sp>
      <p:sp>
        <p:nvSpPr>
          <p:cNvPr id="1111" name=""/>
          <p:cNvSpPr/>
          <p:nvPr/>
        </p:nvSpPr>
        <p:spPr>
          <a:xfrm rot="0" flipH="0" flipV="0">
            <a:off x="571500" y="1143000"/>
            <a:ext cx="5905500" cy="2609850"/>
          </a:xfrm>
          <a:prstGeom prst="roundRect">
            <a:avLst>
              <a:gd name="adj" fmla="val 365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819150" y="1371600"/>
            <a:ext cx="541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ARCHITECTURE</a:t>
            </a:r>
            <a:endParaRPr/>
          </a:p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819150" y="1657350"/>
            <a:ext cx="3905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 spc="-225">
                <a:solidFill>
                  <a:srgbClr val="FFFFFF"/>
                </a:solidFill>
                <a:latin typeface="Menlo"/>
                <a:ea typeface="Menlo"/>
              </a:rPr>
              <a:t>0</a:t>
            </a:r>
            <a:endParaRPr/>
          </a:p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1323975" y="1657350"/>
            <a:ext cx="4191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7FD3EC"/>
                </a:solidFill>
                <a:latin typeface="Inter"/>
                <a:ea typeface="Inter"/>
              </a:rPr>
              <a:t>后端</a:t>
            </a:r>
            <a:endParaRPr/>
          </a:p>
        </p:txBody>
      </p:sp>
      <p:sp>
        <p:nvSpPr>
          <p:cNvPr id="1115" name="" descr="{&quot;isTemplate&quot;:true,&quot;type&quot;:&quot;text&quot;}"/>
          <p:cNvSpPr txBox="1"/>
          <p:nvPr/>
        </p:nvSpPr>
        <p:spPr>
          <a:xfrm rot="0" flipH="0" flipV="0">
            <a:off x="819150" y="2619375"/>
            <a:ext cx="54102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没有服务端、没有数据库、没有接口调用。订单、会员档案、奖金流水全部写在浏览器的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 localStorage 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里。这决定了三件事：数据不跨设备、访客订单无法被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认领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、以及下面这个演示陷阱。</a:t>
            </a:r>
            <a:endParaRPr/>
          </a:p>
        </p:txBody>
      </p:sp>
      <p:sp>
        <p:nvSpPr>
          <p:cNvPr id="1116" name=""/>
          <p:cNvSpPr/>
          <p:nvPr/>
        </p:nvSpPr>
        <p:spPr>
          <a:xfrm rot="0" flipH="0" flipV="0">
            <a:off x="609600" y="3905250"/>
            <a:ext cx="5905500" cy="2381250"/>
          </a:xfrm>
          <a:prstGeom prst="roundRect">
            <a:avLst>
              <a:gd name="adj" fmla="val 3200"/>
            </a:avLst>
          </a:prstGeom>
          <a:solidFill>
            <a:srgbClr val="F287B7">
              <a:alpha val="14000"/>
            </a:srgbClr>
          </a:solidFill>
          <a:ln/>
        </p:spPr>
        <p:txBody>
          <a:bodyPr/>
          <a:p/>
        </p:txBody>
      </p:sp>
      <p:sp>
        <p:nvSpPr>
          <p:cNvPr id="1117" name=""/>
          <p:cNvSpPr/>
          <p:nvPr/>
        </p:nvSpPr>
        <p:spPr>
          <a:xfrm rot="0" flipH="0" flipV="0">
            <a:off x="609600" y="3905250"/>
            <a:ext cx="5905500" cy="2381250"/>
          </a:xfrm>
          <a:custGeom>
            <a:pathLst>
              <a:path w="620" h="25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246"/>
                </a:lnTo>
                <a:cubicBezTo>
                  <a:pt x="4" y="248"/>
                  <a:pt x="5" y="250"/>
                  <a:pt x="7" y="250"/>
                </a:cubicBezTo>
                <a:cubicBezTo>
                  <a:pt x="3" y="250"/>
                  <a:pt x="0" y="246"/>
                  <a:pt x="0" y="24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pic>
        <p:nvPicPr>
          <p:cNvPr id="11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4095750"/>
            <a:ext cx="190500" cy="190500"/>
          </a:xfrm>
          <a:prstGeom prst="rect">
            <a:avLst/>
          </a:prstGeom>
          <a:ln/>
        </p:spPr>
      </p:pic>
      <p:sp>
        <p:nvSpPr>
          <p:cNvPr id="1119" name="" descr="{&quot;isTemplate&quot;:true,&quot;type&quot;:&quot;text&quot;}"/>
          <p:cNvSpPr txBox="1"/>
          <p:nvPr/>
        </p:nvSpPr>
        <p:spPr>
          <a:xfrm rot="0" flipH="0" flipV="0">
            <a:off x="1085850" y="4076700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7A2F5C"/>
                </a:solidFill>
                <a:latin typeface="Inter"/>
                <a:ea typeface="Inter"/>
              </a:rPr>
              <a:t>演示前必须知道</a:t>
            </a:r>
            <a:endParaRPr/>
          </a:p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800100" y="4391025"/>
            <a:ext cx="5486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全新浏览器第一次打开站点时，系统会自动种入一个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已登录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的演示账户和一张示例订单。也就是说，你直接打开结算页，其实已经是登录状态。</a:t>
            </a:r>
            <a:endParaRPr/>
          </a:p>
        </p:txBody>
      </p:sp>
      <p:sp>
        <p:nvSpPr>
          <p:cNvPr id="1121" name="" descr="{&quot;isTemplate&quot;:true,&quot;type&quot;:&quot;text&quot;}"/>
          <p:cNvSpPr txBox="1"/>
          <p:nvPr/>
        </p:nvSpPr>
        <p:spPr>
          <a:xfrm rot="0" flipH="0" flipV="0">
            <a:off x="800100" y="5076825"/>
            <a:ext cx="5486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要演示真正的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访客下单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，必须先点一次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 </a:t>
            </a:r>
            <a:r>
              <a:rPr lang="en-US" sz="1200" b="1">
                <a:solidFill>
                  <a:srgbClr val="4A3040"/>
                </a:solidFill>
                <a:latin typeface="Inter"/>
                <a:ea typeface="Inter"/>
              </a:rPr>
              <a:t>Sign out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。另外，登出只清登录态，个人资料和地址仍留在本地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下单表单会被预填，这是个已知现象。</a:t>
            </a:r>
            <a:endParaRPr/>
          </a:p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6705600" y="1143000"/>
            <a:ext cx="4914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六个存储键，分成三个桶</a:t>
            </a:r>
            <a:endParaRPr/>
          </a:p>
        </p:txBody>
      </p:sp>
      <p:sp>
        <p:nvSpPr>
          <p:cNvPr id="1123" name=""/>
          <p:cNvSpPr/>
          <p:nvPr/>
        </p:nvSpPr>
        <p:spPr>
          <a:xfrm rot="0" flipH="0" flipV="0">
            <a:off x="6743700" y="1476375"/>
            <a:ext cx="4914900" cy="695325"/>
          </a:xfrm>
          <a:prstGeom prst="roundRect">
            <a:avLst>
              <a:gd name="adj" fmla="val 1095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124" name=""/>
          <p:cNvSpPr/>
          <p:nvPr/>
        </p:nvSpPr>
        <p:spPr>
          <a:xfrm rot="0" flipH="0" flipV="0">
            <a:off x="6743700" y="1476375"/>
            <a:ext cx="4914900" cy="695325"/>
          </a:xfrm>
          <a:custGeom>
            <a:pathLst>
              <a:path w="516" h="7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9"/>
                </a:lnTo>
                <a:cubicBezTo>
                  <a:pt x="4" y="71"/>
                  <a:pt x="5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6877050" y="1743075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al.auth.user</a:t>
            </a:r>
            <a:endParaRPr/>
          </a:p>
        </p:txBody>
      </p:sp>
      <p:sp>
        <p:nvSpPr>
          <p:cNvPr id="1126" name=""/>
          <p:cNvSpPr/>
          <p:nvPr/>
        </p:nvSpPr>
        <p:spPr>
          <a:xfrm rot="0" flipH="0" flipV="0">
            <a:off x="8477250" y="1733550"/>
            <a:ext cx="419100" cy="19050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127" name="" descr="{&quot;isTemplate&quot;:true,&quot;type&quot;:&quot;text&quot;}"/>
          <p:cNvSpPr txBox="1"/>
          <p:nvPr/>
        </p:nvSpPr>
        <p:spPr>
          <a:xfrm rot="0" flipH="0" flipV="0">
            <a:off x="8562975" y="17526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Inter"/>
                <a:ea typeface="Inter"/>
              </a:rPr>
              <a:t>身份</a:t>
            </a:r>
            <a:endParaRPr/>
          </a:p>
        </p:txBody>
      </p:sp>
      <p:sp>
        <p:nvSpPr>
          <p:cNvPr id="1128" name="" descr="{&quot;isTemplate&quot;:true,&quot;type&quot;:&quot;text&quot;}"/>
          <p:cNvSpPr txBox="1"/>
          <p:nvPr/>
        </p:nvSpPr>
        <p:spPr>
          <a:xfrm rot="0" flipH="0" flipV="0">
            <a:off x="9010650" y="1704975"/>
            <a:ext cx="24765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登录态。访客时不存在</a:t>
            </a:r>
            <a:endParaRPr/>
          </a:p>
        </p:txBody>
      </p:sp>
      <p:sp>
        <p:nvSpPr>
          <p:cNvPr id="1129" name=""/>
          <p:cNvSpPr/>
          <p:nvPr/>
        </p:nvSpPr>
        <p:spPr>
          <a:xfrm rot="0" flipH="0" flipV="0">
            <a:off x="6743700" y="2257425"/>
            <a:ext cx="4914900" cy="685800"/>
          </a:xfrm>
          <a:prstGeom prst="roundRect">
            <a:avLst>
              <a:gd name="adj" fmla="val 1111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130" name=""/>
          <p:cNvSpPr/>
          <p:nvPr/>
        </p:nvSpPr>
        <p:spPr>
          <a:xfrm rot="0" flipH="0" flipV="0">
            <a:off x="6743700" y="2257425"/>
            <a:ext cx="4914900" cy="685800"/>
          </a:xfrm>
          <a:custGeom>
            <a:pathLst>
              <a:path w="516" h="7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8"/>
                </a:lnTo>
                <a:cubicBezTo>
                  <a:pt x="4" y="70"/>
                  <a:pt x="5" y="72"/>
                  <a:pt x="7" y="72"/>
                </a:cubicBezTo>
                <a:cubicBezTo>
                  <a:pt x="3" y="72"/>
                  <a:pt x="0" y="68"/>
                  <a:pt x="0" y="6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6877050" y="251460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al.memberData</a:t>
            </a:r>
            <a:endParaRPr/>
          </a:p>
        </p:txBody>
      </p:sp>
      <p:sp>
        <p:nvSpPr>
          <p:cNvPr id="1132" name=""/>
          <p:cNvSpPr/>
          <p:nvPr/>
        </p:nvSpPr>
        <p:spPr>
          <a:xfrm rot="0" flipH="0" flipV="0">
            <a:off x="8477250" y="2505075"/>
            <a:ext cx="419100" cy="19050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133" name="" descr="{&quot;isTemplate&quot;:true,&quot;type&quot;:&quot;text&quot;}"/>
          <p:cNvSpPr txBox="1"/>
          <p:nvPr/>
        </p:nvSpPr>
        <p:spPr>
          <a:xfrm rot="0" flipH="0" flipV="0">
            <a:off x="8562975" y="25241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Inter"/>
                <a:ea typeface="Inter"/>
              </a:rPr>
              <a:t>身份</a:t>
            </a:r>
            <a:endParaRPr/>
          </a:p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9010650" y="2486025"/>
            <a:ext cx="24765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会员主档：等级、推荐人、报单中心</a:t>
            </a:r>
            <a:endParaRPr/>
          </a:p>
        </p:txBody>
      </p:sp>
      <p:sp>
        <p:nvSpPr>
          <p:cNvPr id="1135" name=""/>
          <p:cNvSpPr/>
          <p:nvPr/>
        </p:nvSpPr>
        <p:spPr>
          <a:xfrm rot="0" flipH="0" flipV="0">
            <a:off x="6743700" y="3028950"/>
            <a:ext cx="4914900" cy="923925"/>
          </a:xfrm>
          <a:prstGeom prst="roundRect">
            <a:avLst>
              <a:gd name="adj" fmla="val 8247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136" name=""/>
          <p:cNvSpPr/>
          <p:nvPr/>
        </p:nvSpPr>
        <p:spPr>
          <a:xfrm rot="0" flipH="0" flipV="0">
            <a:off x="6743700" y="3028950"/>
            <a:ext cx="4914900" cy="923925"/>
          </a:xfrm>
          <a:custGeom>
            <a:pathLst>
              <a:path w="516" h="9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3"/>
                </a:lnTo>
                <a:cubicBezTo>
                  <a:pt x="4" y="95"/>
                  <a:pt x="5" y="97"/>
                  <a:pt x="7" y="97"/>
                </a:cubicBezTo>
                <a:cubicBezTo>
                  <a:pt x="3" y="97"/>
                  <a:pt x="0" y="93"/>
                  <a:pt x="0" y="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1137" name="" descr="{&quot;isTemplate&quot;:true,&quot;type&quot;:&quot;text&quot;}"/>
          <p:cNvSpPr txBox="1"/>
          <p:nvPr/>
        </p:nvSpPr>
        <p:spPr>
          <a:xfrm rot="0" flipH="0" flipV="0">
            <a:off x="6877050" y="340995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al.orders</a:t>
            </a:r>
            <a:endParaRPr/>
          </a:p>
        </p:txBody>
      </p:sp>
      <p:sp>
        <p:nvSpPr>
          <p:cNvPr id="1138" name=""/>
          <p:cNvSpPr/>
          <p:nvPr/>
        </p:nvSpPr>
        <p:spPr>
          <a:xfrm rot="0" flipH="0" flipV="0">
            <a:off x="8477250" y="3400425"/>
            <a:ext cx="419100" cy="190500"/>
          </a:xfrm>
          <a:prstGeom prst="roundRect">
            <a:avLst>
              <a:gd name="adj" fmla="val 2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139" name="" descr="{&quot;isTemplate&quot;:true,&quot;type&quot;:&quot;text&quot;}"/>
          <p:cNvSpPr txBox="1"/>
          <p:nvPr/>
        </p:nvSpPr>
        <p:spPr>
          <a:xfrm rot="0" flipH="0" flipV="0">
            <a:off x="8562975" y="3419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Inter"/>
                <a:ea typeface="Inter"/>
              </a:rPr>
              <a:t>交易</a:t>
            </a:r>
            <a:endParaRPr/>
          </a:p>
        </p:txBody>
      </p:sp>
      <p:sp>
        <p:nvSpPr>
          <p:cNvPr id="1140" name="" descr="{&quot;isTemplate&quot;:true,&quot;type&quot;:&quot;text&quot;}"/>
          <p:cNvSpPr txBox="1"/>
          <p:nvPr/>
        </p:nvSpPr>
        <p:spPr>
          <a:xfrm rot="0" flipH="0" flipV="0">
            <a:off x="9010650" y="3257550"/>
            <a:ext cx="24765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订单数组。访客单也混在里面，只是归属字段为空</a:t>
            </a:r>
            <a:endParaRPr/>
          </a:p>
        </p:txBody>
      </p:sp>
      <p:sp>
        <p:nvSpPr>
          <p:cNvPr id="1141" name=""/>
          <p:cNvSpPr/>
          <p:nvPr/>
        </p:nvSpPr>
        <p:spPr>
          <a:xfrm rot="0" flipH="0" flipV="0">
            <a:off x="6743700" y="4038600"/>
            <a:ext cx="4914900" cy="695325"/>
          </a:xfrm>
          <a:prstGeom prst="roundRect">
            <a:avLst>
              <a:gd name="adj" fmla="val 1095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142" name=""/>
          <p:cNvSpPr/>
          <p:nvPr/>
        </p:nvSpPr>
        <p:spPr>
          <a:xfrm rot="0" flipH="0" flipV="0">
            <a:off x="6743700" y="4038600"/>
            <a:ext cx="4914900" cy="695325"/>
          </a:xfrm>
          <a:custGeom>
            <a:pathLst>
              <a:path w="516" h="7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9"/>
                </a:lnTo>
                <a:cubicBezTo>
                  <a:pt x="4" y="71"/>
                  <a:pt x="5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1143" name="" descr="{&quot;isTemplate&quot;:true,&quot;type&quot;:&quot;text&quot;}"/>
          <p:cNvSpPr txBox="1"/>
          <p:nvPr/>
        </p:nvSpPr>
        <p:spPr>
          <a:xfrm rot="0" flipH="0" flipV="0">
            <a:off x="6877050" y="430530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al.cart</a:t>
            </a:r>
            <a:endParaRPr/>
          </a:p>
        </p:txBody>
      </p:sp>
      <p:sp>
        <p:nvSpPr>
          <p:cNvPr id="1144" name=""/>
          <p:cNvSpPr/>
          <p:nvPr/>
        </p:nvSpPr>
        <p:spPr>
          <a:xfrm rot="0" flipH="0" flipV="0">
            <a:off x="8477250" y="4295775"/>
            <a:ext cx="419100" cy="190500"/>
          </a:xfrm>
          <a:prstGeom prst="roundRect">
            <a:avLst>
              <a:gd name="adj" fmla="val 2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145" name="" descr="{&quot;isTemplate&quot;:true,&quot;type&quot;:&quot;text&quot;}"/>
          <p:cNvSpPr txBox="1"/>
          <p:nvPr/>
        </p:nvSpPr>
        <p:spPr>
          <a:xfrm rot="0" flipH="0" flipV="0">
            <a:off x="8562975" y="43148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Inter"/>
                <a:ea typeface="Inter"/>
              </a:rPr>
              <a:t>交易</a:t>
            </a:r>
            <a:endParaRPr/>
          </a:p>
        </p:txBody>
      </p:sp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9010650" y="4267200"/>
            <a:ext cx="24765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购物车，注册时会先清空再写入所选商品</a:t>
            </a:r>
            <a:endParaRPr/>
          </a:p>
        </p:txBody>
      </p:sp>
      <p:sp>
        <p:nvSpPr>
          <p:cNvPr id="1147" name=""/>
          <p:cNvSpPr/>
          <p:nvPr/>
        </p:nvSpPr>
        <p:spPr>
          <a:xfrm rot="0" flipH="0" flipV="0">
            <a:off x="6743700" y="4819650"/>
            <a:ext cx="4914900" cy="685800"/>
          </a:xfrm>
          <a:prstGeom prst="roundRect">
            <a:avLst>
              <a:gd name="adj" fmla="val 1111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148" name=""/>
          <p:cNvSpPr/>
          <p:nvPr/>
        </p:nvSpPr>
        <p:spPr>
          <a:xfrm rot="0" flipH="0" flipV="0">
            <a:off x="6743700" y="4819650"/>
            <a:ext cx="4914900" cy="685800"/>
          </a:xfrm>
          <a:custGeom>
            <a:pathLst>
              <a:path w="516" h="7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8"/>
                </a:lnTo>
                <a:cubicBezTo>
                  <a:pt x="4" y="70"/>
                  <a:pt x="5" y="72"/>
                  <a:pt x="7" y="72"/>
                </a:cubicBezTo>
                <a:cubicBezTo>
                  <a:pt x="3" y="72"/>
                  <a:pt x="0" y="68"/>
                  <a:pt x="0" y="6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1149" name="" descr="{&quot;isTemplate&quot;:true,&quot;type&quot;:&quot;text&quot;}"/>
          <p:cNvSpPr txBox="1"/>
          <p:nvPr/>
        </p:nvSpPr>
        <p:spPr>
          <a:xfrm rot="0" flipH="0" flipV="0">
            <a:off x="6877050" y="5076825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al.bvCredits</a:t>
            </a:r>
            <a:endParaRPr/>
          </a:p>
        </p:txBody>
      </p:sp>
      <p:sp>
        <p:nvSpPr>
          <p:cNvPr id="1150" name=""/>
          <p:cNvSpPr/>
          <p:nvPr/>
        </p:nvSpPr>
        <p:spPr>
          <a:xfrm rot="0" flipH="0" flipV="0">
            <a:off x="8477250" y="5067300"/>
            <a:ext cx="419100" cy="190500"/>
          </a:xfrm>
          <a:prstGeom prst="roundRect">
            <a:avLst>
              <a:gd name="adj" fmla="val 2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1151" name="" descr="{&quot;isTemplate&quot;:true,&quot;type&quot;:&quot;text&quot;}"/>
          <p:cNvSpPr txBox="1"/>
          <p:nvPr/>
        </p:nvSpPr>
        <p:spPr>
          <a:xfrm rot="0" flipH="0" flipV="0">
            <a:off x="8562975" y="50863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Inter"/>
                <a:ea typeface="Inter"/>
              </a:rPr>
              <a:t>资金</a:t>
            </a:r>
            <a:endParaRPr/>
          </a:p>
        </p:txBody>
      </p:sp>
      <p:sp>
        <p:nvSpPr>
          <p:cNvPr id="1152" name="" descr="{&quot;isTemplate&quot;:true,&quot;type&quot;:&quot;text&quot;}"/>
          <p:cNvSpPr txBox="1"/>
          <p:nvPr/>
        </p:nvSpPr>
        <p:spPr>
          <a:xfrm rot="0" flipH="0" flipV="0">
            <a:off x="9010650" y="5048250"/>
            <a:ext cx="24765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BV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奖金台账，推荐返佣记在这里</a:t>
            </a:r>
            <a:endParaRPr/>
          </a:p>
        </p:txBody>
      </p:sp>
      <p:sp>
        <p:nvSpPr>
          <p:cNvPr id="1153" name=""/>
          <p:cNvSpPr/>
          <p:nvPr/>
        </p:nvSpPr>
        <p:spPr>
          <a:xfrm rot="0" flipH="0" flipV="0">
            <a:off x="6743700" y="5591175"/>
            <a:ext cx="4914900" cy="695325"/>
          </a:xfrm>
          <a:prstGeom prst="roundRect">
            <a:avLst>
              <a:gd name="adj" fmla="val 1095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154" name=""/>
          <p:cNvSpPr/>
          <p:nvPr/>
        </p:nvSpPr>
        <p:spPr>
          <a:xfrm rot="0" flipH="0" flipV="0">
            <a:off x="6743700" y="5591175"/>
            <a:ext cx="4914900" cy="695325"/>
          </a:xfrm>
          <a:custGeom>
            <a:pathLst>
              <a:path w="516" h="7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9"/>
                </a:lnTo>
                <a:cubicBezTo>
                  <a:pt x="4" y="71"/>
                  <a:pt x="5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6877050" y="5857875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al.ecoin</a:t>
            </a:r>
            <a:endParaRPr/>
          </a:p>
        </p:txBody>
      </p:sp>
      <p:sp>
        <p:nvSpPr>
          <p:cNvPr id="1156" name=""/>
          <p:cNvSpPr/>
          <p:nvPr/>
        </p:nvSpPr>
        <p:spPr>
          <a:xfrm rot="0" flipH="0" flipV="0">
            <a:off x="8477250" y="5848350"/>
            <a:ext cx="419100" cy="190500"/>
          </a:xfrm>
          <a:prstGeom prst="roundRect">
            <a:avLst>
              <a:gd name="adj" fmla="val 2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1157" name="" descr="{&quot;isTemplate&quot;:true,&quot;type&quot;:&quot;text&quot;}"/>
          <p:cNvSpPr txBox="1"/>
          <p:nvPr/>
        </p:nvSpPr>
        <p:spPr>
          <a:xfrm rot="0" flipH="0" flipV="0">
            <a:off x="8562975" y="58674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Inter"/>
                <a:ea typeface="Inter"/>
              </a:rPr>
              <a:t>资金</a:t>
            </a:r>
            <a:endParaRPr/>
          </a:p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9010650" y="5819775"/>
            <a:ext cx="24765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Ecoin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台账，充值、转账、抵扣都走它</a:t>
            </a:r>
            <a:endParaRPr/>
          </a:p>
        </p:txBody>
      </p:sp>
      <p:sp>
        <p:nvSpPr>
          <p:cNvPr id="1159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1161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04 / 31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2" name="" descr="&lt;Slide style={{ width: 1280, height: 720, position: 'relative', fontFamily: 'Inter, PingFang SC, Helvetica Neue, sans-serif', background: '#0F1034' }}&gt;&#10;    &lt;Image src='resources/images/section_flow.jpg' style={{ position: 'absolute', top: 0, left: 0, width: 1280, height: 720, objectFit: 'cover' }} /&gt;&#10;    &lt;Box style={{ position: 'absolute', top: 0, left: 0, width: 1280, height: 720, background: 'linear-gradient(90deg, rgba(15,16,52,0.95) 0%, rgba(15,16,52,0.85) 46%, rgba(15,16,52,0.36) 76%, rgba(15,16,52,0.74) 100%)' }} /&gt;&#10;    &lt;Box style={{ position: 'absolute', bottom: 0, right: 0, width: 520, height: 240, background: 'linear-gradient(315deg, rgba(8,10,32,1) 0%, rgba(8,10,32,0.9) 24%, rgba(8,10,32,0) 64%)' }} /&gt;&#10;&#10;    &lt;Box style={{ position: 'relative', width: '100%', height: '100%', padding: '72px 80px', flexDirection: 'column', justifyContent: 'center' }}&gt;&#10;        &lt;Box style={{ flexDirection: 'row', alignItems: 'center', gap: 16 }}&gt;&#10;            &lt;Text style={{ fontSize: 96, fontWeight: 'bold', color: 'rgba(42,167,207,0.55)', lineHeight: 1, letterSpacing: -3 }}&gt;01&lt;/Text&gt;&#10;            &lt;Box style={{ width: 56, height: 4, background: '#2AA7CF' }} /&gt;&#10;            &lt;Text style={{ fontSize: 17, color: '#7FD3EC', letterSpacing: 3, fontWeight: 'bold' }}&gt;CHAPTER ONE&lt;/Text&gt;&#10;        &lt;/Box&gt;&#10;&#10;        &lt;Text style={{ fontSize: 62, fontWeight: 'bold', color: '#FFFFFF', lineHeight: 1.1, letterSpacing: -1, marginTop: 24 }}&gt;&#10;            没有账号直接下单&#10;        &lt;/Text&gt;&#10;        &lt;Text style={{ fontSize: 23, color: '#B9C6E4', lineHeight: 1.5, marginTop: 18, width: 830 }}&gt;&#10;            客户不注册也能把单下完。但下单之后，这笔订单去了哪、奖金给了谁，需要说清楚。&#10;        &lt;/Text&gt;&#10;&#10;        &lt;Box style={{ flexDirection: 'row', gap: 14, marginTop: 38 }}&gt;&#10;            {['访客能走多远', '哪些功能被隐藏', '订单归属字段', '下单后的三个真相'].map(function (t, i) {&#10;                return (&#10;                    &lt;Box key={i} style={{ padding: '10px 20px', background: 'rgba(255,255,255,0.08)', border: '1px solid rgba(127,211,236,0.3)', borderRadius: 999, flexDirection: 'row', alignItems: 'center', gap: 9 }}&gt;&#10;                        &lt;Box style={{ width: 6, height: 6, borderRadius: 3, background: '#2AA7CF' }} /&gt;&#10;                        &lt;Text style={{ fontSize: 16, color: '#D6E2F5' }}&gt;{t}&lt;/Text&gt;&#10;                    &lt;/Box&gt;&#10;                );&#10;            })}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034"/>
          </a:solidFill>
          <a:ln/>
        </p:spPr>
        <p:txBody>
          <a:bodyPr/>
          <a:p/>
        </p:txBody>
      </p:sp>
      <p:pic>
        <p:nvPicPr>
          <p:cNvPr id="1164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034">
                  <a:alpha val="95000"/>
                </a:srgbClr>
              </a:gs>
              <a:gs pos="46000">
                <a:srgbClr val="0F1034">
                  <a:alpha val="85000"/>
                </a:srgbClr>
              </a:gs>
              <a:gs pos="76000">
                <a:srgbClr val="0F1034">
                  <a:alpha val="36000"/>
                </a:srgbClr>
              </a:gs>
              <a:gs pos="100000">
                <a:srgbClr val="0F1034">
                  <a:alpha val="74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166" name=""/>
          <p:cNvSpPr/>
          <p:nvPr/>
        </p:nvSpPr>
        <p:spPr>
          <a:xfrm rot="0" flipH="0" flipV="0">
            <a:off x="7239000" y="4572000"/>
            <a:ext cx="4953000" cy="2286000"/>
          </a:xfrm>
          <a:prstGeom prst="rect">
            <a:avLst/>
          </a:prstGeom>
          <a:gradFill>
            <a:gsLst>
              <a:gs pos="0">
                <a:srgbClr val="080A20">
                  <a:alpha val="100000"/>
                </a:srgbClr>
              </a:gs>
              <a:gs pos="24000">
                <a:srgbClr val="080A20">
                  <a:alpha val="90000"/>
                </a:srgbClr>
              </a:gs>
              <a:gs pos="64000">
                <a:srgbClr val="080A20">
                  <a:alpha val="0"/>
                </a:srgbClr>
              </a:gs>
            </a:gsLst>
            <a:lin ang="13500000" scaled="1"/>
          </a:gradFill>
          <a:ln/>
        </p:spPr>
        <p:txBody>
          <a:bodyPr/>
          <a:p/>
        </p:txBody>
      </p:sp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762000" y="1524000"/>
            <a:ext cx="8667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225">
                <a:solidFill>
                  <a:srgbClr val="2AA7CF">
                    <a:alpha val="55000"/>
                  </a:srgbClr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1168" name=""/>
          <p:cNvSpPr/>
          <p:nvPr/>
        </p:nvSpPr>
        <p:spPr>
          <a:xfrm rot="0" flipH="0" flipV="0">
            <a:off x="1781175" y="2057400"/>
            <a:ext cx="533400" cy="38100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169" name="" descr="{&quot;isTemplate&quot;:true,&quot;type&quot;:&quot;text&quot;}"/>
          <p:cNvSpPr txBox="1"/>
          <p:nvPr/>
        </p:nvSpPr>
        <p:spPr>
          <a:xfrm rot="0" flipH="0" flipV="0">
            <a:off x="2466975" y="1981200"/>
            <a:ext cx="1495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225">
                <a:solidFill>
                  <a:srgbClr val="7FD3EC"/>
                </a:solidFill>
                <a:latin typeface="Inter"/>
                <a:ea typeface="Inter"/>
              </a:rPr>
              <a:t>CHAPTER ONE</a:t>
            </a:r>
            <a:endParaRPr/>
          </a:p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762000" y="2857500"/>
            <a:ext cx="10668000" cy="7810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650" b="1" spc="-75">
                <a:solidFill>
                  <a:srgbClr val="FFFFFF"/>
                </a:solidFill>
                <a:latin typeface="Inter"/>
                <a:ea typeface="Inter"/>
              </a:rPr>
              <a:t>没有账号直接下单</a:t>
            </a:r>
            <a:endParaRPr/>
          </a:p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762000" y="3810000"/>
            <a:ext cx="79057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B9C6E4"/>
                </a:solidFill>
                <a:latin typeface="Inter"/>
                <a:ea typeface="Inter"/>
              </a:rPr>
              <a:t>客户不注册也能把单下完。但下单之后，这笔订单去了哪、奖金给了谁，需要说清楚。</a:t>
            </a:r>
            <a:endParaRPr/>
          </a:p>
        </p:txBody>
      </p:sp>
      <p:sp>
        <p:nvSpPr>
          <p:cNvPr id="1172" name=""/>
          <p:cNvSpPr/>
          <p:nvPr/>
        </p:nvSpPr>
        <p:spPr>
          <a:xfrm rot="0" flipH="0" flipV="0">
            <a:off x="762000" y="4962525"/>
            <a:ext cx="14382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73" name=""/>
          <p:cNvSpPr/>
          <p:nvPr/>
        </p:nvSpPr>
        <p:spPr>
          <a:xfrm rot="0" flipH="0" flipV="0">
            <a:off x="952500" y="5124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174" name="" descr="{&quot;isTemplate&quot;:true,&quot;type&quot;:&quot;text&quot;}"/>
          <p:cNvSpPr txBox="1"/>
          <p:nvPr/>
        </p:nvSpPr>
        <p:spPr>
          <a:xfrm rot="0" flipH="0" flipV="0">
            <a:off x="1095375" y="50577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访客能走多远</a:t>
            </a:r>
            <a:endParaRPr/>
          </a:p>
        </p:txBody>
      </p:sp>
      <p:sp>
        <p:nvSpPr>
          <p:cNvPr id="1175" name=""/>
          <p:cNvSpPr/>
          <p:nvPr/>
        </p:nvSpPr>
        <p:spPr>
          <a:xfrm rot="0" flipH="0" flipV="0">
            <a:off x="2333625" y="4962525"/>
            <a:ext cx="15906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76" name=""/>
          <p:cNvSpPr/>
          <p:nvPr/>
        </p:nvSpPr>
        <p:spPr>
          <a:xfrm rot="0" flipH="0" flipV="0">
            <a:off x="2524125" y="5124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177" name="" descr="{&quot;isTemplate&quot;:true,&quot;type&quot;:&quot;text&quot;}"/>
          <p:cNvSpPr txBox="1"/>
          <p:nvPr/>
        </p:nvSpPr>
        <p:spPr>
          <a:xfrm rot="0" flipH="0" flipV="0">
            <a:off x="2667000" y="505777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哪些功能被隐藏</a:t>
            </a:r>
            <a:endParaRPr/>
          </a:p>
        </p:txBody>
      </p:sp>
      <p:sp>
        <p:nvSpPr>
          <p:cNvPr id="1178" name=""/>
          <p:cNvSpPr/>
          <p:nvPr/>
        </p:nvSpPr>
        <p:spPr>
          <a:xfrm rot="0" flipH="0" flipV="0">
            <a:off x="4057650" y="4962525"/>
            <a:ext cx="14382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79" name=""/>
          <p:cNvSpPr/>
          <p:nvPr/>
        </p:nvSpPr>
        <p:spPr>
          <a:xfrm rot="0" flipH="0" flipV="0">
            <a:off x="4248150" y="5124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180" name="" descr="{&quot;isTemplate&quot;:true,&quot;type&quot;:&quot;text&quot;}"/>
          <p:cNvSpPr txBox="1"/>
          <p:nvPr/>
        </p:nvSpPr>
        <p:spPr>
          <a:xfrm rot="0" flipH="0" flipV="0">
            <a:off x="4391025" y="50577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订单归属字段</a:t>
            </a:r>
            <a:endParaRPr/>
          </a:p>
        </p:txBody>
      </p:sp>
      <p:sp>
        <p:nvSpPr>
          <p:cNvPr id="1181" name=""/>
          <p:cNvSpPr/>
          <p:nvPr/>
        </p:nvSpPr>
        <p:spPr>
          <a:xfrm rot="0" flipH="0" flipV="0">
            <a:off x="5629275" y="4962525"/>
            <a:ext cx="17430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2" name=""/>
          <p:cNvSpPr/>
          <p:nvPr/>
        </p:nvSpPr>
        <p:spPr>
          <a:xfrm rot="0" flipH="0" flipV="0">
            <a:off x="5819775" y="5124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5962650" y="50577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下单后的三个真相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184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访客能走多远&lt;/Text&gt;&#10;        &lt;Text style={{ fontSize: 16, color: '#5C646A', lineHeight: 1.4, marginTop: 6 }}&gt;&#10;            全站只有一个登录守卫，而且不在下单链路上&#10;        &lt;/Text&gt;&#10;    &lt;/Box&gt;&#10;&#10;    {/* ===== B 区（上大图 + 下方卡片） ===== */}&#10;    &lt;Box style={{ height: 540, flexDirection: 'column', gap: 16 }}&gt;&#10;        {/* 上：守卫分布图 */}&#10;        &lt;Box style={{ height: 236, background: '#F4F6F8', borderRadius: 10, padding: 14, justifyContent: 'center' }}&gt;&#10;            &lt;svg width={1132} height={208} viewBox='0 0 1132 208'&gt;&#10;                {[&#10;                    { n: 'products.html', s: '商品列表' },&#10;                    { n: 'product-detail', s: '商品详情' },&#10;                    { n: 'cart.html', s: '购物车' },&#10;                    { n: 'checkout.html', s: '结算' },&#10;                    { n: 'shipping.html', s: '下单落地页' },&#10;                    { n: 'order.html', s: '订单详情' },&#10;                    { n: 'account.html', s: '我的账户', guard: true },&#10;                    { n: 'member-*.html', s: '代客下单系列' },&#10;                ].map(function (it, i) {&#10;                    var x = i * 142;&#10;                    return (&#10;                        &lt;g key={i}&gt;&#10;                            &lt;rect x={x} y={18} width={134} height={74} rx={8} fill={it.guard ? '#FFFFFF' : '#202259'} stroke={it.guard ? '#F287B7' : 'none'} strokeWidth={it.guard ? 2 : 0} /&gt;&#10;                            &lt;text x={x + 67} y={45} fill={it.guard ? '#202259' : '#FFFFFF'} fontSize={14} fontWeight='bold' textAnchor='middle' fontFamily='Inter, PingFang SC, sans-serif'&gt;{it.n}&lt;/text&gt;&#10;                            &lt;text x={x + 67} y={67} fill={it.guard ? '#B3528A' : '#7FD3EC'} fontSize={13} textAnchor='middle' fontFamily='Inter, PingFang SC, sans-serif'&gt;{it.s}&lt;/text&gt;&#10;                            &lt;text x={x + 67} y={82} fill={it.guard ? '#B3528A' : '#859EB3'} fontSize={12} textAnchor='middle' fontFamily='Inter, PingFang SC, sans-serif'&gt;{it.guard ? '有登录守卫' : '无守卫'}&lt;/text&gt;&#10;                        &lt;/g&gt;&#10;                    );&#10;                })}&#10;&#10;                {/* 标注 */}&#10;                &lt;line x1='0' y1='128' x2='1132' y2='128' stroke='#E3E6E8' strokeWidth='2' /&gt;&#10;                &lt;rect x='0' y='146' width='632' height='46' rx='6' fill='rgba(32,34,89,0.06)' /&gt;&#10;                &lt;text x='18' y='175' fill='#202259' fontSize={15} fontFamily='Inter, PingFang SC, sans-serif'&gt;下单链路六个页面全部无守卫 —— 访客可以一路走到 Place order&lt;/text&gt;&#10;                &lt;rect x='646' y='146' width='486' height='46' rx='6' fill='rgba(242,135,183,0.14)' /&gt;&#10;                &lt;text x='664' y='175' fill='#7A2F5C' fontSize={15} fontFamily='Inter, PingFang SC, sans-serif'&gt;只有账户页会强制跳登录页，并带 next 参数回跳&lt;/text&gt;&#10;            &lt;/svg&gt;&#10;        &lt;/Box&gt;&#10;&#10;        {/* 下：三张卡片 */}&#10;        &lt;Box style={{ flex: 1, flexDirection: 'row', gap: 16 }}&gt;&#10;            {[&#10;                { icon: 'route', c: '#202259', t: '访客能做完整个流程', d: '浏览商品、加购、改数量、进结算、选配送与自提点、选支付方式、勾同意、点 Place order —— 全站没有任何一步会把他踢到登录页。这是刻意的设计，代码注释里也写明了允许访客下单。' },&#10;                { icon: 'shield', c: '#F287B7', t: '唯一的守卫在账户页', d: '未登录访问我的账户页会被强制跳转到登录页，同时带上 next 参数指向账户页；登录成功之后自动跳回。除此之外全站没有第二处拦截，代客复购、自动维护这些页面同样没有守卫。' },&#10;                { icon: 'check-circle', c: '#2AA7CF', t: '下单按钮不校验登录态', d: 'Place order 的放行条件只有五项：两类同意勾选、配送信息完整、邮箱格式合法、支付方式自身校验通过、余额充足。其中邮箱是必填的，因为下单后要用它发送订单链接。' },&#10;            ].map(function (it, i) {&#10;                return (&#10;                    &lt;Box key={i} style={{ flex: 1, background: '#FFFFFF', border: '1px solid #E3E6E8', borderRadius: 10, padding: '16px 18px', flexDirection: 'column' }}&gt;&#10;                        &lt;Box style={{ flexDirection: 'row', alignItems: 'center', gap: 10, marginBottom: 10 }}&gt;&#10;                            &lt;FAIcon name={it.icon} style={{ fill: it.c, width: 22, height: 22 }} /&gt;&#10;                            &lt;Text style={{ fontSize: 20, fontWeight: 'bold', color: '#202259' }}&gt;{it.t}&lt;/Text&gt;&#10;                        &lt;/Box&gt;&#10;                        &lt;Text style={{ fontSize: 16, color: '#3F4A55', lineHeight: 1.55 }}&gt;{it.d}&lt;/Text&gt;&#10;                    &lt;/Box&gt;&#10;                );&#10;            })}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06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访客能走多远</a:t>
            </a:r>
            <a:endParaRPr/>
          </a:p>
        </p:txBody>
      </p:sp>
      <p:sp>
        <p:nvSpPr>
          <p:cNvPr id="1187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全站只有一个登录守卫，而且不在下单链路上</a:t>
            </a:r>
            <a:endParaRPr/>
          </a:p>
        </p:txBody>
      </p:sp>
      <p:sp>
        <p:nvSpPr>
          <p:cNvPr id="1188" name=""/>
          <p:cNvSpPr/>
          <p:nvPr/>
        </p:nvSpPr>
        <p:spPr>
          <a:xfrm rot="0" flipH="0" flipV="0">
            <a:off x="571500" y="1143000"/>
            <a:ext cx="11049000" cy="2247900"/>
          </a:xfrm>
          <a:prstGeom prst="roundRect">
            <a:avLst>
              <a:gd name="adj" fmla="val 4237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11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4850" y="1276350"/>
            <a:ext cx="10782300" cy="1981200"/>
          </a:xfrm>
          <a:prstGeom prst="rect">
            <a:avLst/>
          </a:prstGeom>
          <a:ln/>
        </p:spPr>
      </p:pic>
      <p:sp>
        <p:nvSpPr>
          <p:cNvPr id="1190" name=""/>
          <p:cNvSpPr/>
          <p:nvPr/>
        </p:nvSpPr>
        <p:spPr>
          <a:xfrm rot="0" flipH="0" flipV="0">
            <a:off x="571500" y="3543300"/>
            <a:ext cx="3581400" cy="27432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11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2950" y="3705225"/>
            <a:ext cx="209550" cy="209550"/>
          </a:xfrm>
          <a:prstGeom prst="rect">
            <a:avLst/>
          </a:prstGeom>
          <a:ln/>
        </p:spPr>
      </p:pic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1047750" y="3695700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访客能做完整个流程</a:t>
            </a:r>
            <a:endParaRPr/>
          </a:p>
        </p:txBody>
      </p:sp>
      <p:sp>
        <p:nvSpPr>
          <p:cNvPr id="1193" name="" descr="{&quot;isTemplate&quot;:true,&quot;type&quot;:&quot;text&quot;}"/>
          <p:cNvSpPr txBox="1"/>
          <p:nvPr/>
        </p:nvSpPr>
        <p:spPr>
          <a:xfrm rot="0" flipH="0" flipV="0">
            <a:off x="742950" y="4019550"/>
            <a:ext cx="3238500" cy="1419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浏览商品、加购、改数量、进结算、选配送与自提点、选支付方式、勾同意、点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Place order ——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全站没有任何一步会把他踢到登录页。这是刻意的设计，代码注释里也写明了允许访客下单。</a:t>
            </a:r>
            <a:endParaRPr/>
          </a:p>
        </p:txBody>
      </p:sp>
      <p:sp>
        <p:nvSpPr>
          <p:cNvPr id="1194" name=""/>
          <p:cNvSpPr/>
          <p:nvPr/>
        </p:nvSpPr>
        <p:spPr>
          <a:xfrm rot="0" flipH="0" flipV="0">
            <a:off x="4305300" y="3543300"/>
            <a:ext cx="3581400" cy="27432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11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476750" y="3705225"/>
            <a:ext cx="209550" cy="209550"/>
          </a:xfrm>
          <a:prstGeom prst="rect">
            <a:avLst/>
          </a:prstGeom>
          <a:ln/>
        </p:spPr>
      </p:pic>
      <p:sp>
        <p:nvSpPr>
          <p:cNvPr id="1196" name="" descr="{&quot;isTemplate&quot;:true,&quot;type&quot;:&quot;text&quot;}"/>
          <p:cNvSpPr txBox="1"/>
          <p:nvPr/>
        </p:nvSpPr>
        <p:spPr>
          <a:xfrm rot="0" flipH="0" flipV="0">
            <a:off x="4781550" y="3695700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唯一的守卫在账户页</a:t>
            </a:r>
            <a:endParaRPr/>
          </a:p>
        </p:txBody>
      </p:sp>
      <p:sp>
        <p:nvSpPr>
          <p:cNvPr id="1197" name="" descr="{&quot;isTemplate&quot;:true,&quot;type&quot;:&quot;text&quot;}"/>
          <p:cNvSpPr txBox="1"/>
          <p:nvPr/>
        </p:nvSpPr>
        <p:spPr>
          <a:xfrm rot="0" flipH="0" flipV="0">
            <a:off x="4476750" y="4019550"/>
            <a:ext cx="32385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未登录访问我的账户页会被强制跳转到登录页，同时带上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next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参数指向账户页；登录成功之后自动跳回。除此之外全站没有第二处拦截，代客复购、自动维护这些页面同样没有守卫。</a:t>
            </a:r>
            <a:endParaRPr/>
          </a:p>
        </p:txBody>
      </p:sp>
      <p:sp>
        <p:nvSpPr>
          <p:cNvPr id="1198" name=""/>
          <p:cNvSpPr/>
          <p:nvPr/>
        </p:nvSpPr>
        <p:spPr>
          <a:xfrm rot="0" flipH="0" flipV="0">
            <a:off x="8039100" y="3543300"/>
            <a:ext cx="3581400" cy="27432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1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210550" y="3705225"/>
            <a:ext cx="209550" cy="209550"/>
          </a:xfrm>
          <a:prstGeom prst="rect">
            <a:avLst/>
          </a:prstGeom>
          <a:ln/>
        </p:spPr>
      </p:pic>
      <p:sp>
        <p:nvSpPr>
          <p:cNvPr id="1200" name="" descr="{&quot;isTemplate&quot;:true,&quot;type&quot;:&quot;text&quot;}"/>
          <p:cNvSpPr txBox="1"/>
          <p:nvPr/>
        </p:nvSpPr>
        <p:spPr>
          <a:xfrm rot="0" flipH="0" flipV="0">
            <a:off x="8515350" y="369570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下单按钮不校验登录态</a:t>
            </a:r>
            <a:endParaRPr/>
          </a:p>
        </p:txBody>
      </p:sp>
      <p:sp>
        <p:nvSpPr>
          <p:cNvPr id="1201" name="" descr="{&quot;isTemplate&quot;:true,&quot;type&quot;:&quot;text&quot;}"/>
          <p:cNvSpPr txBox="1"/>
          <p:nvPr/>
        </p:nvSpPr>
        <p:spPr>
          <a:xfrm rot="0" flipH="0" flipV="0">
            <a:off x="8210550" y="4019550"/>
            <a:ext cx="32385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Place order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的放行条件只有五项：两类同意勾选、配送信息完整、邮箱格式合法、支付方式自身校验通过、余额充足。其中邮箱是必填的，因为下单后要用它发送订单链接。</a:t>
            </a:r>
            <a:endParaRPr/>
          </a:p>
        </p:txBody>
      </p:sp>
      <p:sp>
        <p:nvSpPr>
          <p:cNvPr id="1202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1204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06 / 31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05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访客态下看不到什么&lt;/Text&gt;&#10;        &lt;Text style={{ fontSize: 16, color: '#5C646A', lineHeight: 1.4, marginTop: 6 }}&gt;&#10;            四处被隐藏或禁用，全部集中在&quot;与账户有关&quot;的功能上&#10;        &lt;/Text&gt;&#10;    &lt;/Box&gt;&#10;&#10;    {/* ===== B 区（左大图 + 右侧文字） ===== */}&#10;    &lt;Box style={{ height: 540, flexDirection: 'row', gap: 24 }}&gt;&#10;        {/* 左：四处清单 */}&#10;        &lt;Box style={{ width: 720, flexDirection: 'column', gap: 13 }}&gt;&#10;            {[&#10;                { n: '1', t: '已保存地址选择器整块隐藏', d: '连带里面的&quot;保存此地址到我的账户&quot;勾选框一起消失，因为两者在同一个容器里。', tag: 'display: none' },&#10;                { n: '2', t: '结算摘要的 BV rewards 整行不渲染', d: '访客看不到&quot;本单可得多少 BV&quot;这一行。这是三条路径在结算页最直观的差别。', tag: '条件渲染' },&#10;                { n: '3', t: 'Account Balance 付款方式被禁用', d: '余额取值依赖登录态，访客取到 0，该选项的 radio 直接置灰，默认选中逻辑也会跳过它。注意卡片和金额文案仍在，只是不可选。', tag: 'radio disabled' },&#10;                { n: '4', t: '下单不会把地址回写账户', d: '&quot;保存地址&quot;这个动作对访客直接返回，不会写入地址簿。所以访客下次下单还要重填一遍。', tag: '静默 return' },&#10;            ].map(function (it, i) {&#10;                return (&#10;                    &lt;Box key={i} style={{ flex: 1, flexDirection: 'row', gap: 16, alignItems: 'center', background: '#F4F6F8', borderRadius: 10, padding: '0 18px' }}&gt;&#10;                        &lt;Box style={{ width: 40, height: 40, borderRadius: 20, background: '#202259', justifyContent: 'center', alignItems: 'center' }}&gt;&#10;                            &lt;Text style={{ fontSize: 18, fontWeight: 'bold', color: '#FFFFFF' }}&gt;{it.n}&lt;/Text&gt;&#10;                        &lt;/Box&gt;&#10;                        &lt;Box style={{ flex: 1, flexDirection: 'column' }}&gt;&#10;                            &lt;Text style={{ fontSize: 19, fontWeight: 'bold', color: '#202259', lineHeight: 1.3 }}&gt;{it.t}&lt;/Text&gt;&#10;                            &lt;Text style={{ fontSize: 16, color: '#3F4A55', lineHeight: 1.45, marginTop: 4 }}&gt;{it.d}&lt;/Text&gt;&#10;                        &lt;/Box&gt;&#10;                        &lt;Box style={{ padding: '3px 10px', background: '#FFFFFF', border: '1px solid #E3E6E8', borderRadius: 4 }}&gt;&#10;                            &lt;Text style={{ fontSize: 13, color: '#5C646A', fontFamily: 'Menlo, ui-monospace, monospace' }}&gt;{it.tag}&lt;/Text&gt;&#10;                        &lt;/Box&gt;&#10;                    &lt;/Box&gt;&#10;                );&#10;            })}&#10;        &lt;/Box&gt;&#10;&#10;        {/* 右：反向不一致 + 提示 */}&#10;        &lt;Box style={{ flex: 1, flexDirection: 'column', gap: 14 }}&gt;&#10;            &lt;Box style={{ background: 'rgba(242,135,183,0.14)', borderLeft: '4px solid #F287B7', borderRadius: 8, padding: '18px 18px', flex: 1 }}&gt;&#10;                &lt;Box style={{ flexDirection: 'row', alignItems: 'center', gap: 10, marginBottom: 10 }}&gt;&#10;                    &lt;FAIcon name='exclamation-circle' style={{ fill: '#B3528A', width: 20, height: 20 }} /&gt;&#10;                    &lt;Text style={{ fontSize: 19, fontWeight: 'bold', color: '#7A2F5C' }}&gt;一处反向不一致&lt;/Text&gt;&#10;                &lt;/Box&gt;&#10;                &lt;Text style={{ fontSize: 16, color: '#4A3040', lineHeight: 1.6 }}&gt;&#10;                    商品详情页的&quot;Earn N BV with this purchase&quot;徽标是**无条件显示**的，代码注释里甚至写着&quot;反正下单要登录&quot;，这跟&quot;访客可下单&quot;的实际行为对不上。&#10;                &lt;/Text&gt;&#10;                &lt;Text style={{ fontSize: 16, color: '#4A3040', lineHeight: 1.6, marginTop: 10 }}&gt;&#10;                    更麻烦的是口径：详情页是拿价格现算的，商品列表页读的是商品数据里的字段。同一件商品，在两个页面可能显示不同的 BV 数。&#10;                &lt;/Text&gt;&#10;            &lt;/Box&gt;&#10;&#10;            &lt;Box style={{ background: '#202259', borderRadius: 8, padding: '16px 18px', flexDirection: 'column' }}&gt;&#10;                &lt;Text style={{ fontSize: 17, color: '#CFE9F4', lineHeight: 1.55 }}&gt;&#10;                    上面四处都在展示层，不影响访客把单下完。真正需要讲清的是下一件事 —— 这笔订单算谁的。&#10;                &lt;/Text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07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07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访客态下看不到什么</a:t>
            </a:r>
            <a:endParaRPr/>
          </a:p>
        </p:txBody>
      </p:sp>
      <p:sp>
        <p:nvSpPr>
          <p:cNvPr id="1208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四处被隐藏或禁用，全部集中在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与账户有关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的功能上</a:t>
            </a:r>
            <a:endParaRPr/>
          </a:p>
        </p:txBody>
      </p:sp>
      <p:sp>
        <p:nvSpPr>
          <p:cNvPr id="1209" name=""/>
          <p:cNvSpPr/>
          <p:nvPr/>
        </p:nvSpPr>
        <p:spPr>
          <a:xfrm rot="0" flipH="0" flipV="0">
            <a:off x="571500" y="1143000"/>
            <a:ext cx="6858000" cy="1057275"/>
          </a:xfrm>
          <a:prstGeom prst="roundRect">
            <a:avLst>
              <a:gd name="adj" fmla="val 900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210" name=""/>
          <p:cNvSpPr/>
          <p:nvPr/>
        </p:nvSpPr>
        <p:spPr>
          <a:xfrm rot="0" flipH="0" flipV="0">
            <a:off x="742950" y="14859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211" name="" descr="{&quot;isTemplate&quot;:true,&quot;type&quot;:&quot;text&quot;}"/>
          <p:cNvSpPr txBox="1"/>
          <p:nvPr/>
        </p:nvSpPr>
        <p:spPr>
          <a:xfrm rot="0" flipH="0" flipV="0">
            <a:off x="895350" y="1571625"/>
            <a:ext cx="76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1212" name="" descr="{&quot;isTemplate&quot;:true,&quot;type&quot;:&quot;text&quot;}"/>
          <p:cNvSpPr txBox="1"/>
          <p:nvPr/>
        </p:nvSpPr>
        <p:spPr>
          <a:xfrm rot="0" flipH="0" flipV="0">
            <a:off x="1276350" y="1381125"/>
            <a:ext cx="46672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已保存地址选择器整块隐藏</a:t>
            </a:r>
            <a:endParaRPr/>
          </a:p>
        </p:txBody>
      </p:sp>
      <p:sp>
        <p:nvSpPr>
          <p:cNvPr id="1213" name="" descr="{&quot;isTemplate&quot;:true,&quot;type&quot;:&quot;text&quot;}"/>
          <p:cNvSpPr txBox="1"/>
          <p:nvPr/>
        </p:nvSpPr>
        <p:spPr>
          <a:xfrm rot="0" flipH="0" flipV="0">
            <a:off x="1276350" y="1704975"/>
            <a:ext cx="4667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连带里面的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保存此地址到我的账户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勾选框一起消失，因为两者在同一个容器里。</a:t>
            </a:r>
            <a:endParaRPr/>
          </a:p>
        </p:txBody>
      </p:sp>
      <p:sp>
        <p:nvSpPr>
          <p:cNvPr id="1214" name=""/>
          <p:cNvSpPr/>
          <p:nvPr/>
        </p:nvSpPr>
        <p:spPr>
          <a:xfrm rot="0" flipH="0" flipV="0">
            <a:off x="6096000" y="1571625"/>
            <a:ext cx="116205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1215" name="" descr="{&quot;isTemplate&quot;:true,&quot;type&quot;:&quot;text&quot;}"/>
          <p:cNvSpPr txBox="1"/>
          <p:nvPr/>
        </p:nvSpPr>
        <p:spPr>
          <a:xfrm rot="0" flipH="0" flipV="0">
            <a:off x="6191250" y="1600200"/>
            <a:ext cx="971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C646A"/>
                </a:solidFill>
                <a:latin typeface="Menlo"/>
                <a:ea typeface="Menlo"/>
              </a:rPr>
              <a:t>display: none</a:t>
            </a:r>
            <a:endParaRPr/>
          </a:p>
        </p:txBody>
      </p:sp>
      <p:sp>
        <p:nvSpPr>
          <p:cNvPr id="1216" name=""/>
          <p:cNvSpPr/>
          <p:nvPr/>
        </p:nvSpPr>
        <p:spPr>
          <a:xfrm rot="0" flipH="0" flipV="0">
            <a:off x="571500" y="2324100"/>
            <a:ext cx="6858000" cy="1066800"/>
          </a:xfrm>
          <a:prstGeom prst="roundRect">
            <a:avLst>
              <a:gd name="adj" fmla="val 892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217" name=""/>
          <p:cNvSpPr/>
          <p:nvPr/>
        </p:nvSpPr>
        <p:spPr>
          <a:xfrm rot="0" flipH="0" flipV="0">
            <a:off x="742950" y="26670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218" name="" descr="{&quot;isTemplate&quot;:true,&quot;type&quot;:&quot;text&quot;}"/>
          <p:cNvSpPr txBox="1"/>
          <p:nvPr/>
        </p:nvSpPr>
        <p:spPr>
          <a:xfrm rot="0" flipH="0" flipV="0">
            <a:off x="885825" y="275272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1276350" y="2562225"/>
            <a:ext cx="51435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结算摘要的</a:t>
            </a: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 BV rewards </a:t>
            </a: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整行不渲染</a:t>
            </a:r>
            <a:endParaRPr/>
          </a:p>
        </p:txBody>
      </p:sp>
      <p:sp>
        <p:nvSpPr>
          <p:cNvPr id="1220" name="" descr="{&quot;isTemplate&quot;:true,&quot;type&quot;:&quot;text&quot;}"/>
          <p:cNvSpPr txBox="1"/>
          <p:nvPr/>
        </p:nvSpPr>
        <p:spPr>
          <a:xfrm rot="0" flipH="0" flipV="0">
            <a:off x="1276350" y="2886075"/>
            <a:ext cx="5143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访客看不到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本单可得多少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这一行。这是三条路径在结算页最直观的差别。</a:t>
            </a:r>
            <a:endParaRPr/>
          </a:p>
        </p:txBody>
      </p:sp>
      <p:sp>
        <p:nvSpPr>
          <p:cNvPr id="1221" name=""/>
          <p:cNvSpPr/>
          <p:nvPr/>
        </p:nvSpPr>
        <p:spPr>
          <a:xfrm rot="0" flipH="0" flipV="0">
            <a:off x="6572250" y="2752725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1222" name="" descr="{&quot;isTemplate&quot;:true,&quot;type&quot;:&quot;text&quot;}"/>
          <p:cNvSpPr txBox="1"/>
          <p:nvPr/>
        </p:nvSpPr>
        <p:spPr>
          <a:xfrm rot="0" flipH="0" flipV="0">
            <a:off x="6667500" y="27813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6A"/>
                </a:solidFill>
                <a:latin typeface="Menlo"/>
                <a:ea typeface="Menlo"/>
              </a:rPr>
              <a:t>条件渲染</a:t>
            </a:r>
            <a:endParaRPr/>
          </a:p>
        </p:txBody>
      </p:sp>
      <p:sp>
        <p:nvSpPr>
          <p:cNvPr id="1223" name=""/>
          <p:cNvSpPr/>
          <p:nvPr/>
        </p:nvSpPr>
        <p:spPr>
          <a:xfrm rot="0" flipH="0" flipV="0">
            <a:off x="571500" y="3514725"/>
            <a:ext cx="6858000" cy="1323975"/>
          </a:xfrm>
          <a:prstGeom prst="roundRect">
            <a:avLst>
              <a:gd name="adj" fmla="val 7194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224" name=""/>
          <p:cNvSpPr/>
          <p:nvPr/>
        </p:nvSpPr>
        <p:spPr>
          <a:xfrm rot="0" flipH="0" flipV="0">
            <a:off x="742950" y="39909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225" name="" descr="{&quot;isTemplate&quot;:true,&quot;type&quot;:&quot;text&quot;}"/>
          <p:cNvSpPr txBox="1"/>
          <p:nvPr/>
        </p:nvSpPr>
        <p:spPr>
          <a:xfrm rot="0" flipH="0" flipV="0">
            <a:off x="885825" y="4076700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1226" name="" descr="{&quot;isTemplate&quot;:true,&quot;type&quot;:&quot;text&quot;}"/>
          <p:cNvSpPr txBox="1"/>
          <p:nvPr/>
        </p:nvSpPr>
        <p:spPr>
          <a:xfrm rot="0" flipH="0" flipV="0">
            <a:off x="1276350" y="3752850"/>
            <a:ext cx="459105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Account Balance </a:t>
            </a: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付款方式被禁用</a:t>
            </a:r>
            <a:endParaRPr/>
          </a:p>
        </p:txBody>
      </p:sp>
      <p:sp>
        <p:nvSpPr>
          <p:cNvPr id="1227" name="" descr="{&quot;isTemplate&quot;:true,&quot;type&quot;:&quot;text&quot;}"/>
          <p:cNvSpPr txBox="1"/>
          <p:nvPr/>
        </p:nvSpPr>
        <p:spPr>
          <a:xfrm rot="0" flipH="0" flipV="0">
            <a:off x="1276350" y="4076700"/>
            <a:ext cx="45910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余额取值依赖登录态，访客取到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0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，该选项的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radio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直接置灰，默认选中逻辑也会跳过它。注意卡片和金额文案仍在，只是不可选。</a:t>
            </a:r>
            <a:endParaRPr/>
          </a:p>
        </p:txBody>
      </p:sp>
      <p:sp>
        <p:nvSpPr>
          <p:cNvPr id="1228" name=""/>
          <p:cNvSpPr/>
          <p:nvPr/>
        </p:nvSpPr>
        <p:spPr>
          <a:xfrm rot="0" flipH="0" flipV="0">
            <a:off x="6019800" y="4076700"/>
            <a:ext cx="123825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6115050" y="4105275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C646A"/>
                </a:solidFill>
                <a:latin typeface="Menlo"/>
                <a:ea typeface="Menlo"/>
              </a:rPr>
              <a:t>radio disabled</a:t>
            </a:r>
            <a:endParaRPr/>
          </a:p>
        </p:txBody>
      </p:sp>
      <p:sp>
        <p:nvSpPr>
          <p:cNvPr id="1230" name=""/>
          <p:cNvSpPr/>
          <p:nvPr/>
        </p:nvSpPr>
        <p:spPr>
          <a:xfrm rot="0" flipH="0" flipV="0">
            <a:off x="571500" y="4962525"/>
            <a:ext cx="6858000" cy="1323975"/>
          </a:xfrm>
          <a:prstGeom prst="roundRect">
            <a:avLst>
              <a:gd name="adj" fmla="val 7194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231" name=""/>
          <p:cNvSpPr/>
          <p:nvPr/>
        </p:nvSpPr>
        <p:spPr>
          <a:xfrm rot="0" flipH="0" flipV="0">
            <a:off x="742950" y="54387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232" name="" descr="{&quot;isTemplate&quot;:true,&quot;type&quot;:&quot;text&quot;}"/>
          <p:cNvSpPr txBox="1"/>
          <p:nvPr/>
        </p:nvSpPr>
        <p:spPr>
          <a:xfrm rot="0" flipH="0" flipV="0">
            <a:off x="885825" y="5524500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Inter"/>
                <a:ea typeface="Inter"/>
              </a:rPr>
              <a:t>4</a:t>
            </a:r>
            <a:endParaRPr/>
          </a:p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1276350" y="5200650"/>
            <a:ext cx="4867275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下单不会把地址回写账户</a:t>
            </a:r>
            <a:endParaRPr/>
          </a:p>
        </p:txBody>
      </p:sp>
      <p:sp>
        <p:nvSpPr>
          <p:cNvPr id="1234" name="" descr="{&quot;isTemplate&quot;:true,&quot;type&quot;:&quot;text&quot;}"/>
          <p:cNvSpPr txBox="1"/>
          <p:nvPr/>
        </p:nvSpPr>
        <p:spPr>
          <a:xfrm rot="0" flipH="0" flipV="0">
            <a:off x="1276350" y="5524500"/>
            <a:ext cx="48672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保存地址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这个动作对访客直接返回，不会写入地址簿。所以访客下次下单还要重填一遍。</a:t>
            </a:r>
            <a:endParaRPr/>
          </a:p>
        </p:txBody>
      </p:sp>
      <p:sp>
        <p:nvSpPr>
          <p:cNvPr id="1235" name=""/>
          <p:cNvSpPr/>
          <p:nvPr/>
        </p:nvSpPr>
        <p:spPr>
          <a:xfrm rot="0" flipH="0" flipV="0">
            <a:off x="6296025" y="5524500"/>
            <a:ext cx="962025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1236" name="" descr="{&quot;isTemplate&quot;:true,&quot;type&quot;:&quot;text&quot;}"/>
          <p:cNvSpPr txBox="1"/>
          <p:nvPr/>
        </p:nvSpPr>
        <p:spPr>
          <a:xfrm rot="0" flipH="0" flipV="0">
            <a:off x="6391275" y="5553075"/>
            <a:ext cx="771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6A"/>
                </a:solidFill>
                <a:latin typeface="Menlo"/>
                <a:ea typeface="Menlo"/>
              </a:rPr>
              <a:t>静默</a:t>
            </a:r>
            <a:r>
              <a:rPr lang="en-US" sz="975">
                <a:solidFill>
                  <a:srgbClr val="5C646A"/>
                </a:solidFill>
                <a:latin typeface="Menlo"/>
                <a:ea typeface="Menlo"/>
              </a:rPr>
              <a:t> return</a:t>
            </a:r>
            <a:endParaRPr/>
          </a:p>
        </p:txBody>
      </p:sp>
      <p:sp>
        <p:nvSpPr>
          <p:cNvPr id="1237" name=""/>
          <p:cNvSpPr/>
          <p:nvPr/>
        </p:nvSpPr>
        <p:spPr>
          <a:xfrm rot="0" flipH="0" flipV="0">
            <a:off x="7696200" y="1143000"/>
            <a:ext cx="3962400" cy="4095750"/>
          </a:xfrm>
          <a:prstGeom prst="roundRect">
            <a:avLst>
              <a:gd name="adj" fmla="val 1923"/>
            </a:avLst>
          </a:prstGeom>
          <a:solidFill>
            <a:srgbClr val="F287B7">
              <a:alpha val="14000"/>
            </a:srgbClr>
          </a:solidFill>
          <a:ln/>
        </p:spPr>
        <p:txBody>
          <a:bodyPr/>
          <a:p/>
        </p:txBody>
      </p:sp>
      <p:sp>
        <p:nvSpPr>
          <p:cNvPr id="1238" name=""/>
          <p:cNvSpPr/>
          <p:nvPr/>
        </p:nvSpPr>
        <p:spPr>
          <a:xfrm rot="0" flipH="0" flipV="0">
            <a:off x="7696200" y="1143000"/>
            <a:ext cx="3962400" cy="4095750"/>
          </a:xfrm>
          <a:custGeom>
            <a:pathLst>
              <a:path w="416" h="43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26"/>
                </a:lnTo>
                <a:cubicBezTo>
                  <a:pt x="4" y="428"/>
                  <a:pt x="5" y="430"/>
                  <a:pt x="7" y="430"/>
                </a:cubicBezTo>
                <a:cubicBezTo>
                  <a:pt x="3" y="430"/>
                  <a:pt x="0" y="426"/>
                  <a:pt x="0" y="42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pic>
        <p:nvPicPr>
          <p:cNvPr id="12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67650" y="1333500"/>
            <a:ext cx="190500" cy="190500"/>
          </a:xfrm>
          <a:prstGeom prst="rect">
            <a:avLst/>
          </a:prstGeom>
          <a:ln/>
        </p:spPr>
      </p:pic>
      <p:sp>
        <p:nvSpPr>
          <p:cNvPr id="1240" name="" descr="{&quot;isTemplate&quot;:true,&quot;type&quot;:&quot;text&quot;}"/>
          <p:cNvSpPr txBox="1"/>
          <p:nvPr/>
        </p:nvSpPr>
        <p:spPr>
          <a:xfrm rot="0" flipH="0" flipV="0">
            <a:off x="8153400" y="1314450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7A2F5C"/>
                </a:solidFill>
                <a:latin typeface="Inter"/>
                <a:ea typeface="Inter"/>
              </a:rPr>
              <a:t>一处反向不一致</a:t>
            </a:r>
            <a:endParaRPr/>
          </a:p>
        </p:txBody>
      </p:sp>
      <p:sp>
        <p:nvSpPr>
          <p:cNvPr id="1241" name="" descr="{&quot;isTemplate&quot;:true,&quot;type&quot;:&quot;text&quot;}"/>
          <p:cNvSpPr txBox="1"/>
          <p:nvPr/>
        </p:nvSpPr>
        <p:spPr>
          <a:xfrm rot="0" flipH="0" flipV="0">
            <a:off x="7867650" y="1628775"/>
            <a:ext cx="35814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商品详情页的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"Earn N BV with this purchase"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徽标是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**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无条件显示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**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的，代码注释里甚至写着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反正下单要登录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，这跟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访客可下单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的实际行为对不上。</a:t>
            </a:r>
            <a:endParaRPr/>
          </a:p>
        </p:txBody>
      </p:sp>
      <p:sp>
        <p:nvSpPr>
          <p:cNvPr id="1242" name="" descr="{&quot;isTemplate&quot;:true,&quot;type&quot;:&quot;text&quot;}"/>
          <p:cNvSpPr txBox="1"/>
          <p:nvPr/>
        </p:nvSpPr>
        <p:spPr>
          <a:xfrm rot="0" flipH="0" flipV="0">
            <a:off x="7867650" y="2609850"/>
            <a:ext cx="35814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更麻烦的是口径：详情页是拿价格现算的，商品列表页读的是商品数据里的字段。同一件商品，在两个页面可能显示不同的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数。</a:t>
            </a:r>
            <a:endParaRPr/>
          </a:p>
        </p:txBody>
      </p:sp>
      <p:sp>
        <p:nvSpPr>
          <p:cNvPr id="1243" name=""/>
          <p:cNvSpPr/>
          <p:nvPr/>
        </p:nvSpPr>
        <p:spPr>
          <a:xfrm rot="0" flipH="0" flipV="0">
            <a:off x="7658100" y="5372100"/>
            <a:ext cx="3962400" cy="914400"/>
          </a:xfrm>
          <a:prstGeom prst="roundRect">
            <a:avLst>
              <a:gd name="adj" fmla="val 8333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244" name="" descr="{&quot;isTemplate&quot;:true,&quot;type&quot;:&quot;text&quot;}"/>
          <p:cNvSpPr txBox="1"/>
          <p:nvPr/>
        </p:nvSpPr>
        <p:spPr>
          <a:xfrm rot="0" flipH="0" flipV="0">
            <a:off x="7829550" y="5524500"/>
            <a:ext cx="3619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CFE9F4"/>
                </a:solidFill>
                <a:latin typeface="Inter"/>
                <a:ea typeface="Inter"/>
              </a:rPr>
              <a:t>上面四处都在展示层，不影响访客把单下完。真正需要讲清的是下一件事</a:t>
            </a:r>
            <a:r>
              <a:rPr lang="en-US" sz="1275">
                <a:solidFill>
                  <a:srgbClr val="CFE9F4"/>
                </a:solidFill>
                <a:latin typeface="Inter"/>
                <a:ea typeface="Inter"/>
              </a:rPr>
              <a:t> —— </a:t>
            </a:r>
            <a:r>
              <a:rPr lang="zh-CN" sz="1275">
                <a:solidFill>
                  <a:srgbClr val="CFE9F4"/>
                </a:solidFill>
                <a:latin typeface="Inter"/>
                <a:ea typeface="Inter"/>
              </a:rPr>
              <a:t>这笔订单算谁的。</a:t>
            </a:r>
            <a:endParaRPr/>
          </a:p>
        </p:txBody>
      </p:sp>
      <p:sp>
        <p:nvSpPr>
          <p:cNvPr id="1245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246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1247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07 / 31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48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访客订单归谁&lt;/Text&gt;&#10;        &lt;Text style={{ fontSize: 16, color: '#5C646A', lineHeight: 1.4, marginTop: 6 }}&gt;&#10;            这是整场讲解里最需要说清的一页：订单不归下单人，奖金也不归下单人&#10;        &lt;/Text&gt;&#10;    &lt;/Box&gt;&#10;&#10;    {/* ===== B 区（巨型数字 + 洞察） ===== */}&#10;    &lt;Box style={{ height: 540, flexDirection: 'column', gap: 20 }}&gt;&#10;        {/* 巨型双数字 */}&#10;        &lt;Box style={{ height: 232, flexDirection: 'row', gap: 20 }}&gt;&#10;            &lt;Box style={{ flex: 1, background: '#202259', borderRadius: 10, padding: '22px 26px', flexDirection: 'column' }}&gt;&#10;                &lt;Text style={{ fontSize: 15, color: '#7FD3EC', letterSpacing: 2, fontWeight: 'bold' }}&gt;ORDER OWNERSHIP&lt;/Text&gt;&#10;                &lt;Box style={{ flexDirection: 'row', alignItems: 'baseline', gap: 16, marginTop: 10 }}&gt;&#10;                    &lt;Text style={{ fontSize: 88, fontWeight: 'bold', color: '#FFFFFF', lineHeight: 1, letterSpacing: -3, fontFamily: 'Menlo, ui-monospace, monospace' }}&gt;null&lt;/Text&gt;&#10;                    &lt;Text style={{ fontSize: 20, color: '#7FD3EC', fontWeight: 'bold' }}&gt;两个归属字段&lt;/Text&gt;&#10;                &lt;/Box&gt;&#10;                &lt;Text style={{ fontSize: 16, color: '#B9C6E4', lineHeight: 1.55, marginTop: 'auto' }}&gt;&#10;                    构造订单时，权益归属人和实际操作人这两个字段都取不到登录用户，最终写进去的就是空值。订单里的姓名倒是有的，但它存的是收货人姓名，不是账户名。&#10;                &lt;/Text&gt;&#10;            &lt;/Box&gt;&#10;&#10;            &lt;Box style={{ width: 356, background: 'rgba(242,135,183,0.14)', border: '2px solid #F287B7', borderRadius: 10, padding: '22px 24px', flexDirection: 'column' }}&gt;&#10;                &lt;Text style={{ fontSize: 15, color: '#B3528A', letterSpacing: 2, fontWeight: 'bold' }}&gt;BV FLOW&lt;/Text&gt;&#10;                &lt;Box style={{ flexDirection: 'row', alignItems: 'baseline', gap: 10, marginTop: 10 }}&gt;&#10;                    &lt;Text style={{ fontSize: 88, fontWeight: 'bold', color: '#F287B7', lineHeight: 1, letterSpacing: -4 }}&gt;100%&lt;/Text&gt;&#10;                &lt;/Box&gt;&#10;                &lt;Text style={{ fontSize: 16, color: '#4A3040', lineHeight: 1.55, marginTop: 'auto' }}&gt;&#10;                    这笔单产生的 BV 全额记到分享链接的持有者名下。下单访客自己留下 &lt;span style={{ fontWeight: 'bold', color: '#B3528A' }}&gt;0 BV&lt;/span&gt;。&#10;                &lt;/Text&gt;&#10;            &lt;/Box&gt;&#10;        &lt;/Box&gt;&#10;&#10;        {/* 判断逻辑 + 缺陷 */}&#10;        &lt;Box style={{ flex: 1, flexDirection: 'row', gap: 18 }}&gt;&#10;            &lt;Box style={{ flex: 1, background: '#F4F6F8', borderRadius: 10, padding: '16px 18px', flexDirection: 'column' }}&gt;&#10;                &lt;Text style={{ fontSize: 19, fontWeight: 'bold', color: '#202259', marginBottom: 10 }}&gt;&#10;                    记账要同时满足三条&#10;                &lt;/Text&gt;&#10;                &lt;Box style={{ flex: 1, flexDirection: 'column', gap: 8 }}&gt;&#10;                    {[&#10;                        { n: '1', d: '存在推荐关系 —— 必须曾经点过带推荐参数的链接，全站只记第一次捕获到的那个人。' },&#10;                        { n: '2', d: '推荐人不等于下单人的会员 ID —— 访客场景下这一项恒成立。' },&#10;                        { n: '3', d: '订单产生了 BV —— 金额每满 1,000 奈拉记 1 BV，向下取整。' },&#10;                    ].map(function (it, i) {&#10;                        return (&#10;                            &lt;Box key={i} style={{ flex: 1, flexDirection: 'row', gap: 12, alignItems: 'center', background: '#FFFFFF', borderRadius: 8, padding: '0 14px' }}&gt;&#10;                                &lt;Text style={{ fontSize: 16, fontWeight: 'bold', color: '#2AA7CF', fontFamily: 'Menlo, ui-monospace, monospace', width: 16 }}&gt;{it.n}&lt;/Text&gt;&#10;                                &lt;Text style={{ fontSize: 16, color: '#3F4A55', lineHeight: 1.4, flex: 1 }}&gt;{it.d}&lt;/Text&gt;&#10;                            &lt;/Box&gt;&#10;                        );&#10;                    })}&#10;                &lt;/Box&gt;&#10;            &lt;/Box&gt;&#10;&#10;            &lt;Box style={{ width: 396, background: '#FFFFFF', border: '1px solid #E3E6E8', borderLeft: '4px solid #F287B7', borderRadius: 10, padding: '16px 18px', flexDirection: 'column' }}&gt;&#10;                &lt;Box style={{ flexDirection: 'row', alignItems: 'center', gap: 10, marginBottom: 10 }}&gt;&#10;                    &lt;FAIcon name='bug' style={{ fill: '#B3528A', width: 20, height: 20 }} /&gt;&#10;                    &lt;Text style={{ fontSize: 19, fontWeight: 'bold', color: '#202259' }}&gt;一个已知缺陷&lt;/Text&gt;&#10;                &lt;/Box&gt;&#10;                &lt;Text style={{ fontSize: 16, color: '#3F4A55', lineHeight: 1.55, flex: 1 }}&gt;&#10;                    订单上的推荐人字段是在写库**之后**才赋值的，所以落库的订单里没有这个字段。后果是：下单落地页那行&quot;BV credited to …&quot;不会显示出来。&#10;                &lt;/Text&gt;&#10;                &lt;Text style={{ fontSize: 15, color: '#5C646A', lineHeight: 1.5, marginTop: 8 }}&gt;&#10;                    奖金台账本身是对的 —— 只是订单上少了这条溯源信息。&#10;                &lt;/Text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08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50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访客订单归谁</a:t>
            </a:r>
            <a:endParaRPr/>
          </a:p>
        </p:txBody>
      </p:sp>
      <p:sp>
        <p:nvSpPr>
          <p:cNvPr id="1251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这是整场讲解里最需要说清的一页：订单不归下单人，奖金也不归下单人</a:t>
            </a:r>
            <a:endParaRPr/>
          </a:p>
        </p:txBody>
      </p:sp>
      <p:sp>
        <p:nvSpPr>
          <p:cNvPr id="1252" name=""/>
          <p:cNvSpPr/>
          <p:nvPr/>
        </p:nvSpPr>
        <p:spPr>
          <a:xfrm rot="0" flipH="0" flipV="0">
            <a:off x="571500" y="1143000"/>
            <a:ext cx="7467600" cy="2266950"/>
          </a:xfrm>
          <a:prstGeom prst="roundRect">
            <a:avLst>
              <a:gd name="adj" fmla="val 4202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253" name="" descr="{&quot;isTemplate&quot;:true,&quot;type&quot;:&quot;text&quot;}"/>
          <p:cNvSpPr txBox="1"/>
          <p:nvPr/>
        </p:nvSpPr>
        <p:spPr>
          <a:xfrm rot="0" flipH="0" flipV="0">
            <a:off x="819150" y="1352550"/>
            <a:ext cx="6972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ORDER OWNERSHIP</a:t>
            </a:r>
            <a:endParaRPr/>
          </a:p>
        </p:txBody>
      </p:sp>
      <p:sp>
        <p:nvSpPr>
          <p:cNvPr id="1254" name="" descr="{&quot;isTemplate&quot;:true,&quot;type&quot;:&quot;text&quot;}"/>
          <p:cNvSpPr txBox="1"/>
          <p:nvPr/>
        </p:nvSpPr>
        <p:spPr>
          <a:xfrm rot="0" flipH="0" flipV="0">
            <a:off x="819150" y="1619250"/>
            <a:ext cx="19050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 spc="-225">
                <a:solidFill>
                  <a:srgbClr val="FFFFFF"/>
                </a:solidFill>
                <a:latin typeface="Menlo"/>
                <a:ea typeface="Menlo"/>
              </a:rPr>
              <a:t>null</a:t>
            </a:r>
            <a:endParaRPr/>
          </a:p>
        </p:txBody>
      </p:sp>
      <p:sp>
        <p:nvSpPr>
          <p:cNvPr id="1255" name="" descr="{&quot;isTemplate&quot;:true,&quot;type&quot;:&quot;text&quot;}"/>
          <p:cNvSpPr txBox="1"/>
          <p:nvPr/>
        </p:nvSpPr>
        <p:spPr>
          <a:xfrm rot="0" flipH="0" flipV="0">
            <a:off x="2876550" y="1619250"/>
            <a:ext cx="11430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7FD3EC"/>
                </a:solidFill>
                <a:latin typeface="Inter"/>
                <a:ea typeface="Inter"/>
              </a:rPr>
              <a:t>两个归属字段</a:t>
            </a:r>
            <a:endParaRPr/>
          </a:p>
        </p:txBody>
      </p:sp>
      <p:sp>
        <p:nvSpPr>
          <p:cNvPr id="1256" name="" descr="{&quot;isTemplate&quot;:true,&quot;type&quot;:&quot;text&quot;}"/>
          <p:cNvSpPr txBox="1"/>
          <p:nvPr/>
        </p:nvSpPr>
        <p:spPr>
          <a:xfrm rot="0" flipH="0" flipV="0">
            <a:off x="819150" y="2628900"/>
            <a:ext cx="69723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构造订单时，权益归属人和实际操作人这两个字段都取不到登录用户，最终写进去的就是空值。订单里的姓名倒是有的，但它存的是收货人姓名，不是账户名。</a:t>
            </a:r>
            <a:endParaRPr/>
          </a:p>
        </p:txBody>
      </p:sp>
      <p:sp>
        <p:nvSpPr>
          <p:cNvPr id="1257" name=""/>
          <p:cNvSpPr/>
          <p:nvPr/>
        </p:nvSpPr>
        <p:spPr>
          <a:xfrm rot="0" flipH="0" flipV="0">
            <a:off x="8229600" y="1143000"/>
            <a:ext cx="3390900" cy="2266950"/>
          </a:xfrm>
          <a:prstGeom prst="roundRect">
            <a:avLst>
              <a:gd name="adj" fmla="val 4202"/>
            </a:avLst>
          </a:prstGeom>
          <a:solidFill>
            <a:srgbClr val="F287B7">
              <a:alpha val="14000"/>
            </a:srgbClr>
          </a:solidFill>
          <a:ln w="25400">
            <a:solidFill>
              <a:srgbClr val="F287B7"/>
            </a:solidFill>
            <a:prstDash val="solid"/>
          </a:ln>
        </p:spPr>
        <p:txBody>
          <a:bodyPr/>
          <a:p/>
        </p:txBody>
      </p:sp>
      <p:sp>
        <p:nvSpPr>
          <p:cNvPr id="1258" name="" descr="{&quot;isTemplate&quot;:true,&quot;type&quot;:&quot;text&quot;}"/>
          <p:cNvSpPr txBox="1"/>
          <p:nvPr/>
        </p:nvSpPr>
        <p:spPr>
          <a:xfrm rot="0" flipH="0" flipV="0">
            <a:off x="8458200" y="1352550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B3528A"/>
                </a:solidFill>
                <a:latin typeface="Inter"/>
                <a:ea typeface="Inter"/>
              </a:rPr>
              <a:t>BV FLOW</a:t>
            </a:r>
            <a:endParaRPr/>
          </a:p>
        </p:txBody>
      </p:sp>
      <p:sp>
        <p:nvSpPr>
          <p:cNvPr id="1259" name="" descr="{&quot;isTemplate&quot;:true,&quot;type&quot;:&quot;text&quot;}"/>
          <p:cNvSpPr txBox="1"/>
          <p:nvPr/>
        </p:nvSpPr>
        <p:spPr>
          <a:xfrm rot="0" flipH="0" flipV="0">
            <a:off x="8458200" y="1619250"/>
            <a:ext cx="203835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 spc="-300">
                <a:solidFill>
                  <a:srgbClr val="F287B7"/>
                </a:solidFill>
                <a:latin typeface="Inter"/>
                <a:ea typeface="Inter"/>
              </a:rPr>
              <a:t>100%</a:t>
            </a:r>
            <a:endParaRPr/>
          </a:p>
        </p:txBody>
      </p:sp>
      <p:sp>
        <p:nvSpPr>
          <p:cNvPr id="1260" name="" descr="{&quot;isTemplate&quot;:true,&quot;type&quot;:&quot;text&quot;}"/>
          <p:cNvSpPr txBox="1"/>
          <p:nvPr/>
        </p:nvSpPr>
        <p:spPr>
          <a:xfrm rot="0" flipH="0" flipV="0">
            <a:off x="8458200" y="2628900"/>
            <a:ext cx="2933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这笔单产生的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全额记到分享链接的持有者名下。下单访客自己留下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 </a:t>
            </a:r>
            <a:r>
              <a:rPr lang="en-US" sz="1200" b="1">
                <a:solidFill>
                  <a:srgbClr val="B3528A"/>
                </a:solidFill>
                <a:latin typeface="Inter"/>
                <a:ea typeface="Inter"/>
              </a:rPr>
              <a:t>0 BV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1261" name=""/>
          <p:cNvSpPr/>
          <p:nvPr/>
        </p:nvSpPr>
        <p:spPr>
          <a:xfrm rot="0" flipH="0" flipV="0">
            <a:off x="571500" y="3543300"/>
            <a:ext cx="7105650" cy="2743200"/>
          </a:xfrm>
          <a:prstGeom prst="roundRect">
            <a:avLst>
              <a:gd name="adj" fmla="val 347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262" name="" descr="{&quot;isTemplate&quot;:true,&quot;type&quot;:&quot;text&quot;}"/>
          <p:cNvSpPr txBox="1"/>
          <p:nvPr/>
        </p:nvSpPr>
        <p:spPr>
          <a:xfrm rot="0" flipH="0" flipV="0">
            <a:off x="742950" y="3695700"/>
            <a:ext cx="6762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记账要同时满足三条</a:t>
            </a:r>
            <a:endParaRPr/>
          </a:p>
        </p:txBody>
      </p:sp>
      <p:sp>
        <p:nvSpPr>
          <p:cNvPr id="1263" name=""/>
          <p:cNvSpPr/>
          <p:nvPr/>
        </p:nvSpPr>
        <p:spPr>
          <a:xfrm rot="0" flipH="0" flipV="0">
            <a:off x="742950" y="4010025"/>
            <a:ext cx="676275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4" name="" descr="{&quot;isTemplate&quot;:true,&quot;type&quot;:&quot;text&quot;}"/>
          <p:cNvSpPr txBox="1"/>
          <p:nvPr/>
        </p:nvSpPr>
        <p:spPr>
          <a:xfrm rot="0" flipH="0" flipV="0">
            <a:off x="876300" y="42481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AA7CF"/>
                </a:solidFill>
                <a:latin typeface="Menlo"/>
                <a:ea typeface="Menlo"/>
              </a:rPr>
              <a:t>1</a:t>
            </a:r>
            <a:endParaRPr/>
          </a:p>
        </p:txBody>
      </p:sp>
      <p:sp>
        <p:nvSpPr>
          <p:cNvPr id="1265" name="" descr="{&quot;isTemplate&quot;:true,&quot;type&quot;:&quot;text&quot;}"/>
          <p:cNvSpPr txBox="1"/>
          <p:nvPr/>
        </p:nvSpPr>
        <p:spPr>
          <a:xfrm rot="0" flipH="0" flipV="0">
            <a:off x="1143000" y="4210050"/>
            <a:ext cx="62293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存在推荐关系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必须曾经点过带推荐参数的链接，全站只记第一次捕获到的那个人。</a:t>
            </a:r>
            <a:endParaRPr/>
          </a:p>
        </p:txBody>
      </p:sp>
      <p:sp>
        <p:nvSpPr>
          <p:cNvPr id="1266" name=""/>
          <p:cNvSpPr/>
          <p:nvPr/>
        </p:nvSpPr>
        <p:spPr>
          <a:xfrm rot="0" flipH="0" flipV="0">
            <a:off x="742950" y="4743450"/>
            <a:ext cx="676275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876300" y="49815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AA7CF"/>
                </a:solidFill>
                <a:latin typeface="Menlo"/>
                <a:ea typeface="Menlo"/>
              </a:rPr>
              <a:t>2</a:t>
            </a:r>
            <a:endParaRPr/>
          </a:p>
        </p:txBody>
      </p:sp>
      <p:sp>
        <p:nvSpPr>
          <p:cNvPr id="1268" name="" descr="{&quot;isTemplate&quot;:true,&quot;type&quot;:&quot;text&quot;}"/>
          <p:cNvSpPr txBox="1"/>
          <p:nvPr/>
        </p:nvSpPr>
        <p:spPr>
          <a:xfrm rot="0" flipH="0" flipV="0">
            <a:off x="1143000" y="4943475"/>
            <a:ext cx="62293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推荐人不等于下单人的会员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ID ——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访客场景下这一项恒成立。</a:t>
            </a:r>
            <a:endParaRPr/>
          </a:p>
        </p:txBody>
      </p:sp>
      <p:sp>
        <p:nvSpPr>
          <p:cNvPr id="1269" name=""/>
          <p:cNvSpPr/>
          <p:nvPr/>
        </p:nvSpPr>
        <p:spPr>
          <a:xfrm rot="0" flipH="0" flipV="0">
            <a:off x="742950" y="5476875"/>
            <a:ext cx="676275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0" name="" descr="{&quot;isTemplate&quot;:true,&quot;type&quot;:&quot;text&quot;}"/>
          <p:cNvSpPr txBox="1"/>
          <p:nvPr/>
        </p:nvSpPr>
        <p:spPr>
          <a:xfrm rot="0" flipH="0" flipV="0">
            <a:off x="876300" y="57150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AA7CF"/>
                </a:solidFill>
                <a:latin typeface="Menlo"/>
                <a:ea typeface="Menlo"/>
              </a:rPr>
              <a:t>3</a:t>
            </a:r>
            <a:endParaRPr/>
          </a:p>
        </p:txBody>
      </p:sp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1143000" y="5676900"/>
            <a:ext cx="62293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订单产生了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——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金额每满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1,000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奈拉记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1 BV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，向下取整。</a:t>
            </a:r>
            <a:endParaRPr/>
          </a:p>
        </p:txBody>
      </p:sp>
      <p:sp>
        <p:nvSpPr>
          <p:cNvPr id="1272" name=""/>
          <p:cNvSpPr/>
          <p:nvPr/>
        </p:nvSpPr>
        <p:spPr>
          <a:xfrm rot="0" flipH="0" flipV="0">
            <a:off x="7886700" y="3543300"/>
            <a:ext cx="3733800" cy="27432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3" name=""/>
          <p:cNvSpPr/>
          <p:nvPr/>
        </p:nvSpPr>
        <p:spPr>
          <a:xfrm rot="0" flipH="0" flipV="0">
            <a:off x="7886700" y="3543300"/>
            <a:ext cx="3733800" cy="2743200"/>
          </a:xfrm>
          <a:custGeom>
            <a:pathLst>
              <a:path w="392" h="28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282"/>
                </a:lnTo>
                <a:cubicBezTo>
                  <a:pt x="4" y="285"/>
                  <a:pt x="6" y="287"/>
                  <a:pt x="9" y="288"/>
                </a:cubicBezTo>
                <a:cubicBezTo>
                  <a:pt x="4" y="287"/>
                  <a:pt x="0" y="283"/>
                  <a:pt x="0" y="27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pic>
        <p:nvPicPr>
          <p:cNvPr id="12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58150" y="3714750"/>
            <a:ext cx="190500" cy="190500"/>
          </a:xfrm>
          <a:prstGeom prst="rect">
            <a:avLst/>
          </a:prstGeom>
          <a:ln/>
        </p:spPr>
      </p:pic>
      <p:sp>
        <p:nvSpPr>
          <p:cNvPr id="1275" name="" descr="{&quot;isTemplate&quot;:true,&quot;type&quot;:&quot;text&quot;}"/>
          <p:cNvSpPr txBox="1"/>
          <p:nvPr/>
        </p:nvSpPr>
        <p:spPr>
          <a:xfrm rot="0" flipH="0" flipV="0">
            <a:off x="8343900" y="3695700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一个已知缺陷</a:t>
            </a:r>
            <a:endParaRPr/>
          </a:p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8058150" y="4010025"/>
            <a:ext cx="3390900" cy="1533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订单上的推荐人字段是在写库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**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之后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**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才赋值的，所以落库的订单里没有这个字段。后果是：下单落地页那行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"BV credited to …"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不会显示出来。</a:t>
            </a:r>
            <a:endParaRPr/>
          </a:p>
        </p:txBody>
      </p:sp>
      <p:sp>
        <p:nvSpPr>
          <p:cNvPr id="1277" name="" descr="{&quot;isTemplate&quot;:true,&quot;type&quot;:&quot;text&quot;}"/>
          <p:cNvSpPr txBox="1"/>
          <p:nvPr/>
        </p:nvSpPr>
        <p:spPr>
          <a:xfrm rot="0" flipH="0" flipV="0">
            <a:off x="8058150" y="5619750"/>
            <a:ext cx="3390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奖金台账本身是对的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—— 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只是订单上少了这条溯源信息。</a:t>
            </a:r>
            <a:endParaRPr/>
          </a:p>
        </p:txBody>
      </p:sp>
      <p:sp>
        <p:nvSpPr>
          <p:cNvPr id="1278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279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08 / 31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81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访客下单后的三个真相&lt;/Text&gt;&#10;        &lt;Text style={{ fontSize: 16, color: '#5C646A', lineHeight: 1.4, marginTop: 6 }}&gt;&#10;            订单能查、能分享，但它不是账户资产&#10;        &lt;/Text&gt;&#10;    &lt;/Box&gt;&#10;&#10;    {/* ===== B 区（非对称双栏） ===== */}&#10;    &lt;Box style={{ height: 540, flexDirection: 'row', gap: 24 }}&gt;&#10;        {/* 左：为什么必须讲清 */}&#10;        &lt;Box style={{ width: 392, background: '#202259', borderRadius: 10, padding: '26px 24px', flexDirection: 'column' }}&gt;&#10;            &lt;Text style={{ fontSize: 15, color: '#7FD3EC', letterSpacing: 2, fontWeight: 'bold' }}&gt;WHY IT MATTERS&lt;/Text&gt;&#10;            &lt;Text style={{ fontSize: 30, fontWeight: 'bold', color: '#FFFFFF', lineHeight: 1.22, marginTop: 12 }}&gt;&#10;                为什么这三条&#10;                &lt;br /&gt;&#10;                必须讲清&#10;            &lt;/Text&gt;&#10;            &lt;Text style={{ fontSize: 17, color: '#B9C6E4', lineHeight: 1.6, marginTop: 16 }}&gt;&#10;                负责人很容易把&quot;访客能下单&quot;理解成&quot;访客也有账户&quot;。一旦这个理解传下去，后面关于订单查不到、奖金没涨的疑问就会源源不断。&#10;            &lt;/Text&gt;&#10;&#10;            &lt;Box style={{ marginTop: 'auto', paddingTop: 18, borderTop: '1px solid rgba(127,211,236,0.3)' }}&gt;&#10;                &lt;Text style={{ fontSize: 16, color: '#CFE9F4', lineHeight: 1.55 }}&gt;&#10;                    目前没有&quot;访客订单认领&quot;机制 —— 没有按邮箱或手机号把访客单并进新账户的逻辑。如果业务需要这个转化闭环，它是一个待排期的产品缺口。&#10;                &lt;/Text&gt;&#10;            &lt;/Box&gt;&#10;        &lt;/Box&gt;&#10;&#10;        {/* 右：三个真相 */}&#10;        &lt;Box style={{ flex: 1, flexDirection: 'column', gap: 14 }}&gt;&#10;            {[&#10;                { n: '真相一', t: '订单查得到，但进不了账户', d: '下单落地页和订单详情页都不需要登录，凭订单号加本机浏览器就能打开。详情页里会员 ID 一栏会显示 Not registered，订单类型标成 My order。', c: '#202259', icon: 'search' },&#10;                { n: '真相二', t: '一进账户页，访客订单会被剔除删除', d: '账户页加载时会先做一次清理：把所有归属字段为空的订单从订单列表里删掉。而注册成功后的跳转目标正好也是账户页 —— 所以&quot;先访客下单、再注册&quot;这个顺序下，那张访客单会在注册完成的瞬间被静默删除。', c: '#F287B7', icon: 'trash-alt' },&#10;                { n: '真相三', t: '奖金一分都不会进访客自己的账户', d: '会员奖金的计算只认&quot;归属字段等于我自己&quot;的订单。访客订单的 BV 只会出现在推荐人的奖金里，在对方卡片上显示为 From referrals 那一行。', c: '#2AA7CF', icon: 'coins' },&#10;            ].map(function (it, i) {&#10;                return (&#10;                    &lt;Box key={i} style={{ flex: 1, flexDirection: 'row', gap: 16, alignItems: 'flex-start', background: '#F4F6F8', borderLeft: '5px solid ' + it.c, borderRadius: 10, padding: '16px 18px' }}&gt;&#10;                        &lt;Box style={{ width: 44, height: 44, borderRadius: 22, background: it.c, justifyContent: 'center', alignItems: 'center' }}&gt;&#10;                            &lt;FAIcon name={it.icon} style={{ fill: '#FFFFFF', width: 20, height: 20 }} /&gt;&#10;                        &lt;/Box&gt;&#10;                        &lt;Box style={{ flex: 1, flexDirection: 'column' }}&gt;&#10;                            &lt;Box style={{ flexDirection: 'row', alignItems: 'baseline', gap: 10 }}&gt;&#10;                                &lt;Text style={{ fontSize: 14, fontWeight: 'bold', color: it.c, letterSpacing: 1 }}&gt;{it.n}&lt;/Text&gt;&#10;                            &lt;/Box&gt;&#10;                            &lt;Text style={{ fontSize: 20, fontWeight: 'bold', color: '#202259', lineHeight: 1.3, marginTop: 3 }}&gt;{it.t}&lt;/Text&gt;&#10;                            &lt;Text style={{ fontSize: 16, color: '#3F4A55', lineHeight: 1.5, marginTop: 5 }}&gt;{it.d}&lt;/Text&gt;&#10;                        &lt;/Box&gt;&#10;                    &lt;/Box&gt;&#10;                );&#10;            })}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09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访客下单后的三个真相</a:t>
            </a:r>
            <a:endParaRPr/>
          </a:p>
        </p:txBody>
      </p:sp>
      <p:sp>
        <p:nvSpPr>
          <p:cNvPr id="1284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订单能查、能分享，但它不是账户资产</a:t>
            </a:r>
            <a:endParaRPr/>
          </a:p>
        </p:txBody>
      </p:sp>
      <p:sp>
        <p:nvSpPr>
          <p:cNvPr id="1285" name=""/>
          <p:cNvSpPr/>
          <p:nvPr/>
        </p:nvSpPr>
        <p:spPr>
          <a:xfrm rot="0" flipH="0" flipV="0">
            <a:off x="571500" y="1143000"/>
            <a:ext cx="3733800" cy="5143500"/>
          </a:xfrm>
          <a:prstGeom prst="roundRect">
            <a:avLst>
              <a:gd name="adj" fmla="val 2551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286" name="" descr="{&quot;isTemplate&quot;:true,&quot;type&quot;:&quot;text&quot;}"/>
          <p:cNvSpPr txBox="1"/>
          <p:nvPr/>
        </p:nvSpPr>
        <p:spPr>
          <a:xfrm rot="0" flipH="0" flipV="0">
            <a:off x="800100" y="1390650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WHY IT MATTERS</a:t>
            </a:r>
            <a:endParaRPr/>
          </a:p>
        </p:txBody>
      </p:sp>
      <p:sp>
        <p:nvSpPr>
          <p:cNvPr id="1287" name="" descr="{&quot;isTemplate&quot;:true,&quot;type&quot;:&quot;text&quot;}"/>
          <p:cNvSpPr txBox="1"/>
          <p:nvPr/>
        </p:nvSpPr>
        <p:spPr>
          <a:xfrm rot="0" flipH="0" flipV="0">
            <a:off x="800100" y="1676400"/>
            <a:ext cx="3276600" cy="83820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2250" b="1">
                <a:solidFill>
                  <a:srgbClr val="FFFFFF"/>
                </a:solidFill>
                <a:latin typeface="Inter"/>
                <a:ea typeface="Inter"/>
              </a:rPr>
              <a:t>为什么这三条</a:t>
            </a:r>
            <a:endParaRPr/>
          </a:p>
          <a:p>
            <a:pPr>
              <a:lnSpc>
                <a:spcPct val="122000"/>
              </a:lnSpc>
            </a:pPr>
            <a:r>
              <a:rPr lang="zh-CN" sz="2250" b="1">
                <a:solidFill>
                  <a:srgbClr val="FFFFFF"/>
                </a:solidFill>
                <a:latin typeface="Inter"/>
                <a:ea typeface="Inter"/>
              </a:rPr>
              <a:t>必须讲清</a:t>
            </a:r>
            <a:endParaRPr/>
          </a:p>
        </p:txBody>
      </p:sp>
      <p:sp>
        <p:nvSpPr>
          <p:cNvPr id="1288" name="" descr="{&quot;isTemplate&quot;:true,&quot;type&quot;:&quot;text&quot;}"/>
          <p:cNvSpPr txBox="1"/>
          <p:nvPr/>
        </p:nvSpPr>
        <p:spPr>
          <a:xfrm rot="0" flipH="0" flipV="0">
            <a:off x="800100" y="2667000"/>
            <a:ext cx="32766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负责人很容易把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访客能下单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理解成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访客也有账户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。一旦这个理解传下去，后面关于订单查不到、奖金没涨的疑问就会源源不断。</a:t>
            </a:r>
            <a:endParaRPr/>
          </a:p>
        </p:txBody>
      </p:sp>
      <p:sp>
        <p:nvSpPr>
          <p:cNvPr id="1289" name=""/>
          <p:cNvSpPr/>
          <p:nvPr/>
        </p:nvSpPr>
        <p:spPr>
          <a:xfrm rot="0" flipH="0" flipV="0">
            <a:off x="800100" y="4714875"/>
            <a:ext cx="3276600" cy="1333500"/>
          </a:xfrm>
          <a:custGeom>
            <a:pathLst>
              <a:path w="344" h="140">
                <a:moveTo>
                  <a:pt x="0" y="0"/>
                </a:moveTo>
                <a:lnTo>
                  <a:pt x="344" y="0"/>
                </a:lnTo>
                <a:lnTo>
                  <a:pt x="344" y="1"/>
                </a:lnTo>
                <a:lnTo>
                  <a:pt x="0" y="1"/>
                </a:lnTo>
                <a:close/>
              </a:path>
            </a:pathLst>
          </a:custGeom>
          <a:solidFill>
            <a:srgbClr val="7FD3EC">
              <a:alpha val="30000"/>
            </a:srgbClr>
          </a:solidFill>
          <a:ln/>
        </p:spPr>
        <p:txBody>
          <a:bodyPr/>
          <a:p/>
        </p:txBody>
      </p:sp>
      <p:sp>
        <p:nvSpPr>
          <p:cNvPr id="1290" name="" descr="{&quot;isTemplate&quot;:true,&quot;type&quot;:&quot;text&quot;}"/>
          <p:cNvSpPr txBox="1"/>
          <p:nvPr/>
        </p:nvSpPr>
        <p:spPr>
          <a:xfrm rot="0" flipH="0" flipV="0">
            <a:off x="800100" y="4895850"/>
            <a:ext cx="32766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目前没有</a:t>
            </a:r>
            <a:r>
              <a:rPr lang="en-US" sz="1200">
                <a:solidFill>
                  <a:srgbClr val="CFE9F4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访客订单认领</a:t>
            </a:r>
            <a:r>
              <a:rPr lang="en-US" sz="1200">
                <a:solidFill>
                  <a:srgbClr val="CFE9F4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机制</a:t>
            </a:r>
            <a:r>
              <a:rPr lang="en-US" sz="1200">
                <a:solidFill>
                  <a:srgbClr val="CFE9F4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没有按邮箱或手机号把访客单并进新账户的逻辑。如果业务需要这个转化闭环，它是一个待排期的产品缺口。</a:t>
            </a:r>
            <a:endParaRPr/>
          </a:p>
        </p:txBody>
      </p:sp>
      <p:sp>
        <p:nvSpPr>
          <p:cNvPr id="1291" name=""/>
          <p:cNvSpPr/>
          <p:nvPr/>
        </p:nvSpPr>
        <p:spPr>
          <a:xfrm rot="0" flipH="0" flipV="0">
            <a:off x="4581525" y="1143000"/>
            <a:ext cx="7086600" cy="1533525"/>
          </a:xfrm>
          <a:prstGeom prst="roundRect">
            <a:avLst>
              <a:gd name="adj" fmla="val 621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292" name=""/>
          <p:cNvSpPr/>
          <p:nvPr/>
        </p:nvSpPr>
        <p:spPr>
          <a:xfrm rot="0" flipH="0" flipV="0">
            <a:off x="4581525" y="1143000"/>
            <a:ext cx="7086600" cy="1533525"/>
          </a:xfrm>
          <a:custGeom>
            <a:pathLst>
              <a:path w="744" h="16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56"/>
                </a:lnTo>
                <a:cubicBezTo>
                  <a:pt x="5" y="158"/>
                  <a:pt x="7" y="160"/>
                  <a:pt x="9" y="161"/>
                </a:cubicBezTo>
                <a:cubicBezTo>
                  <a:pt x="4" y="160"/>
                  <a:pt x="0" y="156"/>
                  <a:pt x="0" y="15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1293" name=""/>
          <p:cNvSpPr/>
          <p:nvPr/>
        </p:nvSpPr>
        <p:spPr>
          <a:xfrm rot="0" flipH="0" flipV="0">
            <a:off x="4752975" y="12954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/>
        </p:spPr>
        <p:txBody>
          <a:bodyPr/>
          <a:p/>
        </p:txBody>
      </p:sp>
      <p:pic>
        <p:nvPicPr>
          <p:cNvPr id="12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67275" y="1409700"/>
            <a:ext cx="190500" cy="190500"/>
          </a:xfrm>
          <a:prstGeom prst="rect">
            <a:avLst/>
          </a:prstGeom>
          <a:ln/>
        </p:spPr>
      </p:pic>
      <p:sp>
        <p:nvSpPr>
          <p:cNvPr id="1295" name="" descr="{&quot;isTemplate&quot;:true,&quot;type&quot;:&quot;text&quot;}"/>
          <p:cNvSpPr txBox="1"/>
          <p:nvPr/>
        </p:nvSpPr>
        <p:spPr>
          <a:xfrm rot="0" flipH="0" flipV="0">
            <a:off x="5324475" y="12954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202259"/>
                </a:solidFill>
                <a:latin typeface="Inter"/>
                <a:ea typeface="Inter"/>
              </a:rPr>
              <a:t>真相一</a:t>
            </a:r>
            <a:endParaRPr/>
          </a:p>
        </p:txBody>
      </p:sp>
      <p:sp>
        <p:nvSpPr>
          <p:cNvPr id="1296" name="" descr="{&quot;isTemplate&quot;:true,&quot;type&quot;:&quot;text&quot;}"/>
          <p:cNvSpPr txBox="1"/>
          <p:nvPr/>
        </p:nvSpPr>
        <p:spPr>
          <a:xfrm rot="0" flipH="0" flipV="0">
            <a:off x="5324475" y="1485900"/>
            <a:ext cx="61245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订单查得到，但进不了账户</a:t>
            </a:r>
            <a:endParaRPr/>
          </a:p>
        </p:txBody>
      </p:sp>
      <p:sp>
        <p:nvSpPr>
          <p:cNvPr id="1297" name="" descr="{&quot;isTemplate&quot;:true,&quot;type&quot;:&quot;text&quot;}"/>
          <p:cNvSpPr txBox="1"/>
          <p:nvPr/>
        </p:nvSpPr>
        <p:spPr>
          <a:xfrm rot="0" flipH="0" flipV="0">
            <a:off x="5324475" y="1838325"/>
            <a:ext cx="61245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下单落地页和订单详情页都不需要登录，凭订单号加本机浏览器就能打开。详情页里会员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ID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一栏会显示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Not registered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，订单类型标成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My order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1298" name=""/>
          <p:cNvSpPr/>
          <p:nvPr/>
        </p:nvSpPr>
        <p:spPr>
          <a:xfrm rot="0" flipH="0" flipV="0">
            <a:off x="4581525" y="2809875"/>
            <a:ext cx="7086600" cy="180975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299" name=""/>
          <p:cNvSpPr/>
          <p:nvPr/>
        </p:nvSpPr>
        <p:spPr>
          <a:xfrm rot="0" flipH="0" flipV="0">
            <a:off x="4581525" y="2809875"/>
            <a:ext cx="7086600" cy="1809750"/>
          </a:xfrm>
          <a:custGeom>
            <a:pathLst>
              <a:path w="744" h="19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85"/>
                </a:lnTo>
                <a:cubicBezTo>
                  <a:pt x="5" y="187"/>
                  <a:pt x="7" y="189"/>
                  <a:pt x="9" y="190"/>
                </a:cubicBezTo>
                <a:cubicBezTo>
                  <a:pt x="4" y="189"/>
                  <a:pt x="0" y="185"/>
                  <a:pt x="0" y="18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1300" name=""/>
          <p:cNvSpPr/>
          <p:nvPr/>
        </p:nvSpPr>
        <p:spPr>
          <a:xfrm rot="0" flipH="0" flipV="0">
            <a:off x="4752975" y="29622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287B7"/>
          </a:solidFill>
          <a:ln/>
        </p:spPr>
        <p:txBody>
          <a:bodyPr/>
          <a:p/>
        </p:txBody>
      </p:sp>
      <p:pic>
        <p:nvPicPr>
          <p:cNvPr id="13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867275" y="3076575"/>
            <a:ext cx="190500" cy="190500"/>
          </a:xfrm>
          <a:prstGeom prst="rect">
            <a:avLst/>
          </a:prstGeom>
          <a:ln/>
        </p:spPr>
      </p:pic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5324475" y="2962275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287B7"/>
                </a:solidFill>
                <a:latin typeface="Inter"/>
                <a:ea typeface="Inter"/>
              </a:rPr>
              <a:t>真相二</a:t>
            </a:r>
            <a:endParaRPr/>
          </a:p>
        </p:txBody>
      </p:sp>
      <p:sp>
        <p:nvSpPr>
          <p:cNvPr id="1303" name="" descr="{&quot;isTemplate&quot;:true,&quot;type&quot;:&quot;text&quot;}"/>
          <p:cNvSpPr txBox="1"/>
          <p:nvPr/>
        </p:nvSpPr>
        <p:spPr>
          <a:xfrm rot="0" flipH="0" flipV="0">
            <a:off x="5324475" y="3152775"/>
            <a:ext cx="61245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一进账户页，访客订单会被剔除删除</a:t>
            </a:r>
            <a:endParaRPr/>
          </a:p>
        </p:txBody>
      </p:sp>
      <p:sp>
        <p:nvSpPr>
          <p:cNvPr id="1304" name="" descr="{&quot;isTemplate&quot;:true,&quot;type&quot;:&quot;text&quot;}"/>
          <p:cNvSpPr txBox="1"/>
          <p:nvPr/>
        </p:nvSpPr>
        <p:spPr>
          <a:xfrm rot="0" flipH="0" flipV="0">
            <a:off x="5324475" y="3505200"/>
            <a:ext cx="612457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账户页加载时会先做一次清理：把所有归属字段为空的订单从订单列表里删掉。而注册成功后的跳转目标正好也是账户页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所以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先访客下单、再注册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这个顺序下，那张访客单会在注册完成的瞬间被静默删除。</a:t>
            </a:r>
            <a:endParaRPr/>
          </a:p>
        </p:txBody>
      </p:sp>
      <p:sp>
        <p:nvSpPr>
          <p:cNvPr id="1305" name=""/>
          <p:cNvSpPr/>
          <p:nvPr/>
        </p:nvSpPr>
        <p:spPr>
          <a:xfrm rot="0" flipH="0" flipV="0">
            <a:off x="4581525" y="4752975"/>
            <a:ext cx="7086600" cy="1533525"/>
          </a:xfrm>
          <a:prstGeom prst="roundRect">
            <a:avLst>
              <a:gd name="adj" fmla="val 621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306" name=""/>
          <p:cNvSpPr/>
          <p:nvPr/>
        </p:nvSpPr>
        <p:spPr>
          <a:xfrm rot="0" flipH="0" flipV="0">
            <a:off x="4581525" y="4752975"/>
            <a:ext cx="7086600" cy="1533525"/>
          </a:xfrm>
          <a:custGeom>
            <a:pathLst>
              <a:path w="744" h="16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56"/>
                </a:lnTo>
                <a:cubicBezTo>
                  <a:pt x="5" y="158"/>
                  <a:pt x="7" y="160"/>
                  <a:pt x="9" y="161"/>
                </a:cubicBezTo>
                <a:cubicBezTo>
                  <a:pt x="4" y="160"/>
                  <a:pt x="0" y="156"/>
                  <a:pt x="0" y="15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1307" name=""/>
          <p:cNvSpPr/>
          <p:nvPr/>
        </p:nvSpPr>
        <p:spPr>
          <a:xfrm rot="0" flipH="0" flipV="0">
            <a:off x="4752975" y="49053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pic>
        <p:nvPicPr>
          <p:cNvPr id="13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867275" y="5019675"/>
            <a:ext cx="190500" cy="190500"/>
          </a:xfrm>
          <a:prstGeom prst="rect">
            <a:avLst/>
          </a:prstGeom>
          <a:ln/>
        </p:spPr>
      </p:pic>
      <p:sp>
        <p:nvSpPr>
          <p:cNvPr id="1309" name="" descr="{&quot;isTemplate&quot;:true,&quot;type&quot;:&quot;text&quot;}"/>
          <p:cNvSpPr txBox="1"/>
          <p:nvPr/>
        </p:nvSpPr>
        <p:spPr>
          <a:xfrm rot="0" flipH="0" flipV="0">
            <a:off x="5324475" y="4905375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2AA7CF"/>
                </a:solidFill>
                <a:latin typeface="Inter"/>
                <a:ea typeface="Inter"/>
              </a:rPr>
              <a:t>真相三</a:t>
            </a:r>
            <a:endParaRPr/>
          </a:p>
        </p:txBody>
      </p:sp>
      <p:sp>
        <p:nvSpPr>
          <p:cNvPr id="1310" name="" descr="{&quot;isTemplate&quot;:true,&quot;type&quot;:&quot;text&quot;}"/>
          <p:cNvSpPr txBox="1"/>
          <p:nvPr/>
        </p:nvSpPr>
        <p:spPr>
          <a:xfrm rot="0" flipH="0" flipV="0">
            <a:off x="5324475" y="5095875"/>
            <a:ext cx="61245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奖金一分都不会进访客自己的账户</a:t>
            </a:r>
            <a:endParaRPr/>
          </a:p>
        </p:txBody>
      </p:sp>
      <p:sp>
        <p:nvSpPr>
          <p:cNvPr id="1311" name="" descr="{&quot;isTemplate&quot;:true,&quot;type&quot;:&quot;text&quot;}"/>
          <p:cNvSpPr txBox="1"/>
          <p:nvPr/>
        </p:nvSpPr>
        <p:spPr>
          <a:xfrm rot="0" flipH="0" flipV="0">
            <a:off x="5324475" y="5448300"/>
            <a:ext cx="61245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会员奖金的计算只认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归属字段等于我自己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的订单。访客订单的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只会出现在推荐人的奖金里，在对方卡片上显示为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From referrals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那一行。</a:t>
            </a:r>
            <a:endParaRPr/>
          </a:p>
        </p:txBody>
      </p:sp>
      <p:sp>
        <p:nvSpPr>
          <p:cNvPr id="1312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313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1314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09 / 31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 descr="&lt;Slide style={{ width: 1280, height: 720, position: 'relative', fontFamily: 'Inter, PingFang SC, Helvetica Neue, sans-serif', background: '#0F1034' }}&gt;&#10;    &lt;Image src='resources/images/section_signup.jpg' style={{ position: 'absolute', top: 0, left: 0, width: 1280, height: 720, objectFit: 'cover' }} /&gt;&#10;    &lt;Box style={{ position: 'absolute', top: 0, left: 0, width: 1280, height: 720, background: 'linear-gradient(90deg, rgba(15,16,52,0.95) 0%, rgba(15,16,52,0.85) 46%, rgba(15,16,52,0.36) 76%, rgba(15,16,52,0.74) 100%)' }} /&gt;&#10;    &lt;Box style={{ position: 'absolute', bottom: 0, right: 0, width: 520, height: 240, background: 'linear-gradient(315deg, rgba(8,10,32,1) 0%, rgba(8,10,32,0.9) 24%, rgba(8,10,32,0) 64%)' }} /&gt;&#10;&#10;    &lt;Box style={{ position: 'relative', width: '100%', height: '100%', padding: '72px 80px', flexDirection: 'column', justifyContent: 'center' }}&gt;&#10;        &lt;Box style={{ flexDirection: 'row', alignItems: 'center', gap: 16 }}&gt;&#10;            &lt;Text style={{ fontSize: 96, fontWeight: 'bold', color: 'rgba(42,167,207,0.55)', lineHeight: 1, letterSpacing: -3 }}&gt;02&lt;/Text&gt;&#10;            &lt;Box style={{ width: 56, height: 4, background: '#2AA7CF' }} /&gt;&#10;            &lt;Text style={{ fontSize: 17, color: '#7FD3EC', letterSpacing: 3, fontWeight: 'bold' }}&gt;CHAPTER TWO&lt;/Text&gt;&#10;        &lt;/Box&gt;&#10;&#10;        &lt;Text style={{ fontSize: 62, fontWeight: 'bold', color: '#FFFFFF', lineHeight: 1.1, letterSpacing: -1, marginTop: 24 }}&gt;&#10;            注册账户去购买&#10;        &lt;/Text&gt;&#10;        &lt;Text style={{ fontSize: 23, color: '#B9C6E4', lineHeight: 1.5, marginTop: 18, width: 830 }}&gt;&#10;            注册表单本身就带着选品和支付 —— 客户点下 Save 的那一刻，订单已经生成，账户也已经建好了。&#10;        &lt;/Text&gt;&#10;&#10;        &lt;Box style={{ flexDirection: 'row', gap: 14, marginTop: 38 }}&gt;&#10;            {['七个分区', '与推荐人默认值', '下单与登录同时发生', '订单在账户里的形态'].map(function (t, i) {&#10;                return (&#10;                    &lt;Box key={i} style={{ padding: '10px 20px', background: 'rgba(255,255,255,0.08)', border: '1px solid rgba(127,211,236,0.3)', borderRadius: 999, flexDirection: 'row', alignItems: 'center', gap: 9 }}&gt;&#10;                        &lt;Box style={{ width: 6, height: 6, borderRadius: 3, background: '#2AA7CF' }} /&gt;&#10;                        &lt;Text style={{ fontSize: 16, color: '#D6E2F5' }}&gt;{t}&lt;/Text&gt;&#10;                    &lt;/Box&gt;&#10;                );&#10;            })}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034"/>
          </a:solidFill>
          <a:ln/>
        </p:spPr>
        <p:txBody>
          <a:bodyPr/>
          <a:p/>
        </p:txBody>
      </p:sp>
      <p:pic>
        <p:nvPicPr>
          <p:cNvPr id="24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034">
                  <a:alpha val="95000"/>
                </a:srgbClr>
              </a:gs>
              <a:gs pos="46000">
                <a:srgbClr val="0F1034">
                  <a:alpha val="85000"/>
                </a:srgbClr>
              </a:gs>
              <a:gs pos="76000">
                <a:srgbClr val="0F1034">
                  <a:alpha val="36000"/>
                </a:srgbClr>
              </a:gs>
              <a:gs pos="100000">
                <a:srgbClr val="0F1034">
                  <a:alpha val="74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7239000" y="4572000"/>
            <a:ext cx="4953000" cy="2286000"/>
          </a:xfrm>
          <a:prstGeom prst="rect">
            <a:avLst/>
          </a:prstGeom>
          <a:gradFill>
            <a:gsLst>
              <a:gs pos="0">
                <a:srgbClr val="080A20">
                  <a:alpha val="100000"/>
                </a:srgbClr>
              </a:gs>
              <a:gs pos="24000">
                <a:srgbClr val="080A20">
                  <a:alpha val="90000"/>
                </a:srgbClr>
              </a:gs>
              <a:gs pos="64000">
                <a:srgbClr val="080A20">
                  <a:alpha val="0"/>
                </a:srgbClr>
              </a:gs>
            </a:gsLst>
            <a:lin ang="13500000" scaled="1"/>
          </a:gra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62000" y="1524000"/>
            <a:ext cx="10477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225">
                <a:solidFill>
                  <a:srgbClr val="2AA7CF">
                    <a:alpha val="55000"/>
                  </a:srgbClr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1962150" y="2057400"/>
            <a:ext cx="533400" cy="38100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647950" y="198120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225">
                <a:solidFill>
                  <a:srgbClr val="7FD3EC"/>
                </a:solidFill>
                <a:latin typeface="Inter"/>
                <a:ea typeface="Inter"/>
              </a:rPr>
              <a:t>CHAPTER TWO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62000" y="2857500"/>
            <a:ext cx="10668000" cy="7810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650" b="1" spc="-75">
                <a:solidFill>
                  <a:srgbClr val="FFFFFF"/>
                </a:solidFill>
                <a:latin typeface="Inter"/>
                <a:ea typeface="Inter"/>
              </a:rPr>
              <a:t>注册账户去购买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62000" y="3810000"/>
            <a:ext cx="79057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B9C6E4"/>
                </a:solidFill>
                <a:latin typeface="Inter"/>
                <a:ea typeface="Inter"/>
              </a:rPr>
              <a:t>注册表单本身就带着选品和支付</a:t>
            </a:r>
            <a:r>
              <a:rPr lang="en-US" sz="1725">
                <a:solidFill>
                  <a:srgbClr val="B9C6E4"/>
                </a:solidFill>
                <a:latin typeface="Inter"/>
                <a:ea typeface="Inter"/>
              </a:rPr>
              <a:t> —— </a:t>
            </a:r>
            <a:r>
              <a:rPr lang="zh-CN" sz="1725">
                <a:solidFill>
                  <a:srgbClr val="B9C6E4"/>
                </a:solidFill>
                <a:latin typeface="Inter"/>
                <a:ea typeface="Inter"/>
              </a:rPr>
              <a:t>客户点下</a:t>
            </a:r>
            <a:r>
              <a:rPr lang="en-US" sz="1725">
                <a:solidFill>
                  <a:srgbClr val="B9C6E4"/>
                </a:solidFill>
                <a:latin typeface="Inter"/>
                <a:ea typeface="Inter"/>
              </a:rPr>
              <a:t> Save </a:t>
            </a:r>
            <a:r>
              <a:rPr lang="zh-CN" sz="1725">
                <a:solidFill>
                  <a:srgbClr val="B9C6E4"/>
                </a:solidFill>
                <a:latin typeface="Inter"/>
                <a:ea typeface="Inter"/>
              </a:rPr>
              <a:t>的那一刻，订单已经生成，账户也已经建好了。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762000" y="4962525"/>
            <a:ext cx="11334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952500" y="5124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095375" y="50577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七个分区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2028825" y="4962525"/>
            <a:ext cx="15906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2219325" y="5124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2362200" y="505777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与推荐人默认值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3752850" y="4962525"/>
            <a:ext cx="18954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3943350" y="5124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086225" y="5057775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下单与登录同时发生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5781675" y="4962525"/>
            <a:ext cx="18954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5972175" y="5124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115050" y="5057775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订单在账户里的形态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44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注册即首购：一页七个分区&lt;/Text&gt;&#10;        &lt;Text style={{ fontSize: 16, color: '#5C646A', lineHeight: 1.4, marginTop: 6 }}&gt;&#10;            不是分步向导，是一页从上到下的长表单，选品和支付都在里面&#10;        &lt;/Text&gt;&#10;    &lt;/Box&gt;&#10;&#10;    {/* ===== B 区（左大图 + 右侧文字） ===== */}&#10;    &lt;Box style={{ height: 540, flexDirection: 'row', gap: 24 }}&gt;&#10;        {/* 左：七个分区 */}&#10;        &lt;Box style={{ width: 720, flexDirection: 'column', gap: 10 }}&gt;&#10;            {[&#10;                { n: '1', cn: '基本信息', en: 'Basic Information', f: '国家、语言、会员 ID（只读）、卡级、报单中心 ID' },&#10;                { n: '2', cn: '商品', en: 'Products', f: '十二个商品可勾选，配数量步进器，至少选一件' },&#10;                { n: '3', cn: '网络信息', en: 'Network Information', f: '推荐人 ID、实际推荐人 ID —— 两个都会自动预填' },&#10;                { n: '4', cn: '个人信息', en: 'Personal Information', f: '会员名、手机、邮箱、登录密码、支付密码、收货人及电话' },&#10;                { n: '5', cn: '配送方式', en: 'Delivery Method', f: '送货上门（默认）或自提；选自提会隐藏下一个地址分区' },&#10;                { n: '6', cn: '地址', en: 'Address Details', f: '州、城市、详细地址、区域 —— 全部选填' },&#10;                { n: '7', cn: '支付方式', en: 'Payment Method', f: '货到付款（默认）、银行卡、USSD、银行转账' },&#10;            ].map(function (it, i) {&#10;                return (&#10;                    &lt;Box key={i} style={{ flex: 1, flexDirection: 'row', gap: 14, alignItems: 'center', background: '#F4F6F8', borderRadius: 8, padding: '0 16px' }}&gt;&#10;                        &lt;Box style={{ width: 32, height: 32, borderRadius: 6, background: '#2AA7CF', justifyContent: 'center', alignItems: 'center' }}&gt;&#10;                            &lt;Text style={{ fontSize: 16, fontWeight: 'bold', color: '#FFFFFF' }}&gt;{it.n}&lt;/Text&gt;&#10;                        &lt;/Box&gt;&#10;                        &lt;Box style={{ flexDirection: 'row', alignItems: 'baseline', gap: 8, width: 216 }}&gt;&#10;                            &lt;Text style={{ fontSize: 18, fontWeight: 'bold', color: '#202259' }}&gt;{it.cn}&lt;/Text&gt;&#10;                            &lt;Text style={{ fontSize: 13, color: '#859EB3' }}&gt;{it.en}&lt;/Text&gt;&#10;                        &lt;/Box&gt;&#10;                        &lt;Text style={{ fontSize: 15, color: '#3F4A55', flex: 1, lineHeight: 1.35 }}&gt;{it.f}&lt;/Text&gt;&#10;                    &lt;/Box&gt;&#10;                );&#10;            })}&#10;        &lt;/Box&gt;&#10;&#10;        {/* 右：真实必填 + 注意 */}&#10;        &lt;Box style={{ flex: 1, flexDirection: 'column', gap: 14 }}&gt;&#10;            &lt;Box style={{ background: '#202259', borderRadius: 10, padding: '18px 20px', flexDirection: 'column', flex: 1 }}&gt;&#10;                &lt;Text style={{ fontSize: 15, color: '#7FD3EC', letterSpacing: 1.8, fontWeight: 'bold' }}&gt;REQUIRED&lt;/Text&gt;&#10;                &lt;Text style={{ fontSize: 19, fontWeight: 'bold', color: '#FFFFFF', marginTop: 8, lineHeight: 1.3 }}&gt;&#10;                    真实必填只有八项&#10;                &lt;/Text&gt;&#10;                &lt;Box style={{ flex: 1, flexDirection: 'column', gap: 7, marginTop: 12 }}&gt;&#10;                    {['报单中心 ID', '卡级（Silver / Gold）', '会员名', '手机', '邮箱', '登录密码', '支付密码', '至少一件商品'].map(function (t, i) {&#10;                        return (&#10;                            &lt;Box key={i} style={{ flexDirection: 'row', alignItems: 'center', gap: 9 }}&gt;&#10;                                &lt;Box style={{ width: 5, height: 5, borderRadius: 3, background: '#2AA7CF' }} /&gt;&#10;                                &lt;Text style={{ fontSize: 16, color: '#D6E2F5' }}&gt;{t}&lt;/Text&gt;&#10;                            &lt;/Box&gt;&#10;                        );&#10;                    })}&#10;                &lt;/Box&gt;&#10;                &lt;Text style={{ fontSize: 15, color: '#859EB3', marginTop: 10, lineHeight: 1.4 }}&gt;&#10;                    地址、推荐人、收货人都是选填&#10;                &lt;/Text&gt;&#10;            &lt;/Box&gt;&#10;&#10;            &lt;Box style={{ background: 'rgba(242,135,183,0.14)', borderLeft: '4px solid #F287B7', borderRadius: 8, padding: '14px 16px', flexDirection: 'column' }}&gt;&#10;                &lt;Text style={{ fontSize: 16, fontWeight: 'bold', color: '#7A2F5C', marginBottom: 6 }}&gt;三个容易讲漏的点&lt;/Text&gt;&#10;                &lt;Text style={{ fontSize: 15, color: '#4A3040', lineHeight: 1.5 }}&gt;&#10;                    没有条款或隐私政策勾选框 · 没有验证码 · 密码只校验长度不少于六位，无复杂度要求、也没有二次确认。&#10;                &lt;/Text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11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注册即首购：一页七个分区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不是分步向导，是一页从上到下的长表单，选品和支付都在里面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571500" y="1143000"/>
            <a:ext cx="6858000" cy="657225"/>
          </a:xfrm>
          <a:prstGeom prst="roundRect">
            <a:avLst>
              <a:gd name="adj" fmla="val 11594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723900" y="132397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47725" y="1381125"/>
            <a:ext cx="66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162050" y="13716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基本信息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924050" y="1371600"/>
            <a:ext cx="1019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Inter"/>
                <a:ea typeface="Inter"/>
              </a:rPr>
              <a:t>Basic Information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3352800" y="1352550"/>
            <a:ext cx="39243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国家、语言、会员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ID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（只读）、卡级、报单中心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ID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71500" y="1895475"/>
            <a:ext cx="6858000" cy="647700"/>
          </a:xfrm>
          <a:prstGeom prst="roundRect">
            <a:avLst>
              <a:gd name="adj" fmla="val 11765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723900" y="206692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28675" y="21240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62050" y="21145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商品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581150" y="211455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Inter"/>
                <a:ea typeface="Inter"/>
              </a:rPr>
              <a:t>Products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352800" y="2105025"/>
            <a:ext cx="39243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十二个商品可勾选，配数量步进器，至少选一件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71500" y="2638425"/>
            <a:ext cx="6858000" cy="657225"/>
          </a:xfrm>
          <a:prstGeom prst="roundRect">
            <a:avLst>
              <a:gd name="adj" fmla="val 11594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723900" y="28194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28675" y="28765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162050" y="28670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网络信息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924050" y="2867025"/>
            <a:ext cx="118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Inter"/>
                <a:ea typeface="Inter"/>
              </a:rPr>
              <a:t>Network Information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3352800" y="2847975"/>
            <a:ext cx="39243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推荐人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ID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、实际推荐人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ID ——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两个都会自动预填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571500" y="3390900"/>
            <a:ext cx="6858000" cy="647700"/>
          </a:xfrm>
          <a:prstGeom prst="roundRect">
            <a:avLst>
              <a:gd name="adj" fmla="val 11765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723900" y="356235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28675" y="36195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</a:rPr>
              <a:t>4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162050" y="36099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个人信息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924050" y="360997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Inter"/>
                <a:ea typeface="Inter"/>
              </a:rPr>
              <a:t>Personal Information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352800" y="3600450"/>
            <a:ext cx="39243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会员名、手机、邮箱、登录密码、支付密码、收货人及电话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571500" y="4133850"/>
            <a:ext cx="6858000" cy="657225"/>
          </a:xfrm>
          <a:prstGeom prst="roundRect">
            <a:avLst>
              <a:gd name="adj" fmla="val 11594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723900" y="431482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28675" y="43719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</a:rPr>
              <a:t>5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62050" y="43624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配送方式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924050" y="4362450"/>
            <a:ext cx="933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Inter"/>
                <a:ea typeface="Inter"/>
              </a:rPr>
              <a:t>Delivery Method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352800" y="4343400"/>
            <a:ext cx="39243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送货上门（默认）或自提；选自提会隐藏下一个地址分区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71500" y="4886325"/>
            <a:ext cx="6858000" cy="647700"/>
          </a:xfrm>
          <a:prstGeom prst="roundRect">
            <a:avLst>
              <a:gd name="adj" fmla="val 11765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723900" y="505777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28675" y="51149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</a:rPr>
              <a:t>6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162050" y="510540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地址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581150" y="5105400"/>
            <a:ext cx="904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Inter"/>
                <a:ea typeface="Inter"/>
              </a:rPr>
              <a:t>Address Details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352800" y="5095875"/>
            <a:ext cx="39243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州、城市、详细地址、区域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全部选填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571500" y="5629275"/>
            <a:ext cx="6858000" cy="657225"/>
          </a:xfrm>
          <a:prstGeom prst="roundRect">
            <a:avLst>
              <a:gd name="adj" fmla="val 11594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723900" y="581025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38200" y="58674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</a:rPr>
              <a:t>7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62050" y="58578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支付方式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924050" y="5857875"/>
            <a:ext cx="981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Inter"/>
                <a:ea typeface="Inter"/>
              </a:rPr>
              <a:t>Payment Method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352800" y="5838825"/>
            <a:ext cx="39243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货到付款（默认）、银行卡、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USSD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、银行转账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7658100" y="1143000"/>
            <a:ext cx="3962400" cy="3981450"/>
          </a:xfrm>
          <a:prstGeom prst="roundRect">
            <a:avLst>
              <a:gd name="adj" fmla="val 2404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848600" y="1314450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35">
                <a:solidFill>
                  <a:srgbClr val="7FD3EC"/>
                </a:solidFill>
                <a:latin typeface="Inter"/>
                <a:ea typeface="Inter"/>
              </a:rPr>
              <a:t>REQUIRED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848600" y="1562100"/>
            <a:ext cx="35814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FFFFFF"/>
                </a:solidFill>
                <a:latin typeface="Inter"/>
                <a:ea typeface="Inter"/>
              </a:rPr>
              <a:t>真实必填只有八项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7848600" y="20383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981950" y="1962150"/>
            <a:ext cx="809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报单中心</a:t>
            </a: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 ID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848600" y="22955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981950" y="2219325"/>
            <a:ext cx="1504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卡级（</a:t>
            </a: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Silver / Gold</a:t>
            </a: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7848600" y="25527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981950" y="24765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会员名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7848600" y="28098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981950" y="27336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手机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7848600" y="30670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981950" y="29908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邮箱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848600" y="33242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981950" y="32480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登录密码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7848600" y="35814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981950" y="3505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支付密码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7848600" y="38385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981950" y="37623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至少一件商品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848600" y="4705350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859EB3"/>
                </a:solidFill>
                <a:latin typeface="Inter"/>
                <a:ea typeface="Inter"/>
              </a:rPr>
              <a:t>地址、推荐人、收货人都是选填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7696200" y="5257800"/>
            <a:ext cx="3962400" cy="1028700"/>
          </a:xfrm>
          <a:prstGeom prst="roundRect">
            <a:avLst>
              <a:gd name="adj" fmla="val 7407"/>
            </a:avLst>
          </a:prstGeom>
          <a:solidFill>
            <a:srgbClr val="F287B7">
              <a:alpha val="14000"/>
            </a:srgbClr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7696200" y="5257800"/>
            <a:ext cx="3962400" cy="1028700"/>
          </a:xfrm>
          <a:custGeom>
            <a:pathLst>
              <a:path w="416" h="10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04"/>
                </a:lnTo>
                <a:cubicBezTo>
                  <a:pt x="4" y="106"/>
                  <a:pt x="5" y="108"/>
                  <a:pt x="7" y="108"/>
                </a:cubicBezTo>
                <a:cubicBezTo>
                  <a:pt x="3" y="108"/>
                  <a:pt x="0" y="104"/>
                  <a:pt x="0" y="10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848600" y="5391150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7A2F5C"/>
                </a:solidFill>
                <a:latin typeface="Inter"/>
                <a:ea typeface="Inter"/>
              </a:rPr>
              <a:t>三个容易讲漏的点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848600" y="5638800"/>
            <a:ext cx="3619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3040"/>
                </a:solidFill>
                <a:latin typeface="Inter"/>
                <a:ea typeface="Inter"/>
              </a:rPr>
              <a:t>没有条款或隐私政策勾选框</a:t>
            </a:r>
            <a:r>
              <a:rPr lang="en-US" sz="1125">
                <a:solidFill>
                  <a:srgbClr val="4A3040"/>
                </a:solidFill>
                <a:latin typeface="Inter"/>
                <a:ea typeface="Inter"/>
              </a:rPr>
              <a:t> · </a:t>
            </a:r>
            <a:r>
              <a:rPr lang="zh-CN" sz="1125">
                <a:solidFill>
                  <a:srgbClr val="4A3040"/>
                </a:solidFill>
                <a:latin typeface="Inter"/>
                <a:ea typeface="Inter"/>
              </a:rPr>
              <a:t>没有验证码</a:t>
            </a:r>
            <a:r>
              <a:rPr lang="en-US" sz="1125">
                <a:solidFill>
                  <a:srgbClr val="4A3040"/>
                </a:solidFill>
                <a:latin typeface="Inter"/>
                <a:ea typeface="Inter"/>
              </a:rPr>
              <a:t> · </a:t>
            </a:r>
            <a:r>
              <a:rPr lang="zh-CN" sz="1125">
                <a:solidFill>
                  <a:srgbClr val="4A3040"/>
                </a:solidFill>
                <a:latin typeface="Inter"/>
                <a:ea typeface="Inter"/>
              </a:rPr>
              <a:t>密码只校验长度不少于六位，无复杂度要求、也没有二次确认。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201400" y="640080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11 / 31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17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Member ID 与推荐人默认值&lt;/Text&gt;&#10;        &lt;Text style={{ fontSize: 16, color: '#5C646A', lineHeight: 1.4, marginTop: 6 }}&gt;&#10;            一个字段系统生成、不可改；另一个字段有个写死的默认值，这件事必须说清&#10;        &lt;/Text&gt;&#10;    &lt;/Box&gt;&#10;&#10;    {/* ===== B 区（巨型数字 + 洞察） ===== */}&#10;    &lt;Box style={{ height: 540, flexDirection: 'column', gap: 20 }}&gt;&#10;        {/* 巨型 ID */}&#10;        &lt;Box style={{ height: 216, background: '#202259', borderRadius: 10, padding: '0 30px', flexDirection: 'row', alignItems: 'center', gap: 28 }}&gt;&#10;            &lt;Text style={{ fontSize: 84, fontWeight: 'bold', color: '#FFFFFF', lineHeight: 1, letterSpacing: -3, fontFamily: 'Menlo, ui-monospace, monospace' }}&gt;&#10;                NG12345678&#10;            &lt;/Text&gt;&#10;            &lt;Box style={{ flexDirection: 'column', flex: 1 }}&gt;&#10;                &lt;Box style={{ flexDirection: 'row', alignItems: 'center', gap: 10 }}&gt;&#10;                    &lt;Box style={{ padding: '4px 12px', background: '#2AA7CF', borderRadius: 4 }}&gt;&#10;                        &lt;Text style={{ fontSize: 14, fontWeight: 'bold', color: '#FFFFFF' }}&gt;共 10 位&lt;/Text&gt;&#10;                    &lt;/Box&gt;&#10;                    &lt;Text style={{ fontSize: 16, color: '#7FD3EC' }}&gt;NG 前缀 + 8 位数字 · 系统生成 · 字段只读&lt;/Text&gt;&#10;                &lt;/Box&gt;&#10;                &lt;Text style={{ fontSize: 16, color: '#B9C6E4', lineHeight: 1.55, marginTop: 12 }}&gt;&#10;                    注册页一加载就生成好并填进输入框，用户改不了。注册页本身不做校验 —— 校验只发生在登录页、账户页和捕获推荐参数这三处，用的是同一条规则。&#10;                &lt;/Text&gt;&#10;            &lt;/Box&gt;&#10;        &lt;/Box&gt;&#10;&#10;        {/* 两处默认值 */}&#10;        &lt;Box style={{ flex: 1, flexDirection: 'row', gap: 18 }}&gt;&#10;            &lt;Box style={{ flex: 1, background: '#F4F6F8', borderRadius: 10, padding: '16px 18px', flexDirection: 'column' }}&gt;&#10;                &lt;Box style={{ flexDirection: 'row', alignItems: 'center', gap: 10, marginBottom: 10 }}&gt;&#10;                    &lt;FAIcon name='cog' style={{ fill: '#2AA7CF', width: 20, height: 20 }} /&gt;&#10;                    &lt;Text style={{ fontSize: 19, fontWeight: 'bold', color: '#202259' }}&gt;ID 在哪生成、在哪校验&lt;/Text&gt;&#10;                &lt;/Box&gt;&#10;                &lt;Box style={{ flex: 1, flexDirection: 'column', gap: 8 }}&gt;&#10;                    &lt;Box style={{ flexDirection: 'row', gap: 10, alignItems: 'center', background: '#FFFFFF', borderRadius: 6, padding: '9px 12px' }}&gt;&#10;                        &lt;Text style={{ fontSize: 15, color: '#202259', fontFamily: 'Menlo, ui-monospace, monospace', width: 62 }}&gt;生成&lt;/Text&gt;&#10;                        &lt;Text style={{ fontSize: 15, color: '#3F4A55', flex: 1, lineHeight: 1.35 }}&gt;注册页加载时逐位随机拼出八位数字，前面加 NG 前缀&lt;/Text&gt;&#10;                    &lt;/Box&gt;&#10;                    {[&#10;                        { k: '登录页', v: '校验会员 ID 格式，不合法直接提示' },&#10;                        { k: '账户页', v: '输入框限长并按同规则判断' },&#10;                        { k: '推荐参数', v: '捕获链接参数时只接受合规会员 ID' },&#10;                    ].map(function (it, i) {&#10;                        return (&#10;                            &lt;Box key={i} style={{ flexDirection: 'row', gap: 10, alignItems: 'center', background: '#FFFFFF', borderRadius: 6, padding: '9px 12px' }}&gt;&#10;                                &lt;Text style={{ fontSize: 15, color: '#202259', fontFamily: 'Menlo, ui-monospace, monospace', width: 62 }}&gt;{it.k}&lt;/Text&gt;&#10;                                &lt;Text style={{ fontSize: 15, color: '#3F4A55', flex: 1, lineHeight: 1.35 }}&gt;{it.v}&lt;/Text&gt;&#10;                            &lt;/Box&gt;&#10;                        );&#10;                    })}&#10;                &lt;/Box&gt;&#10;            &lt;/Box&gt;&#10;&#10;            &lt;Box style={{ flex: 1, background: 'rgba(242,135,183,0.14)', border: '2px solid #F287B7', borderRadius: 10, padding: '16px 18px', flexDirection: 'column' }}&gt;&#10;                &lt;Box style={{ flexDirection: 'row', alignItems: 'center', gap: 10, marginBottom: 10 }}&gt;&#10;                    &lt;FAIcon name='exclamation-triangle' style={{ fill: '#B3528A', width: 20, height: 20 }} /&gt;&#10;                    &lt;Text style={{ fontSize: 19, fontWeight: 'bold', color: '#7A2F5C' }}&gt;推荐人字段的默认值&lt;/Text&gt;&#10;                &lt;/Box&gt;&#10;                &lt;Text style={{ fontSize: 16, color: '#4A3040', lineHeight: 1.55 }}&gt;&#10;                    如果客户不是通过推荐链接进来的，推荐人字段会被预填成一个**写死的会员 ID**：&lt;span style={{ fontFamily: 'Menlo, ui-monospace, monospace', fontWeight: 'bold' }}&gt;NG00000001&lt;/span&gt;。&#10;                &lt;/Text&gt;&#10;                &lt;Text style={{ fontSize: 16, color: '#4A3040', lineHeight: 1.55, marginTop: 9 }}&gt;&#10;                    提交时只要推荐人不等于新会员自己，就会记账。所以——**每次没有带链接的注册，都会给这个 ID 记一笔推荐 BV。**&#10;                &lt;/Text&gt;&#10;                &lt;Text style={{ fontSize: 15, color: '#7A2F5C', lineHeight: 1.5, marginTop: 'auto', paddingTop: 10 }}&gt;&#10;                    这条务必要提前说清，否则被问到&quot;为什么这个账号一直有奖金&quot;会解释不清。&#10;                &lt;/Text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12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Member ID </a:t>
            </a: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与推荐人默认值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一个字段系统生成、不可改；另一个字段有个写死的默认值，这件事必须说清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571500" y="1143000"/>
            <a:ext cx="11049000" cy="2057400"/>
          </a:xfrm>
          <a:prstGeom prst="roundRect">
            <a:avLst>
              <a:gd name="adj" fmla="val 463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57250" y="1695450"/>
            <a:ext cx="453390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 spc="-225">
                <a:solidFill>
                  <a:srgbClr val="FFFFFF"/>
                </a:solidFill>
                <a:latin typeface="Menlo"/>
                <a:ea typeface="Menlo"/>
              </a:rPr>
              <a:t>NG12345678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5657850" y="1714500"/>
            <a:ext cx="723900" cy="238125"/>
          </a:xfrm>
          <a:prstGeom prst="roundRect">
            <a:avLst>
              <a:gd name="adj" fmla="val 16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772150" y="17526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Inter"/>
                <a:ea typeface="Inter"/>
              </a:rPr>
              <a:t>共</a:t>
            </a:r>
            <a:r>
              <a:rPr lang="en-US" sz="1050" b="1">
                <a:solidFill>
                  <a:srgbClr val="FFFFFF"/>
                </a:solidFill>
                <a:latin typeface="Inter"/>
                <a:ea typeface="Inter"/>
              </a:rPr>
              <a:t> 10 </a:t>
            </a:r>
            <a:r>
              <a:rPr lang="zh-CN" sz="1050" b="1">
                <a:solidFill>
                  <a:srgbClr val="FFFFFF"/>
                </a:solidFill>
                <a:latin typeface="Inter"/>
                <a:ea typeface="Inter"/>
              </a:rPr>
              <a:t>位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477000" y="1743075"/>
            <a:ext cx="2952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FD3EC"/>
                </a:solidFill>
                <a:latin typeface="Inter"/>
                <a:ea typeface="Inter"/>
              </a:rPr>
              <a:t>NG </a:t>
            </a:r>
            <a:r>
              <a:rPr lang="zh-CN" sz="1200">
                <a:solidFill>
                  <a:srgbClr val="7FD3EC"/>
                </a:solidFill>
                <a:latin typeface="Inter"/>
                <a:ea typeface="Inter"/>
              </a:rPr>
              <a:t>前缀</a:t>
            </a:r>
            <a:r>
              <a:rPr lang="en-US" sz="1200">
                <a:solidFill>
                  <a:srgbClr val="7FD3EC"/>
                </a:solidFill>
                <a:latin typeface="Inter"/>
                <a:ea typeface="Inter"/>
              </a:rPr>
              <a:t> + 8 </a:t>
            </a:r>
            <a:r>
              <a:rPr lang="zh-CN" sz="1200">
                <a:solidFill>
                  <a:srgbClr val="7FD3EC"/>
                </a:solidFill>
                <a:latin typeface="Inter"/>
                <a:ea typeface="Inter"/>
              </a:rPr>
              <a:t>位数字</a:t>
            </a:r>
            <a:r>
              <a:rPr lang="en-US" sz="1200">
                <a:solidFill>
                  <a:srgbClr val="7FD3EC"/>
                </a:solidFill>
                <a:latin typeface="Inter"/>
                <a:ea typeface="Inter"/>
              </a:rPr>
              <a:t> · </a:t>
            </a:r>
            <a:r>
              <a:rPr lang="zh-CN" sz="1200">
                <a:solidFill>
                  <a:srgbClr val="7FD3EC"/>
                </a:solidFill>
                <a:latin typeface="Inter"/>
                <a:ea typeface="Inter"/>
              </a:rPr>
              <a:t>系统生成</a:t>
            </a:r>
            <a:r>
              <a:rPr lang="en-US" sz="1200">
                <a:solidFill>
                  <a:srgbClr val="7FD3EC"/>
                </a:solidFill>
                <a:latin typeface="Inter"/>
                <a:ea typeface="Inter"/>
              </a:rPr>
              <a:t> · </a:t>
            </a:r>
            <a:r>
              <a:rPr lang="zh-CN" sz="1200">
                <a:solidFill>
                  <a:srgbClr val="7FD3EC"/>
                </a:solidFill>
                <a:latin typeface="Inter"/>
                <a:ea typeface="Inter"/>
              </a:rPr>
              <a:t>字段只读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657850" y="2066925"/>
            <a:ext cx="56769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注册页一加载就生成好并填进输入框，用户改不了。注册页本身不做校验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校验只发生在登录页、账户页和捕获推荐参数这三处，用的是同一条规则。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571500" y="3390900"/>
            <a:ext cx="5438775" cy="2895600"/>
          </a:xfrm>
          <a:prstGeom prst="roundRect">
            <a:avLst>
              <a:gd name="adj" fmla="val 3289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2950" y="3562350"/>
            <a:ext cx="190500" cy="190500"/>
          </a:xfrm>
          <a:prstGeom prst="rect">
            <a:avLst/>
          </a:prstGeom>
          <a:ln/>
        </p:spPr>
      </p:pic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28700" y="3543300"/>
            <a:ext cx="186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ID </a:t>
            </a: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在哪生成、在哪校验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42950" y="3857625"/>
            <a:ext cx="5095875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57250" y="3981450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2259"/>
                </a:solidFill>
                <a:latin typeface="Menlo"/>
                <a:ea typeface="Menlo"/>
              </a:rPr>
              <a:t>生成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543050" y="3943350"/>
            <a:ext cx="4181475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注册页加载时逐位随机拼出八位数字，前面加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NG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前缀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742950" y="4343400"/>
            <a:ext cx="5095875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57250" y="4467225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2259"/>
                </a:solidFill>
                <a:latin typeface="Menlo"/>
                <a:ea typeface="Menlo"/>
              </a:rPr>
              <a:t>登录页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543050" y="4429125"/>
            <a:ext cx="4181475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校验会员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ID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格式，不合法直接提示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742950" y="4829175"/>
            <a:ext cx="5095875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57250" y="4953000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2259"/>
                </a:solidFill>
                <a:latin typeface="Menlo"/>
                <a:ea typeface="Menlo"/>
              </a:rPr>
              <a:t>账户页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543050" y="4914900"/>
            <a:ext cx="4181475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输入框限长并按同规则判断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742950" y="5314950"/>
            <a:ext cx="5095875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57250" y="5438775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2259"/>
                </a:solidFill>
                <a:latin typeface="Menlo"/>
                <a:ea typeface="Menlo"/>
              </a:rPr>
              <a:t>推荐参数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543050" y="5400675"/>
            <a:ext cx="4181475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捕获链接参数时只接受合规会员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ID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181725" y="3390900"/>
            <a:ext cx="5438775" cy="2895600"/>
          </a:xfrm>
          <a:prstGeom prst="roundRect">
            <a:avLst>
              <a:gd name="adj" fmla="val 3289"/>
            </a:avLst>
          </a:prstGeom>
          <a:solidFill>
            <a:srgbClr val="F287B7">
              <a:alpha val="14000"/>
            </a:srgbClr>
          </a:solidFill>
          <a:ln w="25400">
            <a:solidFill>
              <a:srgbClr val="F287B7"/>
            </a:solidFill>
            <a:prstDash val="solid"/>
          </a:ln>
        </p:spPr>
        <p:txBody>
          <a:bodyPr/>
          <a:p/>
        </p:txBody>
      </p:sp>
      <p:pic>
        <p:nvPicPr>
          <p:cNvPr id="1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353175" y="3562350"/>
            <a:ext cx="190500" cy="190500"/>
          </a:xfrm>
          <a:prstGeom prst="rect">
            <a:avLst/>
          </a:prstGeom>
          <a:ln/>
        </p:spPr>
      </p:pic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638925" y="3543300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7A2F5C"/>
                </a:solidFill>
                <a:latin typeface="Inter"/>
                <a:ea typeface="Inter"/>
              </a:rPr>
              <a:t>推荐人字段的默认值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353175" y="3857625"/>
            <a:ext cx="50958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如果客户不是通过推荐链接进来的，推荐人字段会被预填成一个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**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写死的会员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 ID**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：</a:t>
            </a:r>
            <a:r>
              <a:rPr lang="en-US" sz="1200" b="1">
                <a:solidFill>
                  <a:srgbClr val="4A3040"/>
                </a:solidFill>
                <a:latin typeface="Inter"/>
                <a:ea typeface="Inter"/>
              </a:rPr>
              <a:t>NG00000001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353175" y="4514850"/>
            <a:ext cx="50958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提交时只要推荐人不等于新会员自己，就会记账。所以——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**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每次没有带链接的注册，都会给这个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 ID 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记一笔推荐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 BV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。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**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353175" y="5781675"/>
            <a:ext cx="5095875" cy="352425"/>
          </a:xfrm>
          <a:prstGeom prst="rect"/>
        </p:spPr>
        <p:txBody>
          <a:bodyPr wrap="none" lIns="0" tIns="71438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7A2F5C"/>
                </a:solidFill>
                <a:latin typeface="Inter"/>
                <a:ea typeface="Inter"/>
              </a:rPr>
              <a:t>这条务必要提前说清，否则被问到</a:t>
            </a:r>
            <a:r>
              <a:rPr lang="en-US" sz="1125">
                <a:solidFill>
                  <a:srgbClr val="7A2F5C"/>
                </a:solidFill>
                <a:latin typeface="Inter"/>
                <a:ea typeface="Inter"/>
              </a:rPr>
              <a:t>"</a:t>
            </a:r>
            <a:r>
              <a:rPr lang="zh-CN" sz="1125">
                <a:solidFill>
                  <a:srgbClr val="7A2F5C"/>
                </a:solidFill>
                <a:latin typeface="Inter"/>
                <a:ea typeface="Inter"/>
              </a:rPr>
              <a:t>为什么这个账号一直有奖金</a:t>
            </a:r>
            <a:r>
              <a:rPr lang="en-US" sz="1125">
                <a:solidFill>
                  <a:srgbClr val="7A2F5C"/>
                </a:solidFill>
                <a:latin typeface="Inter"/>
                <a:ea typeface="Inter"/>
              </a:rPr>
              <a:t>"</a:t>
            </a:r>
            <a:r>
              <a:rPr lang="zh-CN" sz="1125">
                <a:solidFill>
                  <a:srgbClr val="7A2F5C"/>
                </a:solidFill>
                <a:latin typeface="Inter"/>
                <a:ea typeface="Inter"/>
              </a:rPr>
              <a:t>会解释不清。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12 / 31</a:t>
            </a:r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1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提交即下单，并自动登录&lt;/Text&gt;&#10;        &lt;Text style={{ fontSize: 16, color: '#5C646A', lineHeight: 1.4, marginTop: 6 }}&gt;&#10;            客户以为在注册，其实订单已经生效了 —— 注册和首购是同一个动作&#10;        &lt;/Text&gt;&#10;    &lt;/Box&gt;&#10;&#10;    {/* ===== B 区（左标题 + 右内容） ===== */}&#10;    &lt;Box style={{ height: 540, flexDirection: 'row', gap: 24 }}&gt;&#10;        {/* 左标题栏 */}&#10;        &lt;Box style={{ width: 340, background: '#202259', borderRadius: 10, padding: '26px 24px', flexDirection: 'column' }}&gt;&#10;            &lt;Text style={{ fontSize: 15, color: '#7FD3EC', letterSpacing: 2, fontWeight: 'bold' }}&gt;SUBMIT&lt;/Text&gt;&#10;            &lt;Text style={{ fontSize: 32, fontWeight: 'bold', color: '#FFFFFF', lineHeight: 1.2, marginTop: 12 }}&gt;&#10;                点下 Save&#10;                &lt;br /&gt;&#10;                那一刻&#10;            &lt;/Text&gt;&#10;            &lt;Text style={{ fontSize: 17, color: '#B9C6E4', lineHeight: 1.6, marginTop: 16 }}&gt;&#10;                这一次点击同时完成五件事：建账户、写购物车、生成订单、记推荐返佣、然后自动登录。客户不需要再去登录页走一遍。&#10;            &lt;/Text&gt;&#10;&#10;            &lt;Box style={{ marginTop: 'auto', paddingTop: 18, borderTop: '1px solid rgba(127,211,236,0.3)' }}&gt;&#10;                &lt;Box style={{ flexDirection: 'row', alignItems: 'center', gap: 10 }}&gt;&#10;                    &lt;FAIcon name='hourglass-half' style={{ fill: '#7FD3EC', width: 20, height: 20 }} /&gt;&#10;                    &lt;Text style={{ fontSize: 16, color: '#CFE9F4', lineHeight: 1.45 }}&gt;&#10;                        按钮变成倒计时，三秒后自动进入我的账户页&#10;                    &lt;/Text&gt;&#10;                &lt;/Box&gt;&#10;            &lt;/Box&gt;&#10;        &lt;/Box&gt;&#10;&#10;        {/* 右侧五处写入 */}&#10;        &lt;Box style={{ flex: 1, flexDirection: 'column', gap: 10 }}&gt;&#10;            {[&#10;                { k: 'al.auth.user', t: '写登录态', d: '把整份表单数据写进本地登录态，同时广播一次登录状态变化 —— 页面头部立刻从&quot;登录&quot;变成会员头像和退出按钮。', c: '#202259' },&#10;                { k: 'al.cart', t: '重建购物车', d: '先清空购物车，再把刚才勾选的商品逐条写进去。注册完直接进结算页，看到的正好是这批货。', c: '#202259' },&#10;                { k: 'al.orders', t: '生成订单', d: '订单状态是 completed，归属人用的是刚刚生成的会员 ID —— 这就是这笔单能在账户里看到的原因。', c: '#2AA7CF' },&#10;                { k: 'al.bvCredits', t: '写推荐返佣', d: '推荐人有效且不是本人时，往 BV 台账记一条流水。这是推荐关系第一次真正产生价值。', c: '#F287B7' },&#10;                { k: '跳转', t: '倒计时进账户页', d: '按钮文案变成&quot;Redirecting in 3s&quot;并逐秒递减，归零后进入我的账户页。', c: '#859EB3' },&#10;            ].map(function (it, i) {&#10;                return (&#10;                    &lt;Box key={i} style={{ flex: 1, flexDirection: 'row', gap: 16, alignItems: 'center', background: '#F4F6F8', borderRadius: 8, padding: '0 18px', borderLeft: '4px solid ' + it.c }}&gt;&#10;                        &lt;Box style={{ width: 128, flexDirection: 'column' }}&gt;&#10;                            &lt;Text style={{ fontSize: 15, color: '#202259', fontFamily: 'Menlo, ui-monospace, monospace' }}&gt;{it.k}&lt;/Text&gt;&#10;                            &lt;Text style={{ fontSize: 14, color: '#5C646A', marginTop: 2 }}&gt;{it.t}&lt;/Text&gt;&#10;                        &lt;/Box&gt;&#10;                        &lt;Text style={{ fontSize: 16, color: '#3F4A55', flex: 1, lineHeight: 1.45 }}&gt;{it.d}&lt;/Text&gt;&#10;                    &lt;/Box&gt;&#10;                );&#10;            })}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13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提交即下单，并自动登录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客户以为在注册，其实订单已经生效了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注册和首购是同一个动作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571500" y="1143000"/>
            <a:ext cx="3238500" cy="5143500"/>
          </a:xfrm>
          <a:prstGeom prst="roundRect">
            <a:avLst>
              <a:gd name="adj" fmla="val 2941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00100" y="1390650"/>
            <a:ext cx="278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SUBMIT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00100" y="1676400"/>
            <a:ext cx="2781300" cy="885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Inter"/>
                <a:ea typeface="Inter"/>
              </a:rPr>
              <a:t>点下</a:t>
            </a:r>
            <a:r>
              <a:rPr lang="en-US" sz="2400" b="1">
                <a:solidFill>
                  <a:srgbClr val="FFFFFF"/>
                </a:solidFill>
                <a:latin typeface="Inter"/>
                <a:ea typeface="Inter"/>
              </a:rPr>
              <a:t> Save</a:t>
            </a:r>
            <a:endParaRPr/>
          </a:p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Inter"/>
                <a:ea typeface="Inter"/>
              </a:rPr>
              <a:t>那一刻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00100" y="2714625"/>
            <a:ext cx="27813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这一次点击同时完成五件事：建账户、写购物车、生成订单、记推荐返佣、然后自动登录。客户不需要再去登录页走一遍。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800100" y="5324475"/>
            <a:ext cx="2781300" cy="723900"/>
          </a:xfrm>
          <a:custGeom>
            <a:pathLst>
              <a:path w="292" h="76">
                <a:moveTo>
                  <a:pt x="0" y="0"/>
                </a:moveTo>
                <a:lnTo>
                  <a:pt x="292" y="0"/>
                </a:lnTo>
                <a:lnTo>
                  <a:pt x="292" y="1"/>
                </a:lnTo>
                <a:lnTo>
                  <a:pt x="0" y="1"/>
                </a:lnTo>
                <a:close/>
              </a:path>
            </a:pathLst>
          </a:custGeom>
          <a:solidFill>
            <a:srgbClr val="7FD3EC">
              <a:alpha val="30000"/>
            </a:srgbClr>
          </a:solidFill>
          <a:ln/>
        </p:spPr>
        <p:txBody>
          <a:bodyPr/>
          <a:p/>
        </p:txBody>
      </p:sp>
      <p:pic>
        <p:nvPicPr>
          <p:cNvPr id="1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5676900"/>
            <a:ext cx="190500" cy="190500"/>
          </a:xfrm>
          <a:prstGeom prst="rect">
            <a:avLst/>
          </a:prstGeom>
          <a:ln/>
        </p:spPr>
      </p:pic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066800" y="5505450"/>
            <a:ext cx="2514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按钮变成倒计时，三秒后自动进入我的账户页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4076700" y="1143000"/>
            <a:ext cx="7581900" cy="990600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4076700" y="1143000"/>
            <a:ext cx="7581900" cy="990600"/>
          </a:xfrm>
          <a:custGeom>
            <a:pathLst>
              <a:path w="796" h="10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00"/>
                </a:lnTo>
                <a:cubicBezTo>
                  <a:pt x="4" y="102"/>
                  <a:pt x="5" y="104"/>
                  <a:pt x="7" y="104"/>
                </a:cubicBezTo>
                <a:cubicBezTo>
                  <a:pt x="3" y="104"/>
                  <a:pt x="0" y="100"/>
                  <a:pt x="0" y="9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248150" y="146685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al.auth.user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248150" y="1657350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46A"/>
                </a:solidFill>
                <a:latin typeface="Inter"/>
                <a:ea typeface="Inter"/>
              </a:rPr>
              <a:t>写登录态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619750" y="1371600"/>
            <a:ext cx="5829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把整份表单数据写进本地登录态，同时广播一次登录状态变化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页面头部立刻从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登录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变成会员头像和退出按钮。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4076700" y="2228850"/>
            <a:ext cx="7581900" cy="990600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4076700" y="2228850"/>
            <a:ext cx="7581900" cy="990600"/>
          </a:xfrm>
          <a:custGeom>
            <a:pathLst>
              <a:path w="796" h="10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00"/>
                </a:lnTo>
                <a:cubicBezTo>
                  <a:pt x="4" y="102"/>
                  <a:pt x="5" y="104"/>
                  <a:pt x="7" y="104"/>
                </a:cubicBezTo>
                <a:cubicBezTo>
                  <a:pt x="3" y="104"/>
                  <a:pt x="0" y="100"/>
                  <a:pt x="0" y="9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248150" y="255270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al.cart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248150" y="2743200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46A"/>
                </a:solidFill>
                <a:latin typeface="Inter"/>
                <a:ea typeface="Inter"/>
              </a:rPr>
              <a:t>重建购物车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619750" y="2457450"/>
            <a:ext cx="5829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先清空购物车，再把刚才勾选的商品逐条写进去。注册完直接进结算页，看到的正好是这批货。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4076700" y="3314700"/>
            <a:ext cx="7581900" cy="981075"/>
          </a:xfrm>
          <a:prstGeom prst="roundRect">
            <a:avLst>
              <a:gd name="adj" fmla="val 7767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4076700" y="3314700"/>
            <a:ext cx="7581900" cy="981075"/>
          </a:xfrm>
          <a:custGeom>
            <a:pathLst>
              <a:path w="796" h="10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9"/>
                </a:lnTo>
                <a:cubicBezTo>
                  <a:pt x="4" y="101"/>
                  <a:pt x="5" y="103"/>
                  <a:pt x="7" y="103"/>
                </a:cubicBezTo>
                <a:cubicBezTo>
                  <a:pt x="3" y="103"/>
                  <a:pt x="0" y="99"/>
                  <a:pt x="0" y="9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248150" y="362902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al.orders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248150" y="3819525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46A"/>
                </a:solidFill>
                <a:latin typeface="Inter"/>
                <a:ea typeface="Inter"/>
              </a:rPr>
              <a:t>生成订单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619750" y="3543300"/>
            <a:ext cx="5829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订单状态是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completed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，归属人用的是刚刚生成的会员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ID ——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这就是这笔单能在账户里看到的原因。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4076700" y="4391025"/>
            <a:ext cx="7581900" cy="990600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4076700" y="4391025"/>
            <a:ext cx="7581900" cy="990600"/>
          </a:xfrm>
          <a:custGeom>
            <a:pathLst>
              <a:path w="796" h="10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00"/>
                </a:lnTo>
                <a:cubicBezTo>
                  <a:pt x="4" y="102"/>
                  <a:pt x="5" y="104"/>
                  <a:pt x="7" y="104"/>
                </a:cubicBezTo>
                <a:cubicBezTo>
                  <a:pt x="3" y="104"/>
                  <a:pt x="0" y="100"/>
                  <a:pt x="0" y="9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248150" y="471487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2259"/>
                </a:solidFill>
                <a:latin typeface="Menlo"/>
                <a:ea typeface="Menlo"/>
              </a:rPr>
              <a:t>al.bvCredits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248150" y="4905375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46A"/>
                </a:solidFill>
                <a:latin typeface="Inter"/>
                <a:ea typeface="Inter"/>
              </a:rPr>
              <a:t>写推荐返佣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619750" y="4619625"/>
            <a:ext cx="5829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推荐人有效且不是本人时，往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台账记一条流水。这是推荐关系第一次真正产生价值。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4076700" y="5476875"/>
            <a:ext cx="7581900" cy="809625"/>
          </a:xfrm>
          <a:prstGeom prst="roundRect">
            <a:avLst>
              <a:gd name="adj" fmla="val 941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4076700" y="5476875"/>
            <a:ext cx="7581900" cy="809625"/>
          </a:xfrm>
          <a:custGeom>
            <a:pathLst>
              <a:path w="796" h="8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1"/>
                </a:lnTo>
                <a:cubicBezTo>
                  <a:pt x="4" y="83"/>
                  <a:pt x="5" y="85"/>
                  <a:pt x="7" y="85"/>
                </a:cubicBezTo>
                <a:cubicBezTo>
                  <a:pt x="3" y="85"/>
                  <a:pt x="0" y="81"/>
                  <a:pt x="0" y="7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859EB3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248150" y="570547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2259"/>
                </a:solidFill>
                <a:latin typeface="Menlo"/>
                <a:ea typeface="Menlo"/>
              </a:rPr>
              <a:t>跳转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248150" y="5895975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46A"/>
                </a:solidFill>
                <a:latin typeface="Inter"/>
                <a:ea typeface="Inter"/>
              </a:rPr>
              <a:t>倒计时进账户页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619750" y="5753100"/>
            <a:ext cx="58293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按钮文案变成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"Redirecting in 3s"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并逐秒递减，归零后进入我的账户页。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13 / 31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90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注册订单在账户里的样子&lt;/Text&gt;&#10;        &lt;Text style={{ fontSize: 16, color: '#5C646A', lineHeight: 1.4, marginTop: 6 }}&gt;&#10;            看得到，但它和结算页下的单不是同一套字段形态 —— 这会带来两处可见后果&#10;        &lt;/Text&gt;&#10;    &lt;/Box&gt;&#10;&#10;    {/* ===== B 区（非对称双栏） ===== */}&#10;    &lt;Box style={{ height: 540, flexDirection: 'row', gap: 24 }}&gt;&#10;        {/* 左：结论与后果 */}&#10;        &lt;Box style={{ width: 400, background: '#202259', borderRadius: 10, padding: '24px 22px', flexDirection: 'column' }}&gt;&#10;            &lt;Text style={{ fontSize: 15, color: '#7FD3EC', letterSpacing: 1.8, fontWeight: 'bold' }}&gt;SAME RESULT&lt;/Text&gt;&#10;            &lt;Text style={{ fontSize: 26, fontWeight: 'bold', color: '#FFFFFF', lineHeight: 1.25, marginTop: 10 }}&gt;&#10;                账户里看得见&#10;                &lt;br /&gt;&#10;                字段形态不一样&#10;            &lt;/Text&gt;&#10;            &lt;Text style={{ fontSize: 16, color: '#B9C6E4', lineHeight: 1.55, marginTop: 14 }}&gt;&#10;                注册路径的订单和结算路径的订单，是两段独立代码各自拼出来的。它们都会落进同一个订单数组，但字段名和写法不同。&#10;            &lt;/Text&gt;&#10;&#10;            &lt;Box style={{ marginTop: 18, flexDirection: 'column', gap: 10 }}&gt;&#10;                {[&#10;                    { t: '地址列显示 No address provided', d: '因为账户页读的是嵌套对象里的地址字段，而注册单把地址平铺存了。' },&#10;                    { t: '付款状态显示 Unpaid', d: '注册单的状态是 completed，不匹配已支付或待支付两个判断，最终落到默认的未支付标签。' },&#10;                ].map(function (it, i) {&#10;                    return (&#10;                        &lt;Box key={i} style={{ background: 'rgba(242,135,183,0.18)', borderRadius: 8, padding: '12px 14px', flexDirection: 'column' }}&gt;&#10;                            &lt;Text style={{ fontSize: 16, fontWeight: 'bold', color: '#FBE0EE' }}&gt;{it.t}&lt;/Text&gt;&#10;                            &lt;Text style={{ fontSize: 15, color: '#E3C7D8', lineHeight: 1.45, marginTop: 4 }}&gt;{it.d}&lt;/Text&gt;&#10;                        &lt;/Box&gt;&#10;                    );&#10;                })}&#10;            &lt;/Box&gt;&#10;&#10;            &lt;Text style={{ fontSize: 15, color: '#859EB3', lineHeight: 1.5, marginTop: 'auto', paddingTop: 14 }}&gt;&#10;                这两处都不是数据错误 —— 是两段代码没有对齐字段约定。&#10;            &lt;/Text&gt;&#10;        &lt;/Box&gt;&#10;&#10;        {/* 右：差异对照表 */}&#10;        &lt;Box style={{ flex: 1, flexDirection: 'column' }}&gt;&#10;            &lt;Box style={{ flexDirection: 'row', gap: 8, marginBottom: 8 }}&gt;&#10;                &lt;Box style={{ width: 158, height: 44, justifyContent: 'center', paddingLeft: 14 }}&gt;&#10;                    &lt;Text style={{ fontSize: 15, fontWeight: 'bold', color: '#5C646A' }}&gt;字段&lt;/Text&gt;&#10;                &lt;/Box&gt;&#10;                &lt;Box style={{ width: 262, height: 44, background: '#2AA7CF', borderRadius: 8, justifyContent: 'center', alignItems: 'center' }}&gt;&#10;                    &lt;Text style={{ fontSize: 16, fontWeight: 'bold', color: '#FFFFFF' }}&gt;注册路径下的单&lt;/Text&gt;&#10;                &lt;/Box&gt;&#10;                &lt;Box style={{ flex: 1, height: 44, background: '#202259', borderRadius: 8, justifyContent: 'center', alignItems: 'center' }}&gt;&#10;                    &lt;Text style={{ fontSize: 16, fontWeight: 'bold', color: '#FFFFFF' }}&gt;结算页下的单&lt;/Text&gt;&#10;                &lt;/Box&gt;&#10;            &lt;/Box&gt;&#10;&#10;            &lt;Box style={{ flex: 1, flexDirection: 'column', gap: 6 }}&gt;&#10;                {[&#10;                    { k: '归属字段', a: '只有权益归属人，没有实际操作人', b: '两个字段都有，都是本人 ID' },&#10;                    { k: '订单状态', a: 'completed', b: 'pending' },&#10;                    { k: '支付状态', a: '没有这个字段', b: 'Unpaid（余额支付则 Paid）' },&#10;                    { k: '日期类型', a: 'ISO 格式字符串', b: '时间戳数字' },&#10;                    { k: '客户与配送', a: '平铺字段：详细地址、城市、区域', b: '嵌套对象：客户信息、配送信息' },&#10;                    { k: '写入位置', a: '追加到订单数组末尾', b: '插到订单数组最前面' },&#10;                ].map(function (it, i) {&#10;                    return (&#10;                        &lt;Box key={i} style={{ flex: 1, flexDirection: 'row', gap: 8 }}&gt;&#10;                            &lt;Box style={{ width: 158, background: '#F4F6F8', borderRadius: 8, padding: '0 14px', justifyContent: 'center' }}&gt;&#10;                                &lt;Text style={{ fontSize: 16, fontWeight: 'bold', color: '#202259' }}&gt;{it.k}&lt;/Text&gt;&#10;                            &lt;/Box&gt;&#10;                            &lt;Box style={{ width: 262, background: 'rgba(42,167,207,0.10)', borderRadius: 8, padding: '0 14px', justifyContent: 'center' }}&gt;&#10;                                &lt;Text style={{ fontSize: 15, color: '#3F4A55', lineHeight: 1.35 }}&gt;{it.a}&lt;/Text&gt;&#10;                            &lt;/Box&gt;&#10;                            &lt;Box style={{ flex: 1, background: '#FFFFFF', border: '1px solid #E3E6E8', borderRadius: 8, padding: '0 14px', justifyContent: 'center' }}&gt;&#10;                                &lt;Text style={{ fontSize: 15, color: '#3F4A55', lineHeight: 1.35 }}&gt;{it.b}&lt;/Text&gt;&#10;                            &lt;/Box&gt;&#10;                        &lt;/Box&gt;&#10;                    );&#10;                })}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14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注册订单在账户里的样子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看得到，但它和结算页下的单不是同一套字段形态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这会带来两处可见后果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571500" y="1143000"/>
            <a:ext cx="3810000" cy="5295900"/>
          </a:xfrm>
          <a:prstGeom prst="roundRect">
            <a:avLst>
              <a:gd name="adj" fmla="val 25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81050" y="1371600"/>
            <a:ext cx="339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35">
                <a:solidFill>
                  <a:srgbClr val="7FD3EC"/>
                </a:solidFill>
                <a:latin typeface="Inter"/>
                <a:ea typeface="Inter"/>
              </a:rPr>
              <a:t>SAME RESULT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81050" y="1638300"/>
            <a:ext cx="33909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950" b="1">
                <a:solidFill>
                  <a:srgbClr val="FFFFFF"/>
                </a:solidFill>
                <a:latin typeface="Inter"/>
                <a:ea typeface="Inter"/>
              </a:rPr>
              <a:t>账户里看得见</a:t>
            </a:r>
            <a:endParaRPr/>
          </a:p>
          <a:p>
            <a:pPr>
              <a:lnSpc>
                <a:spcPct val="125000"/>
              </a:lnSpc>
            </a:pPr>
            <a:r>
              <a:rPr lang="zh-CN" sz="1950" b="1">
                <a:solidFill>
                  <a:srgbClr val="FFFFFF"/>
                </a:solidFill>
                <a:latin typeface="Inter"/>
                <a:ea typeface="Inter"/>
              </a:rPr>
              <a:t>字段形态不一样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81050" y="2514600"/>
            <a:ext cx="33909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注册路径的订单和结算路径的订单，是两段独立代码各自拼出来的。它们都会落进同一个订单数组，但字段名和写法不同。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781050" y="3543300"/>
            <a:ext cx="3390900" cy="962025"/>
          </a:xfrm>
          <a:prstGeom prst="roundRect">
            <a:avLst>
              <a:gd name="adj" fmla="val 7921"/>
            </a:avLst>
          </a:prstGeom>
          <a:solidFill>
            <a:srgbClr val="F287B7">
              <a:alpha val="18000"/>
            </a:srgbClr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914400" y="3657600"/>
            <a:ext cx="3124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BE0EE"/>
                </a:solidFill>
                <a:latin typeface="Inter"/>
                <a:ea typeface="Inter"/>
              </a:rPr>
              <a:t>地址列显示</a:t>
            </a:r>
            <a:r>
              <a:rPr lang="en-US" sz="1200" b="1">
                <a:solidFill>
                  <a:srgbClr val="FBE0EE"/>
                </a:solidFill>
                <a:latin typeface="Inter"/>
                <a:ea typeface="Inter"/>
              </a:rPr>
              <a:t> No address provided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14400" y="3886200"/>
            <a:ext cx="31242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E3C7D8"/>
                </a:solidFill>
                <a:latin typeface="Inter"/>
                <a:ea typeface="Inter"/>
              </a:rPr>
              <a:t>因为账户页读的是嵌套对象里的地址字段，而注册单把地址平铺存了。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781050" y="4600575"/>
            <a:ext cx="3390900" cy="962025"/>
          </a:xfrm>
          <a:prstGeom prst="roundRect">
            <a:avLst>
              <a:gd name="adj" fmla="val 7921"/>
            </a:avLst>
          </a:prstGeom>
          <a:solidFill>
            <a:srgbClr val="F287B7">
              <a:alpha val="18000"/>
            </a:srgbClr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914400" y="4714875"/>
            <a:ext cx="3124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BE0EE"/>
                </a:solidFill>
                <a:latin typeface="Inter"/>
                <a:ea typeface="Inter"/>
              </a:rPr>
              <a:t>付款状态显示</a:t>
            </a:r>
            <a:r>
              <a:rPr lang="en-US" sz="1200" b="1">
                <a:solidFill>
                  <a:srgbClr val="FBE0EE"/>
                </a:solidFill>
                <a:latin typeface="Inter"/>
                <a:ea typeface="Inter"/>
              </a:rPr>
              <a:t> Unpaid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914400" y="4943475"/>
            <a:ext cx="31242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E3C7D8"/>
                </a:solidFill>
                <a:latin typeface="Inter"/>
                <a:ea typeface="Inter"/>
              </a:rPr>
              <a:t>注册单的状态是</a:t>
            </a:r>
            <a:r>
              <a:rPr lang="en-US" sz="1125">
                <a:solidFill>
                  <a:srgbClr val="E3C7D8"/>
                </a:solidFill>
                <a:latin typeface="Inter"/>
                <a:ea typeface="Inter"/>
              </a:rPr>
              <a:t> completed</a:t>
            </a:r>
            <a:r>
              <a:rPr lang="zh-CN" sz="1125">
                <a:solidFill>
                  <a:srgbClr val="E3C7D8"/>
                </a:solidFill>
                <a:latin typeface="Inter"/>
                <a:ea typeface="Inter"/>
              </a:rPr>
              <a:t>，不匹配已支付或待支付两个判断，最终落到默认的未支付标签。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81050" y="5562600"/>
            <a:ext cx="3390900" cy="647700"/>
          </a:xfrm>
          <a:prstGeom prst="rect"/>
        </p:spPr>
        <p:txBody>
          <a:bodyPr wrap="square" lIns="0" tIns="100013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59EB3"/>
                </a:solidFill>
                <a:latin typeface="Inter"/>
                <a:ea typeface="Inter"/>
              </a:rPr>
              <a:t>这两处都不是数据错误</a:t>
            </a:r>
            <a:r>
              <a:rPr lang="en-US" sz="1125">
                <a:solidFill>
                  <a:srgbClr val="859EB3"/>
                </a:solidFill>
                <a:latin typeface="Inter"/>
                <a:ea typeface="Inter"/>
              </a:rPr>
              <a:t> —— </a:t>
            </a:r>
            <a:r>
              <a:rPr lang="zh-CN" sz="1125">
                <a:solidFill>
                  <a:srgbClr val="859EB3"/>
                </a:solidFill>
                <a:latin typeface="Inter"/>
                <a:ea typeface="Inter"/>
              </a:rPr>
              <a:t>是两段代码没有对齐字段约定。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743450" y="1266825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C646A"/>
                </a:solidFill>
                <a:latin typeface="Inter"/>
                <a:ea typeface="Inter"/>
              </a:rPr>
              <a:t>字段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191250" y="1143000"/>
            <a:ext cx="2495550" cy="419100"/>
          </a:xfrm>
          <a:prstGeom prst="roundRect">
            <a:avLst>
              <a:gd name="adj" fmla="val 18182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905625" y="12573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Inter"/>
                <a:ea typeface="Inter"/>
              </a:rPr>
              <a:t>注册路径下的单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8763000" y="1143000"/>
            <a:ext cx="2857500" cy="419100"/>
          </a:xfrm>
          <a:prstGeom prst="roundRect">
            <a:avLst>
              <a:gd name="adj" fmla="val 18182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9734550" y="12573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Inter"/>
                <a:ea typeface="Inter"/>
              </a:rPr>
              <a:t>结算页下的单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4610100" y="1638300"/>
            <a:ext cx="1504950" cy="72390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743450" y="19050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归属字段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191250" y="1638300"/>
            <a:ext cx="2495550" cy="723900"/>
          </a:xfrm>
          <a:prstGeom prst="roundRect">
            <a:avLst>
              <a:gd name="adj" fmla="val 10526"/>
            </a:avLst>
          </a:prstGeom>
          <a:solidFill>
            <a:srgbClr val="2AA7CF">
              <a:alpha val="10000"/>
            </a:srgbClr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324600" y="1885950"/>
            <a:ext cx="22288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只有权益归属人，没有实际操作人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8763000" y="1638300"/>
            <a:ext cx="2857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896350" y="1885950"/>
            <a:ext cx="25908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两个字段都有，都是本人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ID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4610100" y="2419350"/>
            <a:ext cx="1504950" cy="733425"/>
          </a:xfrm>
          <a:prstGeom prst="roundRect">
            <a:avLst>
              <a:gd name="adj" fmla="val 1039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743450" y="269557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订单状态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191250" y="2419350"/>
            <a:ext cx="2495550" cy="733425"/>
          </a:xfrm>
          <a:prstGeom prst="roundRect">
            <a:avLst>
              <a:gd name="adj" fmla="val 10390"/>
            </a:avLst>
          </a:prstGeom>
          <a:solidFill>
            <a:srgbClr val="2AA7CF">
              <a:alpha val="10000"/>
            </a:srgbClr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324600" y="2667000"/>
            <a:ext cx="22288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completed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8763000" y="2419350"/>
            <a:ext cx="2857500" cy="733425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896350" y="2667000"/>
            <a:ext cx="25908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pending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4610100" y="3209925"/>
            <a:ext cx="1504950" cy="72390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743450" y="347662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支付状态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191250" y="3209925"/>
            <a:ext cx="2495550" cy="723900"/>
          </a:xfrm>
          <a:prstGeom prst="roundRect">
            <a:avLst>
              <a:gd name="adj" fmla="val 10526"/>
            </a:avLst>
          </a:prstGeom>
          <a:solidFill>
            <a:srgbClr val="2AA7CF">
              <a:alpha val="10000"/>
            </a:srgbClr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324600" y="3457575"/>
            <a:ext cx="22288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没有这个字段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8763000" y="3209925"/>
            <a:ext cx="2857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896350" y="3457575"/>
            <a:ext cx="25908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Unpaid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（余额支付则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Paid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610100" y="3990975"/>
            <a:ext cx="1504950" cy="72390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743450" y="425767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日期类型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191250" y="3990975"/>
            <a:ext cx="2495550" cy="723900"/>
          </a:xfrm>
          <a:prstGeom prst="roundRect">
            <a:avLst>
              <a:gd name="adj" fmla="val 10526"/>
            </a:avLst>
          </a:prstGeom>
          <a:solidFill>
            <a:srgbClr val="2AA7CF">
              <a:alpha val="10000"/>
            </a:srgbClr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324600" y="4238625"/>
            <a:ext cx="22288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ISO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格式字符串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8763000" y="3990975"/>
            <a:ext cx="2857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896350" y="4238625"/>
            <a:ext cx="25908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时间戳数字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4610100" y="4772025"/>
            <a:ext cx="1504950" cy="733425"/>
          </a:xfrm>
          <a:prstGeom prst="roundRect">
            <a:avLst>
              <a:gd name="adj" fmla="val 1039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743450" y="50482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客户与配送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191250" y="4772025"/>
            <a:ext cx="2495550" cy="733425"/>
          </a:xfrm>
          <a:prstGeom prst="roundRect">
            <a:avLst>
              <a:gd name="adj" fmla="val 10390"/>
            </a:avLst>
          </a:prstGeom>
          <a:solidFill>
            <a:srgbClr val="2AA7CF">
              <a:alpha val="10000"/>
            </a:srgbClr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324600" y="5019675"/>
            <a:ext cx="22288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平铺字段：详细地址、城市、区域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8763000" y="4772025"/>
            <a:ext cx="2857500" cy="733425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896350" y="5019675"/>
            <a:ext cx="25908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嵌套对象：客户信息、配送信息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4610100" y="5562600"/>
            <a:ext cx="1504950" cy="72390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743450" y="58293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写入位置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191250" y="5562600"/>
            <a:ext cx="2495550" cy="723900"/>
          </a:xfrm>
          <a:prstGeom prst="roundRect">
            <a:avLst>
              <a:gd name="adj" fmla="val 10526"/>
            </a:avLst>
          </a:prstGeom>
          <a:solidFill>
            <a:srgbClr val="2AA7CF">
              <a:alpha val="10000"/>
            </a:srgbClr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324600" y="5810250"/>
            <a:ext cx="22288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追加到订单数组末尾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8763000" y="5562600"/>
            <a:ext cx="2857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896350" y="5810250"/>
            <a:ext cx="25908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插到订单数组最前面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14 / 31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" descr="&lt;Slide style={{ width: 1280, height: 720, position: 'relative', fontFamily: 'Inter, PingFang SC, Helvetica Neue, sans-serif', background: '#0F1034' }}&gt;&#10;    &lt;Image src='resources/images/section_account.jpg' style={{ position: 'absolute', top: 0, left: 0, width: 1280, height: 720, objectFit: 'cover' }} /&gt;&#10;    &lt;Box style={{ position: 'absolute', top: 0, left: 0, width: 1280, height: 720, background: 'linear-gradient(90deg, rgba(15,16,52,0.95) 0%, rgba(15,16,52,0.85) 46%, rgba(15,16,52,0.36) 76%, rgba(15,16,52,0.74) 100%)' }} /&gt;&#10;    &lt;Box style={{ position: 'absolute', bottom: 0, right: 0, width: 520, height: 240, background: 'linear-gradient(315deg, rgba(8,10,32,1) 0%, rgba(8,10,32,0.9) 24%, rgba(8,10,32,0) 64%)' }} /&gt;&#10;&#10;    &lt;Box style={{ position: 'relative', width: '100%', height: '100%', padding: '72px 80px', flexDirection: 'column', justifyContent: 'center' }}&gt;&#10;        &lt;Box style={{ flexDirection: 'row', alignItems: 'center', gap: 16 }}&gt;&#10;            &lt;Text style={{ fontSize: 96, fontWeight: 'bold', color: 'rgba(242,135,183,0.55)', lineHeight: 1, letterSpacing: -3 }}&gt;03&lt;/Text&gt;&#10;            &lt;Box style={{ width: 56, height: 4, background: '#F287B7' }} /&gt;&#10;            &lt;Text style={{ fontSize: 17, color: '#F7BEDC', letterSpacing: 3, fontWeight: 'bold' }}&gt;CHAPTER THREE&lt;/Text&gt;&#10;        &lt;/Box&gt;&#10;&#10;        &lt;Text style={{ fontSize: 62, fontWeight: 'bold', color: '#FFFFFF', lineHeight: 1.1, letterSpacing: -1, marginTop: 24 }}&gt;&#10;            已有账户去购买&#10;        &lt;/Text&gt;&#10;        &lt;Text style={{ fontSize: 23, color: '#B9C6E4', lineHeight: 1.5, marginTop: 18, width: 830 }}&gt;&#10;            先登录再下单。登录解锁了六项能力，而订单和奖金都会自动落进这个账户 —— 这是三条路径里结果最完整的一条。&#10;        &lt;/Text&gt;&#10;&#10;        &lt;Box style={{ flexDirection: 'row', gap: 14, marginTop: 38 }}&gt;&#10;            {['登录解锁的六项', '下单后的账户结果', '与前两条路径的差异'].map(function (t, i) {&#10;                return (&#10;                    &lt;Box key={i} style={{ padding: '10px 20px', background: 'rgba(255,255,255,0.08)', border: '1px solid rgba(247,190,220,0.32)', borderRadius: 999, flexDirection: 'row', alignItems: 'center', gap: 9 }}&gt;&#10;                        &lt;Box style={{ width: 6, height: 6, borderRadius: 3, background: '#F287B7' }} /&gt;&#10;                        &lt;Text style={{ fontSize: 16, color: '#D6E2F5' }}&gt;{t}&lt;/Text&gt;&#10;                    &lt;/Box&gt;&#10;                );&#10;            })}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034"/>
          </a:solidFill>
          <a:ln/>
        </p:spPr>
        <p:txBody>
          <a:bodyPr/>
          <a:p/>
        </p:txBody>
      </p:sp>
      <p:pic>
        <p:nvPicPr>
          <p:cNvPr id="251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034">
                  <a:alpha val="95000"/>
                </a:srgbClr>
              </a:gs>
              <a:gs pos="46000">
                <a:srgbClr val="0F1034">
                  <a:alpha val="85000"/>
                </a:srgbClr>
              </a:gs>
              <a:gs pos="76000">
                <a:srgbClr val="0F1034">
                  <a:alpha val="36000"/>
                </a:srgbClr>
              </a:gs>
              <a:gs pos="100000">
                <a:srgbClr val="0F1034">
                  <a:alpha val="74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7239000" y="4572000"/>
            <a:ext cx="4953000" cy="2286000"/>
          </a:xfrm>
          <a:prstGeom prst="rect">
            <a:avLst/>
          </a:prstGeom>
          <a:gradFill>
            <a:gsLst>
              <a:gs pos="0">
                <a:srgbClr val="080A20">
                  <a:alpha val="100000"/>
                </a:srgbClr>
              </a:gs>
              <a:gs pos="24000">
                <a:srgbClr val="080A20">
                  <a:alpha val="90000"/>
                </a:srgbClr>
              </a:gs>
              <a:gs pos="64000">
                <a:srgbClr val="080A20">
                  <a:alpha val="0"/>
                </a:srgbClr>
              </a:gs>
            </a:gsLst>
            <a:lin ang="13500000" scaled="1"/>
          </a:gra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62000" y="1524000"/>
            <a:ext cx="10477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225">
                <a:solidFill>
                  <a:srgbClr val="F287B7">
                    <a:alpha val="55000"/>
                  </a:srgbClr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1962150" y="2057400"/>
            <a:ext cx="533400" cy="38100"/>
          </a:xfrm>
          <a:prstGeom prst="rect">
            <a:avLst/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2647950" y="1981200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225">
                <a:solidFill>
                  <a:srgbClr val="F7BEDC"/>
                </a:solidFill>
                <a:latin typeface="Inter"/>
                <a:ea typeface="Inter"/>
              </a:rPr>
              <a:t>CHAPTER THREE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62000" y="2857500"/>
            <a:ext cx="10668000" cy="7810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650" b="1" spc="-75">
                <a:solidFill>
                  <a:srgbClr val="FFFFFF"/>
                </a:solidFill>
                <a:latin typeface="Inter"/>
                <a:ea typeface="Inter"/>
              </a:rPr>
              <a:t>已有账户去购买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62000" y="3810000"/>
            <a:ext cx="79057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B9C6E4"/>
                </a:solidFill>
                <a:latin typeface="Inter"/>
                <a:ea typeface="Inter"/>
              </a:rPr>
              <a:t>先登录再下单。登录解锁了六项能力，而订单和奖金都会自动落进这个账户</a:t>
            </a:r>
            <a:r>
              <a:rPr lang="en-US" sz="1725">
                <a:solidFill>
                  <a:srgbClr val="B9C6E4"/>
                </a:solidFill>
                <a:latin typeface="Inter"/>
                <a:ea typeface="Inter"/>
              </a:rPr>
              <a:t> —— </a:t>
            </a:r>
            <a:r>
              <a:rPr lang="zh-CN" sz="1725">
                <a:solidFill>
                  <a:srgbClr val="B9C6E4"/>
                </a:solidFill>
                <a:latin typeface="Inter"/>
                <a:ea typeface="Inter"/>
              </a:rPr>
              <a:t>这是三条路径里结果最完整的一条。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762000" y="4962525"/>
            <a:ext cx="15906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7BEDC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952500" y="5124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095375" y="505777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登录解锁的六项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2486025" y="4962525"/>
            <a:ext cx="17430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7BEDC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2676525" y="5124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2819400" y="50577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下单后的账户结果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4362450" y="4962525"/>
            <a:ext cx="18954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7BEDC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4552950" y="5124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695825" y="5057775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与前两条路径的差异</a:t>
            </a:r>
            <a:endParaRPr/>
          </a:p>
        </p:txBody>
      </p:sp>
    </p:spTree>
  </p:cSld>
</p:sld>
</file>

<file path=ppt/slides/slide1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68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登录后下单：多出来的能力&lt;/Text&gt;&#10;        &lt;Text style={{ fontSize: 16, color: '#5C646A', lineHeight: 1.4, marginTop: 6 }}&gt;&#10;            同样是下单页，登录与未登录看到的六处不一样&#10;        &lt;/Text&gt;&#10;    &lt;/Box&gt;&#10;&#10;    {/* ===== B 区（上大图 + 下方卡片） ===== */}&#10;    &lt;Box style={{ height: 540, flexDirection: 'column', gap: 16 }}&gt;&#10;        {/* 上：双列对照 */}&#10;        &lt;Box style={{ height: 236, background: '#F4F6F8', borderRadius: 10, padding: 14, justifyContent: 'center' }}&gt;&#10;            &lt;svg width={1132} height={208} viewBox='0 0 1132 208'&gt;&#10;                {/* 表头 */}&#10;                &lt;rect x='0' y='0' width='372' height='30' rx='4' fill='rgba(32,34,89,0.08)' /&gt;&#10;                &lt;text x='12' y='21' fill='#202259' fontSize={14} fontWeight='bold' fontFamily='Inter, PingFang SC, sans-serif'&gt;对比项&lt;/text&gt;&#10;                &lt;rect x='380' y='0' width='352' height='30' rx='4' fill='rgba(32,34,89,0.08)' /&gt;&#10;                &lt;text x='392' y='21' fill='#5C646A' fontSize={14} fontWeight='bold' fontFamily='Inter, PingFang SC, sans-serif'&gt;未登录（访客）&lt;/text&gt;&#10;                &lt;rect x='740' y='0' width='392' height='30' rx='4' fill='#202259' /&gt;&#10;                &lt;text x='752' y='21' fill='#FFFFFF' fontSize={14} fontWeight='bold' fontFamily='Inter, PingFang SC, sans-serif'&gt;已登录（已有账户）&lt;/text&gt;&#10;&#10;                {[&#10;                    { k: '商品卡的 BV 标识', a: '不显示', b: '显示这件商品能得多少 BV', hi: false },&#10;                    { k: '结算摘要的 BV 行', a: '整行不渲染', b: '显示 +N BV 奖励', hi: false },&#10;                    { k: '已保存地址选择器', a: '整块隐藏', b: '可用，还可勾选保存新地址', hi: false },&#10;                    { k: 'Account Balance 支付', a: '置灰禁用', b: '余额大于 0 时可选', hi: true },&#10;                    { k: '下单后地址回写', a: '静默返回，不保存', b: '写入账户地址簿', hi: false },&#10;                    { k: '顶栏与侧边抽屉', a: '一个登录图标', b: '会员头像、会员 ID、退出按钮', hi: false },&#10;                ].map(function (it, i) {&#10;                    var y = 34 + i * 29;&#10;                    return (&#10;                        &lt;g key={i}&gt;&#10;                            &lt;rect x='0' y={y} width='372' height='26' rx='4' fill='#FFFFFF' /&gt;&#10;                            &lt;text x='12' y={y + 18} fill='#202259' fontSize={14} fontFamily='Inter, PingFang SC, sans-serif'&gt;{it.k}&lt;/text&gt;&#10;                            &lt;rect x='380' y={y} width='352' height='26' rx='4' fill={it.hi ? 'rgba(242,135,183,0.16)' : '#FFFFFF'} /&gt;&#10;                            &lt;text x='392' y={y + 18} fill={it.hi ? '#B3528A' : '#859EB3'} fontSize={14} fontFamily='Inter, PingFang SC, sans-serif'&gt;{it.a}&lt;/text&gt;&#10;                            &lt;rect x='740' y={y} width='392' height='26' rx='4' fill={it.hi ? 'rgba(42,167,207,0.16)' : '#EAF6FD'} /&gt;&#10;                            &lt;text x='752' y={y + 18} fill={it.hi ? '#1B6C88' : '#202259'} fontSize={14} fontFamily='Inter, PingFang SC, sans-serif'&gt;{it.b}&lt;/text&gt;&#10;                        &lt;/g&gt;&#10;                    );&#10;                })}&#10;            &lt;/svg&gt;&#10;        &lt;/Box&gt;&#10;&#10;        {/* 下：三张卡片 */}&#10;        &lt;Box style={{ flex: 1, flexDirection: 'row', gap: 16 }}&gt;&#10;            {[&#10;                { icon: 'unlock', c: '#2AA7CF', t: 'BV 相关的可见性', d: '登录之后，商品列表会出现 BV 标识，结算摘要会多出一行 BV 奖励。这两处是客户最直观感受到&quot;登录有用&quot;的地方，也是路径三和路径一最大的观感差别。' },&#10;                { icon: 'wallet', c: '#F287B7', t: '余额支付被解锁', d: 'Account Balance 是三条路径里唯一被登录态真正卡住的支付方式 —— 余额取值依赖会员 ID，访客取到 0，选项直接置灰。登录后只要余额大于 0 就能用，而且是当场扣款。' },&#10;                { icon: 'exclamation-triangle', c: '#202259', t: '演示时的两个坑', d: '全新浏览器默认就是登录态，想看访客必须先点 Sign out。另外登出只清登录态，个人资料和地址仍留在本地，所以访客下单表单会被预填姓名和地址，看到时不用惊讶。' },&#10;            ].map(function (it, i) {&#10;                return (&#10;                    &lt;Box key={i} style={{ flex: 1, background: '#FFFFFF', border: '1px solid #E3E6E8', borderRadius: 10, padding: '16px 18px', flexDirection: 'column' }}&gt;&#10;                        &lt;Box style={{ flexDirection: 'row', alignItems: 'center', gap: 10, marginBottom: 10 }}&gt;&#10;                            &lt;FAIcon name={it.icon} style={{ fill: it.c, width: 22, height: 22 }} /&gt;&#10;                            &lt;Text style={{ fontSize: 20, fontWeight: 'bold', color: '#202259' }}&gt;{it.t}&lt;/Text&gt;&#10;                        &lt;/Box&gt;&#10;                        &lt;Text style={{ fontSize: 16, color: '#3F4A55', lineHeight: 1.55 }}&gt;{it.d}&lt;/Text&gt;&#10;                    &lt;/Box&gt;&#10;                );&#10;            })}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16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登录后下单：多出来的能力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同样是下单页，登录与未登录看到的六处不一样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571500" y="1143000"/>
            <a:ext cx="11049000" cy="2247900"/>
          </a:xfrm>
          <a:prstGeom prst="roundRect">
            <a:avLst>
              <a:gd name="adj" fmla="val 4237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2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4850" y="1276350"/>
            <a:ext cx="10782300" cy="1981200"/>
          </a:xfrm>
          <a:prstGeom prst="rect">
            <a:avLst/>
          </a:prstGeom>
          <a:ln/>
        </p:spPr>
      </p:pic>
      <p:sp>
        <p:nvSpPr>
          <p:cNvPr id="274" name=""/>
          <p:cNvSpPr/>
          <p:nvPr/>
        </p:nvSpPr>
        <p:spPr>
          <a:xfrm rot="0" flipH="0" flipV="0">
            <a:off x="571500" y="3543300"/>
            <a:ext cx="3581400" cy="27432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2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2950" y="3705225"/>
            <a:ext cx="209550" cy="209550"/>
          </a:xfrm>
          <a:prstGeom prst="rect">
            <a:avLst/>
          </a:prstGeom>
          <a:ln/>
        </p:spPr>
      </p:pic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047750" y="3695700"/>
            <a:ext cx="1466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2259"/>
                </a:solidFill>
                <a:latin typeface="Inter"/>
                <a:ea typeface="Inter"/>
              </a:rPr>
              <a:t>BV </a:t>
            </a: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相关的可见性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42950" y="4019550"/>
            <a:ext cx="32385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登录之后，商品列表会出现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标识，结算摘要会多出一行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奖励。这两处是客户最直观感受到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登录有用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的地方，也是路径三和路径一最大的观感差别。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4305300" y="3543300"/>
            <a:ext cx="3581400" cy="27432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2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476750" y="3705225"/>
            <a:ext cx="209550" cy="209550"/>
          </a:xfrm>
          <a:prstGeom prst="rect">
            <a:avLst/>
          </a:prstGeom>
          <a:ln/>
        </p:spPr>
      </p:pic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4781550" y="36957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余额支付被解锁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476750" y="4019550"/>
            <a:ext cx="32385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Account Balance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是三条路径里唯一被登录态真正卡住的支付方式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余额取值依赖会员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ID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，访客取到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0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，选项直接置灰。登录后只要余额大于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0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就能用，而且是当场扣款。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8039100" y="3543300"/>
            <a:ext cx="3581400" cy="27432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2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210550" y="3705225"/>
            <a:ext cx="209550" cy="209550"/>
          </a:xfrm>
          <a:prstGeom prst="rect">
            <a:avLst/>
          </a:prstGeom>
          <a:ln/>
        </p:spPr>
      </p:pic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515350" y="36957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演示时的两个坑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210550" y="4019550"/>
            <a:ext cx="32385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全新浏览器默认就是登录态，想看访客必须先点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Sign out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。另外登出只清登录态，个人资料和地址仍留在本地，所以访客下单表单会被预填姓名和地址，看到时不用惊讶。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16 / 31</a:t>
            </a:r>
            <a:endParaRPr/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289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登录才看得见的六处&lt;/Text&gt;&#10;        &lt;Text style={{ fontSize: 16, color: '#5C646A', lineHeight: 1.4, marginTop: 6 }}&gt;&#10;            全部由&quot;登录态&quot;一个判断驱动 —— 其中只有一处是真正的功能限制&#10;        &lt;/Text&gt;&#10;    &lt;/Box&gt;&#10;&#10;    {/* ===== B 区（非对称双栏） ===== */}&#10;    &lt;Box style={{ height: 540, flexDirection: 'row', gap: 24 }}&gt;&#10;        {/* 左：六项 */}&#10;        &lt;Box style={{ width: 726, flexDirection: 'column', gap: 10 }}&gt;&#10;            {[&#10;                { n: '1', t: '商品卡的 BV 标识', d: '商品列表渲染时先判断登录态，未登录直接不渲染这枚标识。', p: 'products.html · 商品卡片' },&#10;                { n: '2', t: '结算摘要的 BV rewards 行', d: '摘要模板里整行做了条件渲染，未登录时这一行根本不存在。', p: 'checkout.html · 订单摘要' },&#10;                { n: '3', t: '已保存地址选择器', d: '整块容器隐藏，连同里面的&quot;保存此地址到我的账户&quot;勾选框。', p: 'checkout.html · 收货地址' },&#10;                { n: '4', t: 'Account Balance 支付方式', d: '余额取值依赖会员 ID，未登录取到 0；选项置灰，默认选中逻辑也会跳过它。这是六项里唯一的功能性限制。', p: 'checkout.html · 支付方式' },&#10;                { n: '5', t: '下单后的地址回写', d: '只有登录状态下，下单时才会把地址写进账户地址簿。', p: 'checkout.html · 保存地址' },&#10;                { n: '6', t: '顶栏与侧边抽屉', d: '未登录只有一个登录图标；登录后变成会员头像、姓名、会员 ID 和退出按钮。抽屉里的登录块同理。', p: '全站页头' },&#10;            ].map(function (it, i) {&#10;                return (&#10;                    &lt;Box key={i} style={{ flex: 1, flexDirection: 'row', gap: 14, alignItems: 'center', background: i === 3 ? 'rgba(242,135,183,0.14)' : '#F4F6F8', borderRadius: 8, padding: '0 16px', borderLeft: i === 3 ? '4px solid #F287B7' : '4px solid transparent' }}&gt;&#10;                        &lt;Text style={{ fontSize: 17, fontWeight: 'bold', color: '#2AA7CF', fontFamily: 'Menlo, ui-monospace, monospace', width: 20 }}&gt;{it.n}&lt;/Text&gt;&#10;                        &lt;Box style={{ flexDirection: 'column', width: 232 }}&gt;&#10;                            &lt;Text style={{ fontSize: 18, fontWeight: 'bold', color: '#202259', lineHeight: 1.3 }}&gt;{it.t}&lt;/Text&gt;&#10;                            &lt;Text style={{ fontSize: 13, color: '#859EB3', marginTop: 2 }}&gt;{it.p}&lt;/Text&gt;&#10;                        &lt;/Box&gt;&#10;                        &lt;Text style={{ fontSize: 16, color: '#3F4A55', flex: 1, lineHeight: 1.45 }}&gt;{it.d}&lt;/Text&gt;&#10;                    &lt;/Box&gt;&#10;                );&#10;            })}&#10;        &lt;/Box&gt;&#10;&#10;        {/* 右：结论 */}&#10;        &lt;Box style={{ flex: 1, flexDirection: 'column', gap: 14 }}&gt;&#10;            &lt;Box style={{ background: '#202259', borderRadius: 10, padding: '18px 20px', flexDirection: 'column' }}&gt;&#10;                &lt;Text style={{ fontSize: 15, color: '#7FD3EC', letterSpacing: 1.8, fontWeight: 'bold' }}&gt;KEY&lt;/Text&gt;&#10;                &lt;Text style={{ fontSize: 21, fontWeight: 'bold', color: '#FFFFFF', lineHeight: 1.35, marginTop: 8 }}&gt;&#10;                    六处里有五处只是展示差异，真正被卡住的只有余额支付。&#10;                &lt;/Text&gt;&#10;            &lt;/Box&gt;&#10;&#10;            &lt;Box style={{ flex: 1, background: '#F4F6F8', borderRadius: 10, padding: '16px 18px', flexDirection: 'column', gap: 12 }}&gt;&#10;                &lt;Text style={{ fontSize: 17, fontWeight: 'bold', color: '#202259' }}&gt;两个补充&lt;/Text&gt;&#10;                &lt;Text style={{ fontSize: 16, color: '#3F4A55', lineHeight: 1.5 }}&gt;&#10;                    一、登录后下单，订单会落进&quot;我的订单&quot;，订单 BV 计入自己的奖金 —— 这是路径三和路径一最本质的差别。&#10;                &lt;/Text&gt;&#10;                &lt;Text style={{ fontSize: 16, color: '#3F4A55', lineHeight: 1.5 }}&gt;&#10;                    二、商品详情页的 BV 徽标不受登录态控制，未登录也能看到，口径还和列表页不一致。这一处已在第 7 页单独讲过。&#10;                &lt;/Text&gt;&#10;            &lt;/Box&gt;&#10;&#10;            &lt;Box style={{ background: 'rgba(42,167,207,0.10)', borderRadius: 8, padding: '14px 16px' }}&gt;&#10;                &lt;Text style={{ fontSize: 16, color: '#1B6C88', lineHeight: 1.5 }}&gt;&#10;                    演示建议：先用访客走一遍结算页，再登录走一遍。摘要区少一行 BV、地址选择器整块消失，这个对比最有说服力。&#10;                &lt;/Text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17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登录才看得见的六处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全部由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登录态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一个判断驱动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其中只有一处是真正的功能限制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09600" y="1143000"/>
            <a:ext cx="6915150" cy="790575"/>
          </a:xfrm>
          <a:prstGeom prst="roundRect">
            <a:avLst>
              <a:gd name="adj" fmla="val 963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609600" y="1143000"/>
            <a:ext cx="6915150" cy="790575"/>
          </a:xfrm>
          <a:custGeom>
            <a:pathLst>
              <a:path w="726" h="8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9"/>
                </a:lnTo>
                <a:cubicBezTo>
                  <a:pt x="4" y="81"/>
                  <a:pt x="5" y="83"/>
                  <a:pt x="7" y="83"/>
                </a:cubicBezTo>
                <a:cubicBezTo>
                  <a:pt x="3" y="83"/>
                  <a:pt x="0" y="79"/>
                  <a:pt x="0" y="7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62000" y="1438275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1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085850" y="13144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商品卡的</a:t>
            </a: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 BV </a:t>
            </a: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标识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085850" y="1609725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Inter"/>
                <a:ea typeface="Inter"/>
              </a:rPr>
              <a:t>products.html · </a:t>
            </a:r>
            <a:r>
              <a:rPr lang="zh-CN" sz="975">
                <a:solidFill>
                  <a:srgbClr val="859EB3"/>
                </a:solidFill>
                <a:latin typeface="Inter"/>
                <a:ea typeface="Inter"/>
              </a:rPr>
              <a:t>商品卡片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3429000" y="1276350"/>
            <a:ext cx="3905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商品列表渲染时先判断登录态，未登录直接不渲染这枚标识。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09600" y="2028825"/>
            <a:ext cx="6915150" cy="790575"/>
          </a:xfrm>
          <a:prstGeom prst="roundRect">
            <a:avLst>
              <a:gd name="adj" fmla="val 963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609600" y="2028825"/>
            <a:ext cx="6915150" cy="790575"/>
          </a:xfrm>
          <a:custGeom>
            <a:pathLst>
              <a:path w="726" h="8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9"/>
                </a:lnTo>
                <a:cubicBezTo>
                  <a:pt x="4" y="81"/>
                  <a:pt x="5" y="83"/>
                  <a:pt x="7" y="83"/>
                </a:cubicBezTo>
                <a:cubicBezTo>
                  <a:pt x="3" y="83"/>
                  <a:pt x="0" y="79"/>
                  <a:pt x="0" y="7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62000" y="2324100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2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085850" y="2200275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结算摘要的</a:t>
            </a: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 BV rewards </a:t>
            </a: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行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085850" y="249555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Inter"/>
                <a:ea typeface="Inter"/>
              </a:rPr>
              <a:t>checkout.html · </a:t>
            </a:r>
            <a:r>
              <a:rPr lang="zh-CN" sz="975">
                <a:solidFill>
                  <a:srgbClr val="859EB3"/>
                </a:solidFill>
                <a:latin typeface="Inter"/>
                <a:ea typeface="Inter"/>
              </a:rPr>
              <a:t>订单摘要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3429000" y="2162175"/>
            <a:ext cx="3905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摘要模板里整行做了条件渲染，未登录时这一行根本不存在。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09600" y="2914650"/>
            <a:ext cx="6915150" cy="800100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609600" y="2914650"/>
            <a:ext cx="6915150" cy="800100"/>
          </a:xfrm>
          <a:custGeom>
            <a:pathLst>
              <a:path w="726" h="8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0"/>
                </a:lnTo>
                <a:cubicBezTo>
                  <a:pt x="4" y="82"/>
                  <a:pt x="5" y="84"/>
                  <a:pt x="7" y="84"/>
                </a:cubicBezTo>
                <a:cubicBezTo>
                  <a:pt x="3" y="84"/>
                  <a:pt x="0" y="80"/>
                  <a:pt x="0" y="7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62000" y="3219450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3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085850" y="3095625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已保存地址选择器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085850" y="33909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Inter"/>
                <a:ea typeface="Inter"/>
              </a:rPr>
              <a:t>checkout.html · </a:t>
            </a:r>
            <a:r>
              <a:rPr lang="zh-CN" sz="975">
                <a:solidFill>
                  <a:srgbClr val="859EB3"/>
                </a:solidFill>
                <a:latin typeface="Inter"/>
                <a:ea typeface="Inter"/>
              </a:rPr>
              <a:t>收货地址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3429000" y="3048000"/>
            <a:ext cx="3905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整块容器隐藏，连同里面的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保存此地址到我的账户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勾选框。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09600" y="3810000"/>
            <a:ext cx="6915150" cy="790575"/>
          </a:xfrm>
          <a:prstGeom prst="roundRect">
            <a:avLst>
              <a:gd name="adj" fmla="val 9639"/>
            </a:avLst>
          </a:prstGeom>
          <a:solidFill>
            <a:srgbClr val="F287B7">
              <a:alpha val="14000"/>
            </a:srgbClr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609600" y="3810000"/>
            <a:ext cx="6915150" cy="790575"/>
          </a:xfrm>
          <a:custGeom>
            <a:pathLst>
              <a:path w="726" h="8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9"/>
                </a:lnTo>
                <a:cubicBezTo>
                  <a:pt x="4" y="81"/>
                  <a:pt x="5" y="83"/>
                  <a:pt x="7" y="83"/>
                </a:cubicBezTo>
                <a:cubicBezTo>
                  <a:pt x="3" y="83"/>
                  <a:pt x="0" y="79"/>
                  <a:pt x="0" y="7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62000" y="4105275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4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085850" y="3981450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Account Balance </a:t>
            </a: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支付方式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085850" y="4276725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Inter"/>
                <a:ea typeface="Inter"/>
              </a:rPr>
              <a:t>checkout.html · </a:t>
            </a:r>
            <a:r>
              <a:rPr lang="zh-CN" sz="975">
                <a:solidFill>
                  <a:srgbClr val="859EB3"/>
                </a:solidFill>
                <a:latin typeface="Inter"/>
                <a:ea typeface="Inter"/>
              </a:rPr>
              <a:t>支付方式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3429000" y="3943350"/>
            <a:ext cx="3905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余额取值依赖会员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ID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，未登录取到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0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；选项置灰，默认选中逻辑也会跳过它。这是六项里唯一的功能性限制。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609600" y="4695825"/>
            <a:ext cx="6915150" cy="704850"/>
          </a:xfrm>
          <a:prstGeom prst="roundRect">
            <a:avLst>
              <a:gd name="adj" fmla="val 1081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609600" y="4695825"/>
            <a:ext cx="6915150" cy="704850"/>
          </a:xfrm>
          <a:custGeom>
            <a:pathLst>
              <a:path w="726" h="7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0"/>
                </a:lnTo>
                <a:cubicBezTo>
                  <a:pt x="4" y="72"/>
                  <a:pt x="5" y="74"/>
                  <a:pt x="7" y="74"/>
                </a:cubicBezTo>
                <a:cubicBezTo>
                  <a:pt x="3" y="74"/>
                  <a:pt x="0" y="70"/>
                  <a:pt x="0" y="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62000" y="4953000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5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085850" y="4829175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下单后的地址回写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085850" y="512445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Inter"/>
                <a:ea typeface="Inter"/>
              </a:rPr>
              <a:t>checkout.html · </a:t>
            </a:r>
            <a:r>
              <a:rPr lang="zh-CN" sz="975">
                <a:solidFill>
                  <a:srgbClr val="859EB3"/>
                </a:solidFill>
                <a:latin typeface="Inter"/>
                <a:ea typeface="Inter"/>
              </a:rPr>
              <a:t>保存地址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3429000" y="4914900"/>
            <a:ext cx="39052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只有登录状态下，下单时才会把地址写进账户地址簿。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09600" y="5495925"/>
            <a:ext cx="6915150" cy="790575"/>
          </a:xfrm>
          <a:prstGeom prst="roundRect">
            <a:avLst>
              <a:gd name="adj" fmla="val 963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609600" y="5495925"/>
            <a:ext cx="6915150" cy="790575"/>
          </a:xfrm>
          <a:custGeom>
            <a:pathLst>
              <a:path w="726" h="8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9"/>
                </a:lnTo>
                <a:cubicBezTo>
                  <a:pt x="4" y="81"/>
                  <a:pt x="5" y="83"/>
                  <a:pt x="7" y="83"/>
                </a:cubicBezTo>
                <a:cubicBezTo>
                  <a:pt x="3" y="83"/>
                  <a:pt x="0" y="79"/>
                  <a:pt x="0" y="7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62000" y="5791200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Menlo"/>
                <a:ea typeface="Menlo"/>
              </a:rPr>
              <a:t>6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085850" y="5667375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顶栏与侧边抽屉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085850" y="596265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59EB3"/>
                </a:solidFill>
                <a:latin typeface="Inter"/>
                <a:ea typeface="Inter"/>
              </a:rPr>
              <a:t>全站页头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3429000" y="5629275"/>
            <a:ext cx="39052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未登录只有一个登录图标；登录后变成会员头像、姓名、会员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ID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和退出按钮。抽屉里的登录块同理。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7715250" y="1143000"/>
            <a:ext cx="3905250" cy="1247775"/>
          </a:xfrm>
          <a:prstGeom prst="roundRect">
            <a:avLst>
              <a:gd name="adj" fmla="val 7634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7905750" y="13144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35">
                <a:solidFill>
                  <a:srgbClr val="7FD3EC"/>
                </a:solidFill>
                <a:latin typeface="Inter"/>
                <a:ea typeface="Inter"/>
              </a:rPr>
              <a:t>KEY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7905750" y="1562100"/>
            <a:ext cx="35242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FFFFFF"/>
                </a:solidFill>
                <a:latin typeface="Inter"/>
                <a:ea typeface="Inter"/>
              </a:rPr>
              <a:t>六处里有五处只是展示差异，真正被卡住的只有余额支付。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7715250" y="2524125"/>
            <a:ext cx="3905250" cy="2533650"/>
          </a:xfrm>
          <a:prstGeom prst="roundRect">
            <a:avLst>
              <a:gd name="adj" fmla="val 375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886700" y="267652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两个补充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886700" y="2990850"/>
            <a:ext cx="35623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一、登录后下单，订单会落进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我的订单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，订单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计入自己的奖金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这是路径三和路径一最本质的差别。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886700" y="3933825"/>
            <a:ext cx="35623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二、商品详情页的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徽标不受登录态控制，未登录也能看到，口径还和列表页不一致。这一处已在第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7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页单独讲过。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7715250" y="5191125"/>
            <a:ext cx="3905250" cy="1095375"/>
          </a:xfrm>
          <a:prstGeom prst="roundRect">
            <a:avLst>
              <a:gd name="adj" fmla="val 6957"/>
            </a:avLst>
          </a:prstGeom>
          <a:solidFill>
            <a:srgbClr val="2AA7CF">
              <a:alpha val="10000"/>
            </a:srgbClr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7867650" y="5324475"/>
            <a:ext cx="36004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B6C88"/>
                </a:solidFill>
                <a:latin typeface="Inter"/>
                <a:ea typeface="Inter"/>
              </a:rPr>
              <a:t>演示建议：先用访客走一遍结算页，再登录走一遍。摘要区少一行</a:t>
            </a:r>
            <a:r>
              <a:rPr lang="en-US" sz="1200">
                <a:solidFill>
                  <a:srgbClr val="1B6C88"/>
                </a:solidFill>
                <a:latin typeface="Inter"/>
                <a:ea typeface="Inter"/>
              </a:rPr>
              <a:t> BV</a:t>
            </a:r>
            <a:r>
              <a:rPr lang="zh-CN" sz="1200">
                <a:solidFill>
                  <a:srgbClr val="1B6C88"/>
                </a:solidFill>
                <a:latin typeface="Inter"/>
                <a:ea typeface="Inter"/>
              </a:rPr>
              <a:t>、地址选择器整块消失，这个对比最有说服力。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1182350" y="6400800"/>
            <a:ext cx="438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17 / 31</a:t>
            </a:r>
            <a:endParaRPr/>
          </a:p>
        </p:txBody>
      </p:sp>
    </p:spTree>
  </p:cSld>
</p:sld>
</file>

<file path=ppt/slides/slide1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41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三条路径的落点对比&lt;/Text&gt;&#10;        &lt;Text style={{ fontSize: 16, color: '#5C646A', lineHeight: 1.4, marginTop: 6 }}&gt;&#10;            这是全场最该带走的一张表 —— 差别最终都收敛到&quot;这笔单算不算账户资产&quot;&#10;        &lt;/Text&gt;&#10;    &lt;/Box&gt;&#10;&#10;    {/* ===== B 区（图表 + 洞察） ===== */}&#10;    &lt;Box style={{ height: 540, flexDirection: 'column', gap: 14 }}&gt;&#10;        {/* 主表 */}&#10;        &lt;Box style={{ flex: 1, flexDirection: 'column', gap: 4 }}&gt;&#10;            {/* 表头 */}&#10;            &lt;Box style={{ flexDirection: 'row', gap: 4, height: 44 }}&gt;&#10;                &lt;Box style={{ width: 200, justifyContent: 'center', paddingLeft: 16 }}&gt;&#10;                    &lt;Text style={{ fontSize: 15, fontWeight: 'bold', color: '#5C646A' }}&gt;对比维度&lt;/Text&gt;&#10;                &lt;/Box&gt;&#10;                {[&#10;                    { t: '路径一 · 访客下单', c: '#202259' },&#10;                    { t: '路径二 · 注册购买', c: '#2AA7CF' },&#10;                    { t: '路径三 · 已有账户', c: '#F287B7' },&#10;                ].map(function (h, i) {&#10;                    return (&#10;                        &lt;Box key={i} style={{ width: 316, background: h.c, borderRadius: 8, justifyContent: 'center', alignItems: 'center' }}&gt;&#10;                            &lt;Text style={{ fontSize: 17, fontWeight: 'bold', color: '#FFFFFF' }}&gt;{h.t}&lt;/Text&gt;&#10;                        &lt;/Box&gt;&#10;                    );&#10;                })}&#10;            &lt;/Box&gt;&#10;&#10;            {[&#10;                {&#10;                    k: '订单能在账户里看到吗',&#10;                    v: [&#10;                        { t: '看不到，而且会被剔除删除', warn: true },&#10;                        { t: '看得到 · My orders', warn: false },&#10;                        { t: '看得到 · My orders', warn: false },&#10;                    ],&#10;                },&#10;                {&#10;                    k: '计入自己的奖金吗',&#10;                    v: [&#10;                        { t: '不计入，一分都不算', warn: true },&#10;                        { t: '计入（自购 BV）', warn: false },&#10;                        { t: '计入（自购 BV）', warn: false },&#10;                    ],&#10;                },&#10;                {&#10;                    k: '这笔单的 BV 归谁',&#10;                    v: [&#10;                        { t: '分享链接的持有者', warn: false },&#10;                        { t: '自己', warn: false },&#10;                        { t: '自己', warn: false },&#10;                    ],&#10;                },&#10;                {&#10;                    k: '订单类型标签',&#10;                    v: [{ t: '—（不展示）', warn: false }, { t: 'My order', warn: false }, { t: 'My order', warn: false }],&#10;                },&#10;                {&#10;                    k: '付款状态显示',&#10;                    v: [&#10;                        { t: '—（不展示）', warn: false },&#10;                        { t: 'Unpaid（字段缺失导致）', warn: true },&#10;                        { t: '显示真实状态', warn: false },&#10;                    ],&#10;                },&#10;                {&#10;                    k: '凭订单号能查到吗',&#10;                    v: [&#10;                        { t: '能，限本机浏览器', warn: false },&#10;                        { t: '能', warn: false },&#10;                        { t: '能', warn: false },&#10;                    ],&#10;                },&#10;            ].map(function (row, i) {&#10;                return (&#10;                    &lt;Box key={i} style={{ flexDirection: 'row', gap: 4, flex: 1 }}&gt;&#10;                        &lt;Box style={{ width: 200, background: '#F4F6F8', borderRadius: 8, padding: '0 16px', justifyContent: 'center' }}&gt;&#10;                            &lt;Text style={{ fontSize: 16, fontWeight: 'bold', color: '#202259', lineHeight: 1.3 }}&gt;{row.k}&lt;/Text&gt;&#10;                        &lt;/Box&gt;&#10;                        {row.v.map(function (cell, j) {&#10;                            return (&#10;                                &lt;Box key={j} style={{ width: 316, background: cell.warn ? 'rgba(242,135,183,0.14)' : '#FFFFFF', border: '1px solid #E3E6E8', borderRadius: 8, padding: '0 16px', justifyContent: 'center' }}&gt;&#10;                                    &lt;Text style={{ fontSize: 16, color: cell.warn ? '#B3528A' : '#3F4A55', lineHeight: 1.35 }}&gt;{cell.t}&lt;/Text&gt;&#10;                                &lt;/Box&gt;&#10;                            );&#10;                        })}&#10;                    &lt;/Box&gt;&#10;                );&#10;            })}&#10;        &lt;/Box&gt;&#10;&#10;        {/* 洞察框 */}&#10;        &lt;Box style={{ height: 82, background: '#202259', borderRadius: 10, padding: '0 24px', flexDirection: 'row', alignItems: 'center', gap: 20 }}&gt;&#10;            &lt;FAIcon name='lightbulb' style={{ fill: '#7FD3EC', width: 28, height: 28 }} /&gt;&#10;            &lt;Text style={{ fontSize: 19, color: '#FFFFFF', lineHeight: 1.45, flex: 1 }}&gt;&#10;                三条路径的差别，收敛成一句话：&lt;span style={{ color: '#7FD3EC', fontWeight: 'bold' }}&gt;只有下单时带着会员身份，这笔单才会变成账户资产&lt;/span&gt;。访客单更像一张一次性凭证 —— 能查、能分享，但不进账。&#10;            &lt;/Text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18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三条路径的落点对比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这是全场最该带走的一张表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差别最终都收敛到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这笔单算不算账户资产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"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723900" y="1266825"/>
            <a:ext cx="1752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C646A"/>
                </a:solidFill>
                <a:latin typeface="Inter"/>
                <a:ea typeface="Inter"/>
              </a:rPr>
              <a:t>对比维度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2514600" y="1143000"/>
            <a:ext cx="3009900" cy="419100"/>
          </a:xfrm>
          <a:prstGeom prst="roundRect">
            <a:avLst>
              <a:gd name="adj" fmla="val 18182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3362325" y="1257300"/>
            <a:ext cx="1323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路径一</a:t>
            </a: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访客下单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5562600" y="1143000"/>
            <a:ext cx="3009900" cy="419100"/>
          </a:xfrm>
          <a:prstGeom prst="roundRect">
            <a:avLst>
              <a:gd name="adj" fmla="val 18182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410325" y="1257300"/>
            <a:ext cx="1323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路径二</a:t>
            </a: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注册购买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8610600" y="1143000"/>
            <a:ext cx="3009900" cy="419100"/>
          </a:xfrm>
          <a:prstGeom prst="roundRect">
            <a:avLst>
              <a:gd name="adj" fmla="val 18182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9458325" y="1257300"/>
            <a:ext cx="1323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路径三</a:t>
            </a:r>
            <a:r>
              <a:rPr lang="en-US" sz="1275" b="1">
                <a:solidFill>
                  <a:srgbClr val="FFFFFF"/>
                </a:solidFill>
                <a:latin typeface="Inter"/>
                <a:ea typeface="Inter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已有账户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571500" y="1600200"/>
            <a:ext cx="1905000" cy="600075"/>
          </a:xfrm>
          <a:prstGeom prst="roundRect">
            <a:avLst>
              <a:gd name="adj" fmla="val 12698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23900" y="1781175"/>
            <a:ext cx="16002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订单能在账户里看到吗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2514600" y="1600200"/>
            <a:ext cx="3009900" cy="600075"/>
          </a:xfrm>
          <a:prstGeom prst="roundRect">
            <a:avLst>
              <a:gd name="adj" fmla="val 12698"/>
            </a:avLst>
          </a:prstGeom>
          <a:solidFill>
            <a:srgbClr val="F287B7">
              <a:alpha val="14000"/>
            </a:srgbClr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2667000" y="1781175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B3528A"/>
                </a:solidFill>
                <a:latin typeface="Inter"/>
                <a:ea typeface="Inter"/>
              </a:rPr>
              <a:t>看不到，而且会被剔除删除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5562600" y="1600200"/>
            <a:ext cx="30099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715000" y="1781175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看得到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· My orders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8610600" y="1600200"/>
            <a:ext cx="30099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763000" y="1781175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看得到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· My orders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571500" y="2238375"/>
            <a:ext cx="1905000" cy="590550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723900" y="2419350"/>
            <a:ext cx="16002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计入自己的奖金吗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2514600" y="2238375"/>
            <a:ext cx="3009900" cy="590550"/>
          </a:xfrm>
          <a:prstGeom prst="roundRect">
            <a:avLst>
              <a:gd name="adj" fmla="val 12903"/>
            </a:avLst>
          </a:prstGeom>
          <a:solidFill>
            <a:srgbClr val="F287B7">
              <a:alpha val="14000"/>
            </a:srgbClr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2667000" y="2409825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B3528A"/>
                </a:solidFill>
                <a:latin typeface="Inter"/>
                <a:ea typeface="Inter"/>
              </a:rPr>
              <a:t>不计入，一分都不算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5562600" y="2238375"/>
            <a:ext cx="3009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715000" y="2409825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计入（自购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8610600" y="2238375"/>
            <a:ext cx="3009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763000" y="2409825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计入（自购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）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571500" y="2867025"/>
            <a:ext cx="1905000" cy="600075"/>
          </a:xfrm>
          <a:prstGeom prst="roundRect">
            <a:avLst>
              <a:gd name="adj" fmla="val 12698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723900" y="3048000"/>
            <a:ext cx="16002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这笔单的</a:t>
            </a: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 BV </a:t>
            </a: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归谁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2514600" y="2867025"/>
            <a:ext cx="30099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2667000" y="3048000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分享链接的持有者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5562600" y="2867025"/>
            <a:ext cx="30099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715000" y="3048000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自己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8610600" y="2867025"/>
            <a:ext cx="30099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763000" y="3048000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自己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571500" y="3505200"/>
            <a:ext cx="1905000" cy="600075"/>
          </a:xfrm>
          <a:prstGeom prst="roundRect">
            <a:avLst>
              <a:gd name="adj" fmla="val 12698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723900" y="3686175"/>
            <a:ext cx="16002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订单类型标签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2514600" y="3505200"/>
            <a:ext cx="30099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2667000" y="3686175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—（不展示）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5562600" y="3505200"/>
            <a:ext cx="30099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715000" y="3686175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My order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8610600" y="3505200"/>
            <a:ext cx="30099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8763000" y="3686175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My order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571500" y="4143375"/>
            <a:ext cx="1905000" cy="590550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23900" y="4324350"/>
            <a:ext cx="16002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付款状态显示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2514600" y="4143375"/>
            <a:ext cx="3009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2667000" y="4314825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—（不展示）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5562600" y="4143375"/>
            <a:ext cx="3009900" cy="590550"/>
          </a:xfrm>
          <a:prstGeom prst="roundRect">
            <a:avLst>
              <a:gd name="adj" fmla="val 12903"/>
            </a:avLst>
          </a:prstGeom>
          <a:solidFill>
            <a:srgbClr val="F287B7">
              <a:alpha val="14000"/>
            </a:srgbClr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5715000" y="4314825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>
                <a:solidFill>
                  <a:srgbClr val="B3528A"/>
                </a:solidFill>
                <a:latin typeface="Inter"/>
                <a:ea typeface="Inter"/>
              </a:rPr>
              <a:t>Unpaid</a:t>
            </a:r>
            <a:r>
              <a:rPr lang="zh-CN" sz="1200">
                <a:solidFill>
                  <a:srgbClr val="B3528A"/>
                </a:solidFill>
                <a:latin typeface="Inter"/>
                <a:ea typeface="Inter"/>
              </a:rPr>
              <a:t>（字段缺失导致）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8610600" y="4143375"/>
            <a:ext cx="3009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763000" y="4314825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显示真实状态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571500" y="4772025"/>
            <a:ext cx="1905000" cy="600075"/>
          </a:xfrm>
          <a:prstGeom prst="roundRect">
            <a:avLst>
              <a:gd name="adj" fmla="val 12698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23900" y="4953000"/>
            <a:ext cx="16002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凭订单号能查到吗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2514600" y="4772025"/>
            <a:ext cx="30099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2667000" y="4953000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能，限本机浏览器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5562600" y="4772025"/>
            <a:ext cx="30099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5715000" y="4953000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能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8610600" y="4772025"/>
            <a:ext cx="30099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763000" y="4953000"/>
            <a:ext cx="27051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能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571500" y="5505450"/>
            <a:ext cx="11049000" cy="781050"/>
          </a:xfrm>
          <a:prstGeom prst="roundRect">
            <a:avLst>
              <a:gd name="adj" fmla="val 12195"/>
            </a:avLst>
          </a:prstGeom>
          <a:solidFill>
            <a:srgbClr val="202259"/>
          </a:solidFill>
          <a:ln/>
        </p:spPr>
        <p:txBody>
          <a:bodyPr/>
          <a:p/>
        </p:txBody>
      </p:sp>
      <p:pic>
        <p:nvPicPr>
          <p:cNvPr id="4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5762625"/>
            <a:ext cx="266700" cy="266700"/>
          </a:xfrm>
          <a:prstGeom prst="rect">
            <a:avLst/>
          </a:prstGeom>
          <a:ln/>
        </p:spPr>
      </p:pic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257300" y="5581650"/>
            <a:ext cx="101346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/>
                </a:solidFill>
                <a:latin typeface="Inter"/>
                <a:ea typeface="Inter"/>
              </a:rPr>
              <a:t>三条路径的差别，收敛成一句话：</a:t>
            </a:r>
            <a:r>
              <a:rPr lang="zh-CN" sz="1425" b="1">
                <a:solidFill>
                  <a:srgbClr val="7FD3EC"/>
                </a:solidFill>
                <a:latin typeface="Inter"/>
                <a:ea typeface="Inter"/>
              </a:rPr>
              <a:t>只有下单时带着会员身份，这笔单才会变成账户资产</a:t>
            </a:r>
            <a:r>
              <a:rPr lang="zh-CN" sz="1425">
                <a:solidFill>
                  <a:srgbClr val="FFFFFF"/>
                </a:solidFill>
                <a:latin typeface="Inter"/>
                <a:ea typeface="Inter"/>
              </a:rPr>
              <a:t>。访客单更像一张一次性凭证</a:t>
            </a:r>
            <a:r>
              <a:rPr lang="en-US" sz="1425">
                <a:solidFill>
                  <a:srgbClr val="FFFFFF"/>
                </a:solidFill>
                <a:latin typeface="Inter"/>
                <a:ea typeface="Inter"/>
              </a:rPr>
              <a:t> —— </a:t>
            </a:r>
            <a:r>
              <a:rPr lang="zh-CN" sz="1425">
                <a:solidFill>
                  <a:srgbClr val="FFFFFF"/>
                </a:solidFill>
                <a:latin typeface="Inter"/>
                <a:ea typeface="Inter"/>
              </a:rPr>
              <a:t>能查、能分享，但不进账。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18 / 31</a:t>
            </a:r>
            <a:endParaRPr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6" name="" descr="&lt;Slide style={{ width: 1280, height: 720, position: 'relative', fontFamily: 'Inter, PingFang SC, Helvetica Neue, sans-serif', background: '#0F1034' }}&gt;&#10;    &lt;Image src='resources/images/section_flow.jpg' style={{ position: 'absolute', top: 0, left: 0, width: 1280, height: 720, objectFit: 'cover' }} /&gt;&#10;    &lt;Box style={{ position: 'absolute', top: 0, left: 0, width: 1280, height: 720, background: 'linear-gradient(90deg, rgba(15,16,52,0.95) 0%, rgba(15,16,52,0.85) 46%, rgba(15,16,52,0.36) 76%, rgba(15,16,52,0.74) 100%)' }} /&gt;&#10;    &lt;Box style={{ position: 'absolute', bottom: 0, right: 0, width: 520, height: 240, background: 'linear-gradient(315deg, rgba(8,10,32,1) 0%, rgba(8,10,32,0.9) 24%, rgba(8,10,32,0) 64%)' }} /&gt;&#10;&#10;    &lt;Box style={{ position: 'relative', width: '100%', height: '100%', padding: '72px 80px', flexDirection: 'column', justifyContent: 'center' }}&gt;&#10;        &lt;Box style={{ flexDirection: 'row', alignItems: 'center', gap: 16 }}&gt;&#10;            &lt;Text style={{ fontSize: 72, fontWeight: 'bold', color: 'rgba(42,167,207,0.55)', lineHeight: 1, letterSpacing: -2 }}&gt;SHARED&lt;/Text&gt;&#10;            &lt;Box style={{ width: 56, height: 4, background: '#2AA7CF' }} /&gt;&#10;            &lt;Text style={{ fontSize: 17, color: '#7FD3EC', letterSpacing: 3, fontWeight: 'bold' }}&gt;COMMON FLOW&lt;/Text&gt;&#10;        &lt;/Box&gt;&#10;&#10;        &lt;Text style={{ fontSize: 62, fontWeight: 'bold', color: '#FFFFFF', lineHeight: 1.1, letterSpacing: -1, marginTop: 24 }}&gt;&#10;            三条路径共用的下单界面&#10;        &lt;/Text&gt;&#10;        &lt;Text style={{ fontSize: 23, color: '#B9C6E4', lineHeight: 1.5, marginTop: 18, width: 830 }}&gt;&#10;            不管客户从哪条路径进来，&quot;选品 → 配送 → 支付 → 下单&quot;这套动作完全一样。这一章讲的是操作本身。&#10;        &lt;/Text&gt;&#10;&#10;        &lt;Box style={{ flexDirection: 'row', gap: 14, marginTop: 38 }}&gt;&#10;            {['六步动线', '购物车规则', '配送与自提点', '五种支付方式', '摘要与放行条件', '订单落库'].map(function (t, i) {&#10;                return (&#10;                    &lt;Box key={i} style={{ padding: '10px 20px', background: 'rgba(255,255,255,0.08)', border: '1px solid rgba(127,211,236,0.3)', borderRadius: 999, flexDirection: 'row', alignItems: 'center', gap: 9 }}&gt;&#10;                        &lt;Box style={{ width: 6, height: 6, borderRadius: 3, background: '#2AA7CF' }} /&gt;&#10;                        &lt;Text style={{ fontSize: 16, color: '#D6E2F5' }}&gt;{t}&lt;/Text&gt;&#10;                    &lt;/Box&gt;&#10;                );&#10;            })}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034"/>
          </a:solidFill>
          <a:ln/>
        </p:spPr>
        <p:txBody>
          <a:bodyPr/>
          <a:p/>
        </p:txBody>
      </p:sp>
      <p:pic>
        <p:nvPicPr>
          <p:cNvPr id="408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034">
                  <a:alpha val="95000"/>
                </a:srgbClr>
              </a:gs>
              <a:gs pos="46000">
                <a:srgbClr val="0F1034">
                  <a:alpha val="85000"/>
                </a:srgbClr>
              </a:gs>
              <a:gs pos="76000">
                <a:srgbClr val="0F1034">
                  <a:alpha val="36000"/>
                </a:srgbClr>
              </a:gs>
              <a:gs pos="100000">
                <a:srgbClr val="0F1034">
                  <a:alpha val="74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10" name=""/>
          <p:cNvSpPr/>
          <p:nvPr/>
        </p:nvSpPr>
        <p:spPr>
          <a:xfrm rot="0" flipH="0" flipV="0">
            <a:off x="7239000" y="4572000"/>
            <a:ext cx="4953000" cy="2286000"/>
          </a:xfrm>
          <a:prstGeom prst="rect">
            <a:avLst/>
          </a:prstGeom>
          <a:gradFill>
            <a:gsLst>
              <a:gs pos="0">
                <a:srgbClr val="080A20">
                  <a:alpha val="100000"/>
                </a:srgbClr>
              </a:gs>
              <a:gs pos="24000">
                <a:srgbClr val="080A20">
                  <a:alpha val="90000"/>
                </a:srgbClr>
              </a:gs>
              <a:gs pos="64000">
                <a:srgbClr val="080A20">
                  <a:alpha val="0"/>
                </a:srgbClr>
              </a:gs>
            </a:gsLst>
            <a:lin ang="13500000" scaled="1"/>
          </a:gra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62000" y="1657350"/>
            <a:ext cx="27146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 spc="-150">
                <a:solidFill>
                  <a:srgbClr val="2AA7CF">
                    <a:alpha val="55000"/>
                  </a:srgbClr>
                </a:solidFill>
                <a:latin typeface="Inter"/>
                <a:ea typeface="Inter"/>
              </a:rPr>
              <a:t>SHARED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3629025" y="2057400"/>
            <a:ext cx="533400" cy="38100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4314825" y="197167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225">
                <a:solidFill>
                  <a:srgbClr val="7FD3EC"/>
                </a:solidFill>
                <a:latin typeface="Inter"/>
                <a:ea typeface="Inter"/>
              </a:rPr>
              <a:t>COMMON FLOW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62000" y="2714625"/>
            <a:ext cx="10668000" cy="7810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650" b="1" spc="-75">
                <a:solidFill>
                  <a:srgbClr val="FFFFFF"/>
                </a:solidFill>
                <a:latin typeface="Inter"/>
                <a:ea typeface="Inter"/>
              </a:rPr>
              <a:t>三条路径共用的下单界面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62000" y="3667125"/>
            <a:ext cx="79057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B9C6E4"/>
                </a:solidFill>
                <a:latin typeface="Inter"/>
                <a:ea typeface="Inter"/>
              </a:rPr>
              <a:t>不管客户从哪条路径进来，</a:t>
            </a:r>
            <a:r>
              <a:rPr lang="en-US" sz="1725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725">
                <a:solidFill>
                  <a:srgbClr val="B9C6E4"/>
                </a:solidFill>
                <a:latin typeface="Inter"/>
                <a:ea typeface="Inter"/>
              </a:rPr>
              <a:t>选品</a:t>
            </a:r>
            <a:r>
              <a:rPr lang="en-US" sz="1725">
                <a:solidFill>
                  <a:srgbClr val="B9C6E4"/>
                </a:solidFill>
                <a:latin typeface="Inter"/>
                <a:ea typeface="Inter"/>
              </a:rPr>
              <a:t> → </a:t>
            </a:r>
            <a:r>
              <a:rPr lang="zh-CN" sz="1725">
                <a:solidFill>
                  <a:srgbClr val="B9C6E4"/>
                </a:solidFill>
                <a:latin typeface="Inter"/>
                <a:ea typeface="Inter"/>
              </a:rPr>
              <a:t>配送</a:t>
            </a:r>
            <a:r>
              <a:rPr lang="en-US" sz="1725">
                <a:solidFill>
                  <a:srgbClr val="B9C6E4"/>
                </a:solidFill>
                <a:latin typeface="Inter"/>
                <a:ea typeface="Inter"/>
              </a:rPr>
              <a:t> → </a:t>
            </a:r>
            <a:r>
              <a:rPr lang="zh-CN" sz="1725">
                <a:solidFill>
                  <a:srgbClr val="B9C6E4"/>
                </a:solidFill>
                <a:latin typeface="Inter"/>
                <a:ea typeface="Inter"/>
              </a:rPr>
              <a:t>支付</a:t>
            </a:r>
            <a:r>
              <a:rPr lang="en-US" sz="1725">
                <a:solidFill>
                  <a:srgbClr val="B9C6E4"/>
                </a:solidFill>
                <a:latin typeface="Inter"/>
                <a:ea typeface="Inter"/>
              </a:rPr>
              <a:t> → </a:t>
            </a:r>
            <a:r>
              <a:rPr lang="zh-CN" sz="1725">
                <a:solidFill>
                  <a:srgbClr val="B9C6E4"/>
                </a:solidFill>
                <a:latin typeface="Inter"/>
                <a:ea typeface="Inter"/>
              </a:rPr>
              <a:t>下单</a:t>
            </a:r>
            <a:r>
              <a:rPr lang="en-US" sz="1725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725">
                <a:solidFill>
                  <a:srgbClr val="B9C6E4"/>
                </a:solidFill>
                <a:latin typeface="Inter"/>
                <a:ea typeface="Inter"/>
              </a:rPr>
              <a:t>这套动作完全一样。这一章讲的是操作本身。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762000" y="4819650"/>
            <a:ext cx="11334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952500" y="49815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095375" y="49149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六步动线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2028825" y="4819650"/>
            <a:ext cx="12858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0" name=""/>
          <p:cNvSpPr/>
          <p:nvPr/>
        </p:nvSpPr>
        <p:spPr>
          <a:xfrm rot="0" flipH="0" flipV="0">
            <a:off x="2219325" y="49815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2362200" y="49149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购物车规则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3448050" y="4819650"/>
            <a:ext cx="14382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3" name=""/>
          <p:cNvSpPr/>
          <p:nvPr/>
        </p:nvSpPr>
        <p:spPr>
          <a:xfrm rot="0" flipH="0" flipV="0">
            <a:off x="3638550" y="49815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781425" y="49149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配送与自提点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5019675" y="4819650"/>
            <a:ext cx="14382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5210175" y="49815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353050" y="49149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五种支付方式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6591300" y="4819650"/>
            <a:ext cx="15906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9" name=""/>
          <p:cNvSpPr/>
          <p:nvPr/>
        </p:nvSpPr>
        <p:spPr>
          <a:xfrm rot="0" flipH="0" flipV="0">
            <a:off x="6781800" y="49815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924675" y="49149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摘要与放行条件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8315325" y="4819650"/>
            <a:ext cx="1133475" cy="381000"/>
          </a:xfrm>
          <a:prstGeom prst="roundRect">
            <a:avLst>
              <a:gd name="adj" fmla="val 2497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FD3E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8505825" y="49815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8648700" y="49149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订单落库</a:t>
            </a:r>
            <a:endParaRPr/>
          </a:p>
        </p:txBody>
      </p:sp>
    </p:spTree>
  </p:cSld>
</p:sld>
</file>

<file path=ppt/slides/slide2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76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下单六步与购物车规则&lt;/Text&gt;&#10;        &lt;Text style={{ fontSize: 16, color: '#5C646A', lineHeight: 1.4, marginTop: 6 }}&gt;&#10;            三条路径的操作动作一致，括号里是界面上的英文按钮原文&#10;        &lt;/Text&gt;&#10;    &lt;/Box&gt;&#10;&#10;    {/* ===== B 区（左大图 + 右侧文字） ===== */}&#10;    &lt;Box style={{ height: 540, flexDirection: 'row', gap: 24 }}&gt;&#10;        {/* 左：六步 SVG */}&#10;        &lt;Box style={{ width: 720, background: '#F4F6F8', borderRadius: 10, padding: 16, justifyContent: 'center' }}&gt;&#10;            &lt;svg width={688} height={500} viewBox='0 0 688 500'&gt;&#10;                &lt;line x1='32' y1='30' x2='32' y2='470' stroke='#2AA7CF' strokeWidth='2' strokeDasharray='5 5' /&gt;&#10;                {[&#10;                    { t: '浏览商品，点 Add to Cart', d: '商品列表卡片与商品详情页都有加购按钮' },&#10;                    { t: '打开购物车，核对数量', d: 'cart.html · 数量范围 1–99，可改可删' },&#10;                    { t: '点 Proceed to checkout 进结算', d: '跳转 checkout.html?cart=1' },&#10;                    { t: '选配送方式，填联系人', d: 'Door delivery 或 Self-pickup，再填电话邮箱' },&#10;                    { t: '选支付方式', d: 'COD / Card / USSD / Bank transfer / Account Balance' },&#10;                    { t: '勾同意项，点 Place order 下单', d: '写库后跳 shipping.html?order=AQ-XXXXXX' },&#10;                ].map(function (it, i) {&#10;                    var y = i * 80;&#10;                    return (&#10;                        &lt;g key={i}&gt;&#10;                            &lt;circle cx='32' cy={y + 30} r='20' fill={i === 5 ? '#F287B7' : '#202259'} /&gt;&#10;                            &lt;text x='32' y={y + 36} fill='#FFFFFF' fontSize={17} fontWeight='bold' textAnchor='middle' fontFamily='Inter, PingFang SC, sans-serif'&gt;{i + 1}&lt;/text&gt;&#10;                            &lt;rect x='70' y={y} width='618' height='62' rx='8' fill={i === 5 ? 'rgba(242,135,183,0.14)' : '#FFFFFF'} stroke={i === 5 ? '#F287B7' : '#E3E6E8'} strokeWidth='1.5' /&gt;&#10;                            &lt;text x='88' y={y + 27} fill='#202259' fontSize={18} fontWeight='bold' fontFamily='Inter, PingFang SC, sans-serif'&gt;{it.t}&lt;/text&gt;&#10;                            &lt;text x='88' y={y + 49} fill='#5C646A' fontSize={15} fontFamily='Inter, PingFang SC, sans-serif'&gt;{it.d}&lt;/text&gt;&#10;                        &lt;/g&gt;&#10;                    );&#10;                })}&#10;            &lt;/svg&gt;&#10;        &lt;/Box&gt;&#10;&#10;        {/* 右：购物车规则 */}&#10;        &lt;Box style={{ flex: 1, flexDirection: 'column', gap: 12 }}&gt;&#10;            &lt;Text style={{ fontSize: 19, fontWeight: 'bold', color: '#202259' }}&gt;购物车四条规则&lt;/Text&gt;&#10;            {[&#10;                { t: '按商品 ID 合并', d: '同一件商品反复加购只增加数量，不会多出重复行。' },&#10;                { t: '数量锁在 1–99', d: '点加减或直接输入都可以，超出范围会被夹回边界。' },&#10;                { t: '两个删除动作', d: 'Remove 删单条，Clear cart 清空整车；空车显示空态卡和继续购物按钮。' },&#10;                { t: '汇总只有四行', d: '件数、商品小计、运费、总计。运费固定显示&quot;结算时计算&quot;，页面不做实际计算，所以总计等于小计。' },&#10;            ].map(function (it, i) {&#10;                return (&#10;                    &lt;Box key={i} style={{ flex: 1, background: '#F4F6F8', borderRadius: 8, padding: '0 16px', justifyContent: 'center', borderLeft: '4px solid #2AA7CF' }}&gt;&#10;                        &lt;Text style={{ fontSize: 18, fontWeight: 'bold', color: '#202259', lineHeight: 1.3 }}&gt;{it.t}&lt;/Text&gt;&#10;                        &lt;Text style={{ fontSize: 15, color: '#3F4A55', lineHeight: 1.45, marginTop: 4 }}&gt;{it.d}&lt;/Text&gt;&#10;                    &lt;/Box&gt;&#10;                );&#10;            })}&#10;&#10;            &lt;Box style={{ background: 'rgba(242,135,183,0.14)', borderLeft: '4px solid #F287B7', borderRadius: 8, padding: '14px 16px' }}&gt;&#10;                &lt;Text style={{ fontSize: 16, color: '#4A3040', lineHeight: 1.5 }}&gt;&#10;                    提醒：商品详情页的 &lt;span style={{ fontWeight: 'bold' }}&gt;Buy Now&lt;/span&gt; 会先把商品写进购物车再跳结算 —— 所以购物车里原有的东西会一起被结算。&#10;                &lt;/Text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20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下单六步与购物车规则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三条路径的操作动作一致，括号里是界面上的英文按钮原文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571500" y="1143000"/>
            <a:ext cx="6858000" cy="5143500"/>
          </a:xfrm>
          <a:prstGeom prst="roundRect">
            <a:avLst>
              <a:gd name="adj" fmla="val 1852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4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" y="1333500"/>
            <a:ext cx="6553200" cy="4762500"/>
          </a:xfrm>
          <a:prstGeom prst="rect">
            <a:avLst/>
          </a:prstGeom>
          <a:ln/>
        </p:spPr>
      </p:pic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7658100" y="1143000"/>
            <a:ext cx="3962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购物车四条规则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7696200" y="1476375"/>
            <a:ext cx="3962400" cy="695325"/>
          </a:xfrm>
          <a:prstGeom prst="roundRect">
            <a:avLst>
              <a:gd name="adj" fmla="val 1095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84" name=""/>
          <p:cNvSpPr/>
          <p:nvPr/>
        </p:nvSpPr>
        <p:spPr>
          <a:xfrm rot="0" flipH="0" flipV="0">
            <a:off x="7696200" y="1476375"/>
            <a:ext cx="3962400" cy="695325"/>
          </a:xfrm>
          <a:custGeom>
            <a:pathLst>
              <a:path w="416" h="7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9"/>
                </a:lnTo>
                <a:cubicBezTo>
                  <a:pt x="4" y="71"/>
                  <a:pt x="5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7848600" y="1543050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按商品</a:t>
            </a: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 ID </a:t>
            </a: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合并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7848600" y="185737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同一件商品反复加购只增加数量，不会多出重复行。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7696200" y="2286000"/>
            <a:ext cx="3962400" cy="685800"/>
          </a:xfrm>
          <a:prstGeom prst="roundRect">
            <a:avLst>
              <a:gd name="adj" fmla="val 1111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88" name=""/>
          <p:cNvSpPr/>
          <p:nvPr/>
        </p:nvSpPr>
        <p:spPr>
          <a:xfrm rot="0" flipH="0" flipV="0">
            <a:off x="7696200" y="2286000"/>
            <a:ext cx="3962400" cy="685800"/>
          </a:xfrm>
          <a:custGeom>
            <a:pathLst>
              <a:path w="416" h="7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8"/>
                </a:lnTo>
                <a:cubicBezTo>
                  <a:pt x="4" y="70"/>
                  <a:pt x="5" y="72"/>
                  <a:pt x="7" y="72"/>
                </a:cubicBezTo>
                <a:cubicBezTo>
                  <a:pt x="3" y="72"/>
                  <a:pt x="0" y="68"/>
                  <a:pt x="0" y="6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7848600" y="2343150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数量锁在</a:t>
            </a: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 1–99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7848600" y="265747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点加减或直接输入都可以，超出范围会被夹回边界。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7696200" y="3086100"/>
            <a:ext cx="3962400" cy="942975"/>
          </a:xfrm>
          <a:prstGeom prst="roundRect">
            <a:avLst>
              <a:gd name="adj" fmla="val 808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92" name=""/>
          <p:cNvSpPr/>
          <p:nvPr/>
        </p:nvSpPr>
        <p:spPr>
          <a:xfrm rot="0" flipH="0" flipV="0">
            <a:off x="7696200" y="3086100"/>
            <a:ext cx="3962400" cy="942975"/>
          </a:xfrm>
          <a:custGeom>
            <a:pathLst>
              <a:path w="416" h="9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5"/>
                </a:lnTo>
                <a:cubicBezTo>
                  <a:pt x="4" y="97"/>
                  <a:pt x="5" y="99"/>
                  <a:pt x="7" y="99"/>
                </a:cubicBezTo>
                <a:cubicBezTo>
                  <a:pt x="3" y="99"/>
                  <a:pt x="0" y="95"/>
                  <a:pt x="0" y="9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7848600" y="3152775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两个删除动作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7848600" y="3467100"/>
            <a:ext cx="3619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Remove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删单条，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Clear cart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清空整车；空车显示空态卡和继续购物按钮。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7696200" y="4143375"/>
            <a:ext cx="3962400" cy="933450"/>
          </a:xfrm>
          <a:prstGeom prst="roundRect">
            <a:avLst>
              <a:gd name="adj" fmla="val 816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96" name=""/>
          <p:cNvSpPr/>
          <p:nvPr/>
        </p:nvSpPr>
        <p:spPr>
          <a:xfrm rot="0" flipH="0" flipV="0">
            <a:off x="7696200" y="4143375"/>
            <a:ext cx="3962400" cy="933450"/>
          </a:xfrm>
          <a:custGeom>
            <a:pathLst>
              <a:path w="416" h="9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4"/>
                </a:lnTo>
                <a:cubicBezTo>
                  <a:pt x="4" y="96"/>
                  <a:pt x="5" y="98"/>
                  <a:pt x="7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7848600" y="4200525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02259"/>
                </a:solidFill>
                <a:latin typeface="Inter"/>
                <a:ea typeface="Inter"/>
              </a:rPr>
              <a:t>汇总只有四行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7848600" y="4514850"/>
            <a:ext cx="3619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件数、商品小计、运费、总计。运费固定显示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结算时计算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"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，页面不做实际计算，所以总计等于小计。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7696200" y="5191125"/>
            <a:ext cx="3962400" cy="1095375"/>
          </a:xfrm>
          <a:prstGeom prst="roundRect">
            <a:avLst>
              <a:gd name="adj" fmla="val 6957"/>
            </a:avLst>
          </a:prstGeom>
          <a:solidFill>
            <a:srgbClr val="F287B7">
              <a:alpha val="14000"/>
            </a:srgbClr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7696200" y="5191125"/>
            <a:ext cx="3962400" cy="1095375"/>
          </a:xfrm>
          <a:custGeom>
            <a:pathLst>
              <a:path w="416" h="11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1"/>
                </a:lnTo>
                <a:cubicBezTo>
                  <a:pt x="4" y="113"/>
                  <a:pt x="5" y="115"/>
                  <a:pt x="7" y="115"/>
                </a:cubicBezTo>
                <a:cubicBezTo>
                  <a:pt x="3" y="115"/>
                  <a:pt x="0" y="111"/>
                  <a:pt x="0" y="10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7848600" y="5324475"/>
            <a:ext cx="3619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提醒：商品详情页的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 </a:t>
            </a:r>
            <a:r>
              <a:rPr lang="en-US" sz="1200" b="1">
                <a:solidFill>
                  <a:srgbClr val="4A3040"/>
                </a:solidFill>
                <a:latin typeface="Inter"/>
                <a:ea typeface="Inter"/>
              </a:rPr>
              <a:t>Buy Now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 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会先把商品写进购物车再跳结算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所以购物车里原有的东西会一起被结算。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20 / 31</a:t>
            </a:r>
            <a:endParaRPr/>
          </a:p>
        </p:txBody>
      </p:sp>
    </p:spTree>
  </p:cSld>
</p:sld>
</file>

<file path=ppt/slides/slide2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05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配送方式与自提点&lt;/Text&gt;&#10;        &lt;Text style={{ fontSize: 16, color: '#5C646A', lineHeight: 1.4, marginTop: 6 }}&gt;&#10;            两种方式走不同的表单分支，自提只需选一个网点&#10;        &lt;/Text&gt;&#10;    &lt;/Box&gt;&#10;&#10;    {/* ===== B 区（非对称双栏） ===== */}&#10;    &lt;Box style={{ height: 540, flexDirection: 'row', gap: 24 }}&gt;&#10;        {/* 左栏 */}&#10;        &lt;Box style={{ width: 404, background: '#202259', borderRadius: 10, padding: '24px 22px', flexDirection: 'column' }}&gt;&#10;            &lt;Text style={{ fontSize: 15, color: '#7FD3EC', letterSpacing: 2, fontWeight: 'bold' }}&gt;DELIVERY&lt;/Text&gt;&#10;            &lt;Text style={{ fontSize: 30, fontWeight: 'bold', color: '#FFFFFF', lineHeight: 1.22, marginTop: 12 }}&gt;&#10;                送货上门&#10;                &lt;br /&gt;&#10;                还是自提&#10;            &lt;/Text&gt;&#10;            &lt;Text style={{ fontSize: 17, color: '#B9C6E4', lineHeight: 1.6, marginTop: 16 }}&gt;&#10;                这个开关决定下半页显示哪一块表单：送货显示完整地址表单，自提显示三个网点供选择。&#10;            &lt;/Text&gt;&#10;&#10;            &lt;Box style={{ flexDirection: 'column', gap: 12, marginTop: 22 }}&gt;&#10;                &lt;Box style={{ background: 'rgba(42,167,207,0.16)', borderRadius: 8, padding: '12px 14px' }}&gt;&#10;                    &lt;Text style={{ fontSize: 16, color: '#CFE9F4', lineHeight: 1.5 }}&gt;&#10;                        默认选中送货上门。未登录时，&quot;保存地址&quot;整块选择器是隐藏的。&#10;                    &lt;/Text&gt;&#10;                &lt;/Box&gt;&#10;                &lt;Box style={{ background: 'rgba(242,135,183,0.16)', borderRadius: 8, padding: '12px 14px' }}&gt;&#10;                    &lt;Text style={{ fontSize: 16, color: '#FBE0EE', lineHeight: 1.5 }}&gt;&#10;                        自提网点默认选中 Lagos HQ，网点名与地址在不同页面各写了一份，改文案要同步。&#10;                    &lt;/Text&gt;&#10;                &lt;/Box&gt;&#10;            &lt;/Box&gt;&#10;&#10;            &lt;Box style={{ flexDirection: 'row', alignItems: 'center', gap: 10, marginTop: 'auto', paddingTop: 18, borderTop: '1px solid rgba(127,211,236,0.3)' }}&gt;&#10;                &lt;FAIcon name='map-marker-alt' style={{ fill: '#7FD3EC', width: 18, height: 18 }} /&gt;&#10;                &lt;Text style={{ fontSize: 15, color: '#B9C6E4' }}&gt;选自提时，地址分区整块收起&lt;/Text&gt;&#10;            &lt;/Box&gt;&#10;        &lt;/Box&gt;&#10;&#10;        {/* 右栏 */}&#10;        &lt;Box style={{ flex: 1, flexDirection: 'column', gap: 16 }}&gt;&#10;            {/* 两种方式 */}&#10;            &lt;Box style={{ flexDirection: 'row', gap: 16, height: 186 }}&gt;&#10;                {[&#10;                    { t: 'Door delivery', sub: 'We deliver to your address', on: true, rows: ['收货地址表单生效', '可选已保存地址或新增', '需填姓名 / 电话 / 城市 / 州'] },&#10;                    { t: 'Self-pickup', sub: 'Pick up at our office', on: false, rows: ['地址表单整块隐藏', '改为选择自提网点', '下单后到网点自取'] },&#10;                ].map(function (it, i) {&#10;                    return (&#10;                        &lt;Box key={i} style={{ flex: 1, background: it.on ? 'rgba(42,167,207,0.10)' : '#F4F6F8', border: it.on ? '2px solid #2AA7CF' : '1px solid #E3E6E8', borderRadius: 10, padding: '16px 18px', flexDirection: 'column' }}&gt;&#10;                            &lt;Box style={{ flexDirection: 'row', alignItems: 'center', gap: 10 }}&gt;&#10;                                &lt;Box style={{ width: 18, height: 18, borderRadius: 9, border: it.on ? '5px solid #2AA7CF' : '2px solid #859EB3', background: '#FFFFFF' }} /&gt;&#10;                                &lt;Text style={{ fontSize: 19, fontWeight: 'bold', color: '#202259' }}&gt;{it.t}&lt;/Text&gt;&#10;                                {it.on ? (&#10;                                    &lt;Box style={{ marginLeft: 'auto', padding: '3px 10px', background: '#202259', borderRadius: 999 }}&gt;&#10;                                        &lt;Text style={{ fontSize: 13, color: '#FFFFFF' }}&gt;默认&lt;/Text&gt;&#10;                                    &lt;/Box&gt;&#10;                                ) : null}&#10;                            &lt;/Box&gt;&#10;                            &lt;Text style={{ fontSize: 14, color: '#5C646A', marginTop: 5 }}&gt;{it.sub}&lt;/Text&gt;&#10;                            &lt;Box style={{ flexDirection: 'column', gap: 6, marginTop: 12 }}&gt;&#10;                                {it.rows.map(function (r, j) {&#10;                                    return (&#10;                                        &lt;Box key={j} style={{ flexDirection: 'row', gap: 8 }}&gt;&#10;                                            &lt;Text style={{ fontSize: 15, color: '#2AA7CF' }}&gt;·&lt;/Text&gt;&#10;                                            &lt;Text style={{ fontSize: 15, color: '#3F4A55', lineHeight: 1.35, flex: 1 }}&gt;{r}&lt;/Text&gt;&#10;                                        &lt;/Box&gt;&#10;                                    );&#10;                                })}&#10;                            &lt;/Box&gt;&#10;                        &lt;/Box&gt;&#10;                    );&#10;                })}&#10;            &lt;/Box&gt;&#10;&#10;            {/* 自提点 */}&#10;            &lt;Box style={{ flex: 1, background: '#F4F6F8', borderRadius: 10, padding: '16px 18px', flexDirection: 'column' }}&gt;&#10;                &lt;Box style={{ flexDirection: 'row', alignItems: 'center', justifyContent: 'space-between', marginBottom: 10 }}&gt;&#10;                    &lt;Text style={{ fontSize: 19, fontWeight: 'bold', color: '#202259' }}&gt;三个自提点&lt;/Text&gt;&#10;                    &lt;Text style={{ fontSize: 14, color: '#5C646A' }}&gt;单选 · 选中后显示 Selected&lt;/Text&gt;&#10;                &lt;/Box&gt;&#10;                &lt;Box style={{ flex: 1, flexDirection: 'column', gap: 8 }}&gt;&#10;                    {[&#10;                        { n: 'Lagos HQ', tag: 'HQ', a: '12B Admiralty Way, Lekki Phase 1', h: 'Mon–Sat · 8:00 – 18:00', on: true },&#10;                        { n: 'Abuja branch', tag: '', a: 'Plot 24, Wuse Zone 5', h: 'Mon–Fri · 9:00 – 17:00', on: false },&#10;                        { n: 'Port Harcourt branch', tag: '', a: '5 Aba Road, GRA Phase 2', h: 'Mon–Fri · 9:00 – 17:00', on: false },&#10;                    ].map(function (it, i) {&#10;                        return (&#10;                            &lt;Box key={i} style={{ flex: 1, flexDirection: 'row', alignItems: 'center', gap: 14, background: '#FFFFFF', borderRadius: 8, padding: '0 16px', borderLeft: it.on ? '4px solid #F287B7' : '4px solid #E3E6E8' }}&gt;&#10;                                &lt;Text style={{ fontSize: 17, fontWeight: 'bold', color: '#202259', width: 196 }}&gt;{it.n}&lt;/Text&gt;&#10;                                {it.tag ? (&#10;                                    &lt;Box style={{ padding: '2px 9px', background: '#F287B7', borderRadius: 4 }}&gt;&#10;                                        &lt;Text style={{ fontSize: 13, color: '#FFFFFF', fontWeight: 'bold' }}&gt;{it.tag}&lt;/Text&gt;&#10;                                    &lt;/Box&gt;&#10;                                ) : null}&#10;                                &lt;Text style={{ fontSize: 16, color: '#3F4A55', flex: 1 }}&gt;{it.a}&lt;/Text&gt;&#10;                                &lt;Box style={{ flexDirection: 'row', alignItems: 'center', gap: 7 }}&gt;&#10;                                    &lt;FAIcon name='clock' style={{ fill: '#859EB3', width: 15, height: 15 }} /&gt;&#10;                                    &lt;Text style={{ fontSize: 15, color: '#5C646A' }}&gt;{it.h}&lt;/Text&gt;&#10;                                &lt;/Box&gt;&#10;                            &lt;/Box&gt;&#10;                        );&#10;                    })}&#10;                &lt;/Box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21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配送方式与自提点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两种方式走不同的表单分支，自提只需选一个网点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571500" y="1143000"/>
            <a:ext cx="3848100" cy="5143500"/>
          </a:xfrm>
          <a:prstGeom prst="roundRect">
            <a:avLst>
              <a:gd name="adj" fmla="val 2475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781050" y="1371600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DELIVERY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781050" y="1657350"/>
            <a:ext cx="3429000" cy="83820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2250" b="1">
                <a:solidFill>
                  <a:srgbClr val="FFFFFF"/>
                </a:solidFill>
                <a:latin typeface="Inter"/>
                <a:ea typeface="Inter"/>
              </a:rPr>
              <a:t>送货上门</a:t>
            </a:r>
            <a:endParaRPr/>
          </a:p>
          <a:p>
            <a:pPr>
              <a:lnSpc>
                <a:spcPct val="122000"/>
              </a:lnSpc>
            </a:pPr>
            <a:r>
              <a:rPr lang="zh-CN" sz="2250" b="1">
                <a:solidFill>
                  <a:srgbClr val="FFFFFF"/>
                </a:solidFill>
                <a:latin typeface="Inter"/>
                <a:ea typeface="Inter"/>
              </a:rPr>
              <a:t>还是自提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781050" y="2647950"/>
            <a:ext cx="3429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这个开关决定下半页显示哪一块表单：送货显示完整地址表单，自提显示三个网点供选择。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781050" y="3486150"/>
            <a:ext cx="3429000" cy="781050"/>
          </a:xfrm>
          <a:prstGeom prst="roundRect">
            <a:avLst>
              <a:gd name="adj" fmla="val 9756"/>
            </a:avLst>
          </a:prstGeom>
          <a:solidFill>
            <a:srgbClr val="2AA7CF">
              <a:alpha val="16000"/>
            </a:srgbClr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914400" y="3600450"/>
            <a:ext cx="3162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默认选中送货上门。未登录时，</a:t>
            </a:r>
            <a:r>
              <a:rPr lang="en-US" sz="1200">
                <a:solidFill>
                  <a:srgbClr val="CFE9F4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保存地址</a:t>
            </a:r>
            <a:r>
              <a:rPr lang="en-US" sz="1200">
                <a:solidFill>
                  <a:srgbClr val="CFE9F4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CFE9F4"/>
                </a:solidFill>
                <a:latin typeface="Inter"/>
                <a:ea typeface="Inter"/>
              </a:rPr>
              <a:t>整块选择器是隐藏的。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781050" y="4381500"/>
            <a:ext cx="3429000" cy="781050"/>
          </a:xfrm>
          <a:prstGeom prst="roundRect">
            <a:avLst>
              <a:gd name="adj" fmla="val 9756"/>
            </a:avLst>
          </a:prstGeom>
          <a:solidFill>
            <a:srgbClr val="F287B7">
              <a:alpha val="16000"/>
            </a:srgbClr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914400" y="4495800"/>
            <a:ext cx="3162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BE0EE"/>
                </a:solidFill>
                <a:latin typeface="Inter"/>
                <a:ea typeface="Inter"/>
              </a:rPr>
              <a:t>自提网点默认选中</a:t>
            </a:r>
            <a:r>
              <a:rPr lang="en-US" sz="1200">
                <a:solidFill>
                  <a:srgbClr val="FBE0EE"/>
                </a:solidFill>
                <a:latin typeface="Inter"/>
                <a:ea typeface="Inter"/>
              </a:rPr>
              <a:t> Lagos HQ</a:t>
            </a:r>
            <a:r>
              <a:rPr lang="zh-CN" sz="1200">
                <a:solidFill>
                  <a:srgbClr val="FBE0EE"/>
                </a:solidFill>
                <a:latin typeface="Inter"/>
                <a:ea typeface="Inter"/>
              </a:rPr>
              <a:t>，网点名与地址在不同页面各写了一份，改文案要同步。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781050" y="5705475"/>
            <a:ext cx="3429000" cy="361950"/>
          </a:xfrm>
          <a:custGeom>
            <a:pathLst>
              <a:path w="360" h="38">
                <a:moveTo>
                  <a:pt x="0" y="0"/>
                </a:moveTo>
                <a:lnTo>
                  <a:pt x="360" y="0"/>
                </a:lnTo>
                <a:lnTo>
                  <a:pt x="360" y="1"/>
                </a:lnTo>
                <a:lnTo>
                  <a:pt x="0" y="1"/>
                </a:lnTo>
                <a:close/>
              </a:path>
            </a:pathLst>
          </a:custGeom>
          <a:solidFill>
            <a:srgbClr val="7FD3EC">
              <a:alpha val="30000"/>
            </a:srgbClr>
          </a:solidFill>
          <a:ln/>
        </p:spPr>
        <p:txBody>
          <a:bodyPr/>
          <a:p/>
        </p:txBody>
      </p:sp>
      <p:pic>
        <p:nvPicPr>
          <p:cNvPr id="5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" y="5886450"/>
            <a:ext cx="171450" cy="171450"/>
          </a:xfrm>
          <a:prstGeom prst="rect">
            <a:avLst/>
          </a:prstGeom>
          <a:ln/>
        </p:spPr>
      </p:pic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047750" y="588645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6E4"/>
                </a:solidFill>
                <a:latin typeface="Inter"/>
                <a:ea typeface="Inter"/>
              </a:rPr>
              <a:t>选自提时，地址分区整块收起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4648200" y="1143000"/>
            <a:ext cx="3409950" cy="1771650"/>
          </a:xfrm>
          <a:prstGeom prst="roundRect">
            <a:avLst>
              <a:gd name="adj" fmla="val 5376"/>
            </a:avLst>
          </a:prstGeom>
          <a:solidFill>
            <a:srgbClr val="2AA7CF">
              <a:alpha val="10000"/>
            </a:srgbClr>
          </a:solidFill>
          <a:ln w="25400">
            <a:solidFill>
              <a:srgbClr val="2AA7CF"/>
            </a:solidFill>
            <a:prstDash val="solid"/>
          </a:ln>
        </p:spPr>
        <p:txBody>
          <a:bodyPr/>
          <a:p/>
        </p:txBody>
      </p:sp>
      <p:sp>
        <p:nvSpPr>
          <p:cNvPr id="521" name=""/>
          <p:cNvSpPr/>
          <p:nvPr/>
        </p:nvSpPr>
        <p:spPr>
          <a:xfrm rot="0" flipH="0" flipV="0">
            <a:off x="4819650" y="13239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0">
            <a:solidFill>
              <a:srgbClr val="2AA7CF"/>
            </a:solidFill>
            <a:prstDash val="solid"/>
          </a:ln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5086350" y="1295400"/>
            <a:ext cx="114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Door delivery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7448550" y="1304925"/>
            <a:ext cx="438150" cy="209550"/>
          </a:xfrm>
          <a:prstGeom prst="roundRect">
            <a:avLst>
              <a:gd name="adj" fmla="val 4540909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7543800" y="13335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Inter"/>
                <a:ea typeface="Inter"/>
              </a:rPr>
              <a:t>默认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4819650" y="1562100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46A"/>
                </a:solidFill>
                <a:latin typeface="Inter"/>
                <a:ea typeface="Inter"/>
              </a:rPr>
              <a:t>We deliver to your address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4819650" y="1838325"/>
            <a:ext cx="762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A7CF"/>
                </a:solidFill>
                <a:latin typeface="Inter"/>
                <a:ea typeface="Inter"/>
              </a:rPr>
              <a:t>·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4972050" y="1838325"/>
            <a:ext cx="29146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收货地址表单生效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819650" y="2133600"/>
            <a:ext cx="762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A7CF"/>
                </a:solidFill>
                <a:latin typeface="Inter"/>
                <a:ea typeface="Inter"/>
              </a:rPr>
              <a:t>·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4972050" y="2133600"/>
            <a:ext cx="29146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可选已保存地址或新增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4819650" y="2428875"/>
            <a:ext cx="762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A7CF"/>
                </a:solidFill>
                <a:latin typeface="Inter"/>
                <a:ea typeface="Inter"/>
              </a:rPr>
              <a:t>·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4972050" y="2428875"/>
            <a:ext cx="29146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需填姓名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/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电话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/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城市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/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州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8210550" y="1143000"/>
            <a:ext cx="3409950" cy="1771650"/>
          </a:xfrm>
          <a:prstGeom prst="roundRect">
            <a:avLst>
              <a:gd name="adj" fmla="val 5376"/>
            </a:avLst>
          </a:prstGeom>
          <a:solidFill>
            <a:srgbClr val="F4F6F8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533" name=""/>
          <p:cNvSpPr/>
          <p:nvPr/>
        </p:nvSpPr>
        <p:spPr>
          <a:xfrm rot="0" flipH="0" flipV="0">
            <a:off x="8382000" y="13239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859EB3"/>
            </a:solidFill>
            <a:prstDash val="solid"/>
          </a:ln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648700" y="1295400"/>
            <a:ext cx="1019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Self-pickup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8382000" y="1562100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46A"/>
                </a:solidFill>
                <a:latin typeface="Inter"/>
                <a:ea typeface="Inter"/>
              </a:rPr>
              <a:t>Pick up at our office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8382000" y="1838325"/>
            <a:ext cx="762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A7CF"/>
                </a:solidFill>
                <a:latin typeface="Inter"/>
                <a:ea typeface="Inter"/>
              </a:rPr>
              <a:t>·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8534400" y="1838325"/>
            <a:ext cx="29146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地址表单整块隐藏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382000" y="2133600"/>
            <a:ext cx="762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A7CF"/>
                </a:solidFill>
                <a:latin typeface="Inter"/>
                <a:ea typeface="Inter"/>
              </a:rPr>
              <a:t>·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534400" y="2133600"/>
            <a:ext cx="29146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改为选择自提网点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8382000" y="2428875"/>
            <a:ext cx="762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A7CF"/>
                </a:solidFill>
                <a:latin typeface="Inter"/>
                <a:ea typeface="Inter"/>
              </a:rPr>
              <a:t>·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8534400" y="2428875"/>
            <a:ext cx="29146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下单后到网点自取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4648200" y="3067050"/>
            <a:ext cx="6972300" cy="3219450"/>
          </a:xfrm>
          <a:prstGeom prst="roundRect">
            <a:avLst>
              <a:gd name="adj" fmla="val 295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4819650" y="321945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三个自提点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9772650" y="3248025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C646A"/>
                </a:solidFill>
                <a:latin typeface="Inter"/>
                <a:ea typeface="Inter"/>
              </a:rPr>
              <a:t>单选</a:t>
            </a:r>
            <a:r>
              <a:rPr lang="en-US" sz="1050">
                <a:solidFill>
                  <a:srgbClr val="5C646A"/>
                </a:solidFill>
                <a:latin typeface="Inter"/>
                <a:ea typeface="Inter"/>
              </a:rPr>
              <a:t> · </a:t>
            </a:r>
            <a:r>
              <a:rPr lang="zh-CN" sz="1050">
                <a:solidFill>
                  <a:srgbClr val="5C646A"/>
                </a:solidFill>
                <a:latin typeface="Inter"/>
                <a:ea typeface="Inter"/>
              </a:rPr>
              <a:t>选中后显示</a:t>
            </a:r>
            <a:r>
              <a:rPr lang="en-US" sz="1050">
                <a:solidFill>
                  <a:srgbClr val="5C646A"/>
                </a:solidFill>
                <a:latin typeface="Inter"/>
                <a:ea typeface="Inter"/>
              </a:rPr>
              <a:t> Selected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4857750" y="3533775"/>
            <a:ext cx="66294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6" name=""/>
          <p:cNvSpPr/>
          <p:nvPr/>
        </p:nvSpPr>
        <p:spPr>
          <a:xfrm rot="0" flipH="0" flipV="0">
            <a:off x="4857750" y="3533775"/>
            <a:ext cx="6629400" cy="819150"/>
          </a:xfrm>
          <a:custGeom>
            <a:pathLst>
              <a:path w="696" h="8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2"/>
                </a:lnTo>
                <a:cubicBezTo>
                  <a:pt x="4" y="84"/>
                  <a:pt x="5" y="86"/>
                  <a:pt x="7" y="86"/>
                </a:cubicBezTo>
                <a:cubicBezTo>
                  <a:pt x="3" y="86"/>
                  <a:pt x="0" y="82"/>
                  <a:pt x="0" y="7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5010150" y="384810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Lagos HQ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7010400" y="3848100"/>
            <a:ext cx="361950" cy="190500"/>
          </a:xfrm>
          <a:prstGeom prst="roundRect">
            <a:avLst>
              <a:gd name="adj" fmla="val 2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096125" y="3867150"/>
            <a:ext cx="19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Inter"/>
                <a:ea typeface="Inter"/>
              </a:rPr>
              <a:t>HQ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505700" y="3848100"/>
            <a:ext cx="179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12B Admiralty Way, Lekki Phase 1</a:t>
            </a:r>
            <a:endParaRPr/>
          </a:p>
        </p:txBody>
      </p:sp>
      <p:pic>
        <p:nvPicPr>
          <p:cNvPr id="5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429750" y="3876675"/>
            <a:ext cx="142875" cy="142875"/>
          </a:xfrm>
          <a:prstGeom prst="rect">
            <a:avLst/>
          </a:prstGeom>
          <a:ln/>
        </p:spPr>
      </p:pic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9639300" y="3857625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Mon–Sat · 8:00 – 18:00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4857750" y="4429125"/>
            <a:ext cx="662940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4" name=""/>
          <p:cNvSpPr/>
          <p:nvPr/>
        </p:nvSpPr>
        <p:spPr>
          <a:xfrm rot="0" flipH="0" flipV="0">
            <a:off x="4857750" y="4429125"/>
            <a:ext cx="6629400" cy="809625"/>
          </a:xfrm>
          <a:custGeom>
            <a:pathLst>
              <a:path w="696" h="8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1"/>
                </a:lnTo>
                <a:cubicBezTo>
                  <a:pt x="4" y="83"/>
                  <a:pt x="5" y="85"/>
                  <a:pt x="7" y="85"/>
                </a:cubicBezTo>
                <a:cubicBezTo>
                  <a:pt x="3" y="85"/>
                  <a:pt x="0" y="81"/>
                  <a:pt x="0" y="7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5010150" y="4733925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Abuja branch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7010400" y="4743450"/>
            <a:ext cx="234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Plot 24, Wuse Zone 5</a:t>
            </a:r>
            <a:endParaRPr/>
          </a:p>
        </p:txBody>
      </p:sp>
      <p:pic>
        <p:nvPicPr>
          <p:cNvPr id="5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486900" y="4772025"/>
            <a:ext cx="142875" cy="142875"/>
          </a:xfrm>
          <a:prstGeom prst="rect">
            <a:avLst/>
          </a:prstGeom>
          <a:ln/>
        </p:spPr>
      </p:pic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9696450" y="475297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Mon–Fri · 9:00 – 17:00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4857750" y="5314950"/>
            <a:ext cx="66294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0" name=""/>
          <p:cNvSpPr/>
          <p:nvPr/>
        </p:nvSpPr>
        <p:spPr>
          <a:xfrm rot="0" flipH="0" flipV="0">
            <a:off x="4857750" y="5314950"/>
            <a:ext cx="6629400" cy="819150"/>
          </a:xfrm>
          <a:custGeom>
            <a:pathLst>
              <a:path w="696" h="8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2"/>
                </a:lnTo>
                <a:cubicBezTo>
                  <a:pt x="4" y="84"/>
                  <a:pt x="5" y="86"/>
                  <a:pt x="7" y="86"/>
                </a:cubicBezTo>
                <a:cubicBezTo>
                  <a:pt x="3" y="86"/>
                  <a:pt x="0" y="82"/>
                  <a:pt x="0" y="7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5010150" y="5629275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Port Harcourt branch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010400" y="5629275"/>
            <a:ext cx="234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5 Aba Road, GRA Phase 2</a:t>
            </a:r>
            <a:endParaRPr/>
          </a:p>
        </p:txBody>
      </p:sp>
      <p:pic>
        <p:nvPicPr>
          <p:cNvPr id="5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486900" y="5657850"/>
            <a:ext cx="142875" cy="142875"/>
          </a:xfrm>
          <a:prstGeom prst="rect">
            <a:avLst/>
          </a:prstGeom>
          <a:ln/>
        </p:spPr>
      </p:pic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9696450" y="5638800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Mon–Fri · 9:00 – 17:00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21 / 31</a:t>
            </a:r>
            <a:endParaRPr/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568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五种支付方式&lt;/Text&gt;&#10;        &lt;Text style={{ fontSize: 16, color: '#5C646A', lineHeight: 1.4, marginTop: 6 }}&gt;&#10;            其中只有一种是真正跟登录态挂钩的 —— 就是第五条&#10;        &lt;/Text&gt;&#10;    &lt;/Box&gt;&#10;&#10;    {/* ===== B 区（巨型数字 + 洞察） ===== */}&#10;    &lt;Box style={{ height: 540, flexDirection: 'row', gap: 24 }}&gt;&#10;        {/* 左：巨型数字 + 五种方式 */}&#10;        &lt;Box style={{ width: 720, flexDirection: 'column', gap: 16 }}&gt;&#10;            &lt;Box style={{ height: 132, background: '#202259', borderRadius: 10, padding: '0 26px', flexDirection: 'row', alignItems: 'center', gap: 20 }}&gt;&#10;                &lt;Text style={{ fontSize: 88, fontWeight: 'bold', color: '#FFFFFF', lineHeight: 1, letterSpacing: -4, fontFamily: 'Menlo, ui-monospace, monospace' }}&gt;5&lt;/Text&gt;&#10;                &lt;Box style={{ flexDirection: 'column' }}&gt;&#10;                    &lt;Text style={{ fontSize: 24, fontWeight: 'bold', color: '#7FD3EC' }}&gt;种支付方式&lt;/Text&gt;&#10;                    &lt;Text style={{ fontSize: 16, color: '#B9C6E4', lineHeight: 1.45, marginTop: 6 }}&gt;&#10;                        货到付款是页面默认选中项，但默认逻辑取的是&quot;第一个可用项&quot;，不是写死的 COD。&#10;                    &lt;/Text&gt;&#10;                &lt;/Box&gt;&#10;            &lt;/Box&gt;&#10;&#10;            &lt;Box style={{ flex: 1, flexDirection: 'column', gap: 8 }}&gt;&#10;                {[&#10;                    { n: 'Cash on delivery', s: 'Pay when you receive your order', f: '无字段 · 仅说明文案', hi: false },&#10;                    { n: 'Debit / credit card', s: 'Instant · Visa, MC, Verve', f: '卡号 / 持卡人 / 有效期 / CVV', hi: false },&#10;                    { n: 'USSD', s: 'All Nigerian banks', f: '固定码 *737*50*100000#', hi: true },&#10;                    { n: 'Bank transfer', s: 'Manual · 1–2 hrs', f: 'GTBank Plc · 012 345 6789 · Elken Nigeria Ltd', hi: false },&#10;                    { n: 'Account Balance', s: 'Pay with your Member Ecoin balance', f: '可用余额 / 本单金额 / 支付后余额', hi: true },&#10;                ].map(function (it, i) {&#10;                    return (&#10;                        &lt;Box key={i} style={{ flex: 1, flexDirection: 'row', alignItems: 'center', gap: 16, background: it.hi ? 'rgba(242,135,183,0.12)' : '#F4F6F8', borderRadius: 8, padding: '0 18px', borderLeft: it.hi ? '4px solid #F287B7' : '4px solid transparent' }}&gt;&#10;                            &lt;Box style={{ flexDirection: 'column', width: 232 }}&gt;&#10;                                &lt;Text style={{ fontSize: 18, fontWeight: 'bold', color: '#202259', lineHeight: 1.25 }}&gt;{it.n}&lt;/Text&gt;&#10;                                &lt;Text style={{ fontSize: 14, color: '#5C646A', marginTop: 3 }}&gt;{it.s}&lt;/Text&gt;&#10;                            &lt;/Box&gt;&#10;                            &lt;Text style={{ fontSize: 15, color: '#3F4A55', flex: 1, lineHeight: 1.4 }}&gt;{it.f}&lt;/Text&gt;&#10;                        &lt;/Box&gt;&#10;                    );&#10;                })}&#10;            &lt;/Box&gt;&#10;        &lt;/Box&gt;&#10;&#10;        {/* 右：提示 */}&#10;        &lt;Box style={{ flex: 1, flexDirection: 'column', gap: 12 }}&gt;&#10;            &lt;Box style={{ background: 'rgba(32,34,89,0.06)', borderRadius: 10, padding: '16px 18px', flexDirection: 'column', flex: 1 }}&gt;&#10;                &lt;Text style={{ fontSize: 19, fontWeight: 'bold', color: '#202259', marginBottom: 12 }}&gt;四个关键提示&lt;/Text&gt;&#10;                &lt;Box style={{ flex: 1, flexDirection: 'column', gap: 11 }}&gt;&#10;                    {[&#10;                        { t: '只有余额支付当场扣款', d: '它会直接把订单标成已支付并扣减 Ecoin 余额；其余四种下单后都是未支付状态。' },&#10;                        { t: '余额为零时该选项禁用', d: '此时默认选中项会自动落到列表里第一个可用方式，而不是固定在货到付款上。' },&#10;                        { t: 'USSD 码是写死的', d: '页面固定显示那串码，不会跟着订单金额变。演示时按固定码说明就好。' },&#10;                        { t: '访客一定用不了余额支付', d: '余额取值依赖会员身份，访客取到 0。这是三条路径里唯一被登录态卡住的支付方式。' },&#10;                    ].map(function (it, i) {&#10;                        return (&#10;                            &lt;Box key={i} style={{ flex: 1, flexDirection: 'row', gap: 11, alignItems: 'flex-start', background: '#FFFFFF', borderRadius: 8, padding: '10px 12px' }}&gt;&#10;                                &lt;Text style={{ fontSize: 15, fontWeight: 'bold', color: '#2AA7CF', fontFamily: 'Menlo, ui-monospace, monospace' }}&gt;{i + 1}&lt;/Text&gt;&#10;                                &lt;Box style={{ flex: 1, flexDirection: 'column' }}&gt;&#10;                                    &lt;Text style={{ fontSize: 16, fontWeight: 'bold', color: '#202259', lineHeight: 1.3 }}&gt;{it.t}&lt;/Text&gt;&#10;                                    &lt;Text style={{ fontSize: 14, color: '#3F4A55', lineHeight: 1.45, marginTop: 3 }}&gt;{it.d}&lt;/Text&gt;&#10;                                &lt;/Box&gt;&#10;                            &lt;/Box&gt;&#10;                        );&#10;                    })}&#10;                &lt;/Box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22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五种支付方式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其中只有一种是真正跟登录态挂钩的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就是第五条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571500" y="1143000"/>
            <a:ext cx="6858000" cy="1257300"/>
          </a:xfrm>
          <a:prstGeom prst="roundRect">
            <a:avLst>
              <a:gd name="adj" fmla="val 7576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19150" y="1266825"/>
            <a:ext cx="46672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 spc="-300">
                <a:solidFill>
                  <a:srgbClr val="FFFFFF"/>
                </a:solidFill>
                <a:latin typeface="Menlo"/>
                <a:ea typeface="Menlo"/>
              </a:rPr>
              <a:t>5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476375" y="1476375"/>
            <a:ext cx="5705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7FD3EC"/>
                </a:solidFill>
                <a:latin typeface="Inter"/>
                <a:ea typeface="Inter"/>
              </a:rPr>
              <a:t>种支付方式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1476375" y="1809750"/>
            <a:ext cx="57054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货到付款是页面默认选中项，但默认逻辑取的是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第一个可用项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，不是写死的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 COD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609600" y="2552700"/>
            <a:ext cx="6858000" cy="657225"/>
          </a:xfrm>
          <a:prstGeom prst="roundRect">
            <a:avLst>
              <a:gd name="adj" fmla="val 11594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609600" y="2552700"/>
            <a:ext cx="6858000" cy="657225"/>
          </a:xfrm>
          <a:custGeom>
            <a:pathLst>
              <a:path w="720" h="6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5"/>
                </a:lnTo>
                <a:cubicBezTo>
                  <a:pt x="4" y="67"/>
                  <a:pt x="5" y="69"/>
                  <a:pt x="7" y="69"/>
                </a:cubicBezTo>
                <a:cubicBezTo>
                  <a:pt x="3" y="69"/>
                  <a:pt x="0" y="65"/>
                  <a:pt x="0" y="6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781050" y="2657475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Cash on delivery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781050" y="2943225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46A"/>
                </a:solidFill>
                <a:latin typeface="Inter"/>
                <a:ea typeface="Inter"/>
              </a:rPr>
              <a:t>Pay when you receive your order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3143250" y="2762250"/>
            <a:ext cx="4114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无字段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·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仅说明文案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609600" y="3286125"/>
            <a:ext cx="6858000" cy="647700"/>
          </a:xfrm>
          <a:prstGeom prst="roundRect">
            <a:avLst>
              <a:gd name="adj" fmla="val 11765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82" name=""/>
          <p:cNvSpPr/>
          <p:nvPr/>
        </p:nvSpPr>
        <p:spPr>
          <a:xfrm rot="0" flipH="0" flipV="0">
            <a:off x="609600" y="3286125"/>
            <a:ext cx="6858000" cy="647700"/>
          </a:xfrm>
          <a:custGeom>
            <a:pathLst>
              <a:path w="720" h="6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4"/>
                </a:lnTo>
                <a:cubicBezTo>
                  <a:pt x="4" y="66"/>
                  <a:pt x="5" y="68"/>
                  <a:pt x="7" y="68"/>
                </a:cubicBezTo>
                <a:cubicBezTo>
                  <a:pt x="3" y="68"/>
                  <a:pt x="0" y="64"/>
                  <a:pt x="0" y="6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781050" y="3390900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Debit / credit card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781050" y="3676650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46A"/>
                </a:solidFill>
                <a:latin typeface="Inter"/>
                <a:ea typeface="Inter"/>
              </a:rPr>
              <a:t>Instant · Visa, MC, Verve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3143250" y="3486150"/>
            <a:ext cx="4114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卡号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/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持卡人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/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有效期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/ CVV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609600" y="4010025"/>
            <a:ext cx="6858000" cy="657225"/>
          </a:xfrm>
          <a:prstGeom prst="roundRect">
            <a:avLst>
              <a:gd name="adj" fmla="val 11594"/>
            </a:avLst>
          </a:prstGeom>
          <a:solidFill>
            <a:srgbClr val="F287B7">
              <a:alpha val="12000"/>
            </a:srgbClr>
          </a:solidFill>
          <a:ln/>
        </p:spPr>
        <p:txBody>
          <a:bodyPr/>
          <a:p/>
        </p:txBody>
      </p:sp>
      <p:sp>
        <p:nvSpPr>
          <p:cNvPr id="587" name=""/>
          <p:cNvSpPr/>
          <p:nvPr/>
        </p:nvSpPr>
        <p:spPr>
          <a:xfrm rot="0" flipH="0" flipV="0">
            <a:off x="609600" y="4010025"/>
            <a:ext cx="6858000" cy="657225"/>
          </a:xfrm>
          <a:custGeom>
            <a:pathLst>
              <a:path w="720" h="6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5"/>
                </a:lnTo>
                <a:cubicBezTo>
                  <a:pt x="4" y="67"/>
                  <a:pt x="5" y="69"/>
                  <a:pt x="7" y="69"/>
                </a:cubicBezTo>
                <a:cubicBezTo>
                  <a:pt x="3" y="69"/>
                  <a:pt x="0" y="65"/>
                  <a:pt x="0" y="6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781050" y="4114800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USSD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781050" y="4400550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46A"/>
                </a:solidFill>
                <a:latin typeface="Inter"/>
                <a:ea typeface="Inter"/>
              </a:rPr>
              <a:t>All Nigerian banks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3143250" y="4219575"/>
            <a:ext cx="4114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固定码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*737*50*100000#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609600" y="4743450"/>
            <a:ext cx="6858000" cy="647700"/>
          </a:xfrm>
          <a:prstGeom prst="roundRect">
            <a:avLst>
              <a:gd name="adj" fmla="val 11765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92" name=""/>
          <p:cNvSpPr/>
          <p:nvPr/>
        </p:nvSpPr>
        <p:spPr>
          <a:xfrm rot="0" flipH="0" flipV="0">
            <a:off x="609600" y="4743450"/>
            <a:ext cx="6858000" cy="647700"/>
          </a:xfrm>
          <a:custGeom>
            <a:pathLst>
              <a:path w="720" h="6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4"/>
                </a:lnTo>
                <a:cubicBezTo>
                  <a:pt x="4" y="66"/>
                  <a:pt x="5" y="68"/>
                  <a:pt x="7" y="68"/>
                </a:cubicBezTo>
                <a:cubicBezTo>
                  <a:pt x="3" y="68"/>
                  <a:pt x="0" y="64"/>
                  <a:pt x="0" y="6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781050" y="4848225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Bank transfer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781050" y="5133975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46A"/>
                </a:solidFill>
                <a:latin typeface="Inter"/>
                <a:ea typeface="Inter"/>
              </a:rPr>
              <a:t>Manual · 1–2 hrs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3143250" y="4943475"/>
            <a:ext cx="4114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GTBank Plc · 012 345 6789 · Elken Nigeria Ltd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09600" y="5467350"/>
            <a:ext cx="6858000" cy="819150"/>
          </a:xfrm>
          <a:prstGeom prst="roundRect">
            <a:avLst>
              <a:gd name="adj" fmla="val 9302"/>
            </a:avLst>
          </a:prstGeom>
          <a:solidFill>
            <a:srgbClr val="F287B7">
              <a:alpha val="12000"/>
            </a:srgbClr>
          </a:solidFill>
          <a:ln/>
        </p:spPr>
        <p:txBody>
          <a:bodyPr/>
          <a:p/>
        </p:txBody>
      </p:sp>
      <p:sp>
        <p:nvSpPr>
          <p:cNvPr id="597" name=""/>
          <p:cNvSpPr/>
          <p:nvPr/>
        </p:nvSpPr>
        <p:spPr>
          <a:xfrm rot="0" flipH="0" flipV="0">
            <a:off x="609600" y="5467350"/>
            <a:ext cx="6858000" cy="819150"/>
          </a:xfrm>
          <a:custGeom>
            <a:pathLst>
              <a:path w="720" h="8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2"/>
                </a:lnTo>
                <a:cubicBezTo>
                  <a:pt x="4" y="84"/>
                  <a:pt x="5" y="86"/>
                  <a:pt x="7" y="86"/>
                </a:cubicBezTo>
                <a:cubicBezTo>
                  <a:pt x="3" y="86"/>
                  <a:pt x="0" y="82"/>
                  <a:pt x="0" y="7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781050" y="5572125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02259"/>
                </a:solidFill>
                <a:latin typeface="Inter"/>
                <a:ea typeface="Inter"/>
              </a:rPr>
              <a:t>Account Balance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781050" y="5857875"/>
            <a:ext cx="22098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>
                <a:solidFill>
                  <a:srgbClr val="5C646A"/>
                </a:solidFill>
                <a:latin typeface="Inter"/>
                <a:ea typeface="Inter"/>
              </a:rPr>
              <a:t>Pay with your Member Ecoin balance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3143250" y="5753100"/>
            <a:ext cx="4114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可用余额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/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本单金额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/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支付后余额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7658100" y="1143000"/>
            <a:ext cx="3962400" cy="5143500"/>
          </a:xfrm>
          <a:prstGeom prst="roundRect">
            <a:avLst>
              <a:gd name="adj" fmla="val 2404"/>
            </a:avLst>
          </a:prstGeom>
          <a:solidFill>
            <a:srgbClr val="202259">
              <a:alpha val="6000"/>
            </a:srgbClr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7829550" y="1295400"/>
            <a:ext cx="3619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四个关键提示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7829550" y="1628775"/>
            <a:ext cx="3619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7943850" y="17240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A7CF"/>
                </a:solidFill>
                <a:latin typeface="Menlo"/>
                <a:ea typeface="Menlo"/>
              </a:rPr>
              <a:t>1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8143875" y="1724025"/>
            <a:ext cx="31908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只有余额支付当场扣款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143875" y="1990725"/>
            <a:ext cx="31908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它会直接把订单标成已支付并扣减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Ecoin 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余额；其余四种下单后都是未支付状态。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7829550" y="2781300"/>
            <a:ext cx="3619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943850" y="28765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A7CF"/>
                </a:solidFill>
                <a:latin typeface="Menlo"/>
                <a:ea typeface="Menlo"/>
              </a:rPr>
              <a:t>2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8143875" y="2876550"/>
            <a:ext cx="31908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余额为零时该选项禁用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8143875" y="3143250"/>
            <a:ext cx="31908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此时默认选中项会自动落到列表里第一个可用方式，而不是固定在货到付款上。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7829550" y="3933825"/>
            <a:ext cx="3619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7943850" y="40290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A7CF"/>
                </a:solidFill>
                <a:latin typeface="Menlo"/>
                <a:ea typeface="Menlo"/>
              </a:rPr>
              <a:t>3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8143875" y="4029075"/>
            <a:ext cx="31908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USSD </a:t>
            </a: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码是写死的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143875" y="4295775"/>
            <a:ext cx="31908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页面固定显示那串码，不会跟着订单金额变。演示时按固定码说明就好。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7829550" y="5086350"/>
            <a:ext cx="3619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7943850" y="51816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A7CF"/>
                </a:solidFill>
                <a:latin typeface="Menlo"/>
                <a:ea typeface="Menlo"/>
              </a:rPr>
              <a:t>4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143875" y="5181600"/>
            <a:ext cx="319087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访客一定用不了余额支付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8143875" y="5448300"/>
            <a:ext cx="31908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余额取值依赖会员身份，访客取到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0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。这是三条路径里唯一被登录态卡住的支付方式。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22 / 31</a:t>
            </a:r>
            <a:endParaRPr/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622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订单摘要与下单按钮&lt;/Text&gt;&#10;        &lt;Text style={{ fontSize: 16, color: '#5C646A', lineHeight: 1.4, marginTop: 6 }}&gt;&#10;            摘要区一共只有五行，按钮放行要同时满足四类条件&#10;        &lt;/Text&gt;&#10;    &lt;/Box&gt;&#10;&#10;    {/* ===== B 区（左标题 + 右内容） ===== */}&#10;    &lt;Box style={{ height: 540, flexDirection: 'row', gap: 24 }}&gt;&#10;        {/* 左标题栏 */}&#10;        &lt;Box style={{ width: 340, background: '#202259', borderRadius: 10, padding: '24px 22px', flexDirection: 'column' }}&gt;&#10;            &lt;Text style={{ fontSize: 15, color: '#7FD3EC', letterSpacing: 2, fontWeight: 'bold' }}&gt;SUMMARY &amp; GATE&lt;/Text&gt;&#10;            &lt;Text style={{ fontSize: 28, fontWeight: 'bold', color: '#FFFFFF', lineHeight: 1.25, marginTop: 12 }}&gt;&#10;                摘要看得懂&#10;                &lt;br /&gt;&#10;                按钮才点得动&#10;            &lt;/Text&gt;&#10;            &lt;Text style={{ fontSize: 17, color: '#B9C6E4', lineHeight: 1.6, marginTop: 16 }}&gt;&#10;                摘要区是客户下单前最后一眼看到的东西。它的行数很少，但每一行都有明确来源。&#10;            &lt;/Text&gt;&#10;&#10;            &lt;Box style={{ background: 'rgba(242,135,183,0.18)', borderRadius: 8, padding: '12px 14px', marginTop: 20 }}&gt;&#10;                &lt;Text style={{ fontSize: 16, color: '#FBE0EE', lineHeight: 1.5 }}&gt;&#10;                    演示时先勾上两项同意，否则按钮一直是灰的、点了没反应。&#10;                &lt;/Text&gt;&#10;            &lt;/Box&gt;&#10;&#10;            &lt;Text style={{ fontSize: 15, color: '#859EB3', lineHeight: 1.5, marginTop: 'auto', paddingTop: 16 }}&gt;&#10;                注意：摘要里没有运费和税费，总计等于商品小计。&#10;            &lt;/Text&gt;&#10;        &lt;/Box&gt;&#10;&#10;        {/* 右：摘要 + 条件 */}&#10;        &lt;Box style={{ flex: 1, flexDirection: 'column', gap: 16 }}&gt;&#10;            &lt;Box style={{ height: 272, flexDirection: 'column' }}&gt;&#10;                &lt;Text style={{ fontSize: 19, fontWeight: 'bold', color: '#202259', marginBottom: 10 }}&gt;摘要区逐行拆解&lt;/Text&gt;&#10;                &lt;Box style={{ flex: 1, flexDirection: 'column', gap: 7 }}&gt;&#10;                    {[&#10;                        { k: '商品行', d: '商品图、名称、单价、数量。购物车模式下显示静态数量。', tag: '每件一行' },&#10;                        { k: 'Edit quantities in cart', d: '结算商品多于一件时出现，点击回购物车改数量。', tag: '条件显示' },&#10;                        { k: 'BV rewards', d: '仅登录用户可见。价格每满 ₦1,000 记 1 BV，向下取整后乘数量。', tag: '登录才显示' },&#10;                        { k: 'Method', d: '随所选支付方式实时更新。', tag: '实时联动' },&#10;                        { k: 'Total 与 Place order', d: '总计等于商品小计，下方是支付品牌标与条款说明。', tag: '底部锚定' },&#10;                    ].map(function (it, i) {&#10;                        return (&#10;                            &lt;Box key={i} style={{ flex: 1, flexDirection: 'row', gap: 14, alignItems: 'center', background: i === 2 ? 'rgba(42,167,207,0.10)' : '#F4F6F8', borderRadius: 8, padding: '0 16px' }}&gt;&#10;                                &lt;Text style={{ fontSize: 17, fontWeight: 'bold', color: '#202259', width: 196 }}&gt;{it.k}&lt;/Text&gt;&#10;                                &lt;Text style={{ fontSize: 16, color: '#3F4A55', lineHeight: 1.4, flex: 1 }}&gt;{it.d}&lt;/Text&gt;&#10;                                &lt;Box style={{ padding: '3px 10px', background: '#FFFFFF', borderRadius: 4, border: '1px solid #E3E6E8' }}&gt;&#10;                                    &lt;Text style={{ fontSize: 13, color: '#5C646A' }}&gt;{it.tag}&lt;/Text&gt;&#10;                                &lt;/Box&gt;&#10;                            &lt;/Box&gt;&#10;                        );&#10;                    })}&#10;                &lt;/Box&gt;&#10;            &lt;/Box&gt;&#10;&#10;            &lt;Box style={{ flex: 1, flexDirection: 'column' }}&gt;&#10;                &lt;Text style={{ fontSize: 19, fontWeight: 'bold', color: '#202259', marginBottom: 10 }}&gt;按钮放行的四类条件&lt;/Text&gt;&#10;                &lt;Box style={{ flex: 1, flexDirection: 'column', gap: 8 }}&gt;&#10;                    {[&#10;                        { t: '两类同意勾选', d: '确认电话与邮箱正确，以及已阅读服务条款与退款政策。' },&#10;                        { t: '配送信息完整', d: '配送模式要填完地址与联系人；自提模式免填地址但必须选中网点。' },&#10;                        { t: '邮箱格式合法', d: '不合法时邮箱下方直接给出提示，因为要用它发订单链接。' },&#10;                        { t: '支付方式自身校验', d: '银行卡走格式校验；余额支付要求余额充足。' },&#10;                    ].map(function (it, i) {&#10;                        return (&#10;                            &lt;Box key={i} style={{ flex: 1, flexDirection: 'row', gap: 12, alignItems: 'center', background: '#FFFFFF', border: '1px solid #E3E6E8', borderRadius: 8, padding: '0 14px' }}&gt;&#10;                                &lt;Box style={{ width: 24, height: 24, borderRadius: 12, background: '#2AA7CF', justifyContent: 'center', alignItems: 'center' }}&gt;&#10;                                    &lt;Text style={{ fontSize: 14, fontWeight: 'bold', color: '#FFFFFF' }}&gt;{i + 1}&lt;/Text&gt;&#10;                                &lt;/Box&gt;&#10;                                &lt;Text style={{ fontSize: 16, fontWeight: 'bold', color: '#202259', width: 168 }}&gt;{it.t}&lt;/Text&gt;&#10;                                &lt;Text style={{ fontSize: 15, color: '#3F4A55', flex: 1, lineHeight: 1.35 }}&gt;{it.d}&lt;/Text&gt;&#10;                            &lt;/Box&gt;&#10;                        );&#10;                    })}&#10;                &lt;/Box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23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订单摘要与下单按钮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摘要区一共只有五行，按钮放行要同时满足四类条件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571500" y="1143000"/>
            <a:ext cx="3238500" cy="5143500"/>
          </a:xfrm>
          <a:prstGeom prst="roundRect">
            <a:avLst>
              <a:gd name="adj" fmla="val 2941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781050" y="1371600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SUMMARY &amp; GATE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781050" y="1657350"/>
            <a:ext cx="28194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100" b="1">
                <a:solidFill>
                  <a:srgbClr val="FFFFFF"/>
                </a:solidFill>
                <a:latin typeface="Inter"/>
                <a:ea typeface="Inter"/>
              </a:rPr>
              <a:t>摘要看得懂</a:t>
            </a:r>
            <a:endParaRPr/>
          </a:p>
          <a:p>
            <a:pPr>
              <a:lnSpc>
                <a:spcPct val="125000"/>
              </a:lnSpc>
            </a:pPr>
            <a:r>
              <a:rPr lang="zh-CN" sz="2100" b="1">
                <a:solidFill>
                  <a:srgbClr val="FFFFFF"/>
                </a:solidFill>
                <a:latin typeface="Inter"/>
                <a:ea typeface="Inter"/>
              </a:rPr>
              <a:t>按钮才点得动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781050" y="2609850"/>
            <a:ext cx="28194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摘要区是客户下单前最后一眼看到的东西。它的行数很少，但每一行都有明确来源。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781050" y="3733800"/>
            <a:ext cx="2819400" cy="781050"/>
          </a:xfrm>
          <a:prstGeom prst="roundRect">
            <a:avLst>
              <a:gd name="adj" fmla="val 9756"/>
            </a:avLst>
          </a:prstGeom>
          <a:solidFill>
            <a:srgbClr val="F287B7">
              <a:alpha val="18000"/>
            </a:srgbClr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914400" y="3848100"/>
            <a:ext cx="2552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BE0EE"/>
                </a:solidFill>
                <a:latin typeface="Inter"/>
                <a:ea typeface="Inter"/>
              </a:rPr>
              <a:t>演示时先勾上两项同意，否则按钮一直是灰的、点了没反应。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781050" y="5391150"/>
            <a:ext cx="2819400" cy="666750"/>
          </a:xfrm>
          <a:prstGeom prst="rect"/>
        </p:spPr>
        <p:txBody>
          <a:bodyPr wrap="square" lIns="0" tIns="11430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59EB3"/>
                </a:solidFill>
                <a:latin typeface="Inter"/>
                <a:ea typeface="Inter"/>
              </a:rPr>
              <a:t>注意：摘要里没有运费和税费，总计等于商品小计。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4038600" y="1143000"/>
            <a:ext cx="7581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摘要区逐行拆解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4038600" y="1457325"/>
            <a:ext cx="7581900" cy="400050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4191000" y="156210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商品行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191250" y="1533525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商品图、名称、单价、数量。购物车模式下显示静态数量。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10782300" y="1552575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10877550" y="15811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6A"/>
                </a:solidFill>
                <a:latin typeface="Inter"/>
                <a:ea typeface="Inter"/>
              </a:rPr>
              <a:t>每件一行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4038600" y="1924050"/>
            <a:ext cx="7581900" cy="400050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4191000" y="2028825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Edit quantities in cart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191250" y="2000250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结算商品多于一件时出现，点击回购物车改数量。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10782300" y="2019300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10877550" y="20478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6A"/>
                </a:solidFill>
                <a:latin typeface="Inter"/>
                <a:ea typeface="Inter"/>
              </a:rPr>
              <a:t>条件显示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4038600" y="2390775"/>
            <a:ext cx="7581900" cy="409575"/>
          </a:xfrm>
          <a:prstGeom prst="roundRect">
            <a:avLst>
              <a:gd name="adj" fmla="val 18605"/>
            </a:avLst>
          </a:prstGeom>
          <a:solidFill>
            <a:srgbClr val="2AA7CF">
              <a:alpha val="10000"/>
            </a:srgbClr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4191000" y="249555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BV rewards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191250" y="2466975"/>
            <a:ext cx="43338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仅登录用户可见。价格每满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₦1,000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1 BV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，向下取整后乘数量。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10658475" y="2495550"/>
            <a:ext cx="809625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10753725" y="252412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6A"/>
                </a:solidFill>
                <a:latin typeface="Inter"/>
                <a:ea typeface="Inter"/>
              </a:rPr>
              <a:t>登录才显示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4038600" y="2867025"/>
            <a:ext cx="7581900" cy="400050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4191000" y="297180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Method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6191250" y="2943225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随所选支付方式实时更新。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10782300" y="2962275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10877550" y="29908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6A"/>
                </a:solidFill>
                <a:latin typeface="Inter"/>
                <a:ea typeface="Inter"/>
              </a:rPr>
              <a:t>实时联动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4038600" y="3333750"/>
            <a:ext cx="7581900" cy="400050"/>
          </a:xfrm>
          <a:prstGeom prst="roundRect">
            <a:avLst>
              <a:gd name="adj" fmla="val 19048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4191000" y="3438525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Total </a:t>
            </a: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与</a:t>
            </a: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 Place order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6191250" y="3409950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总计等于商品小计，下方是支付品牌标与条款说明。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10782300" y="3429000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10877550" y="34575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C646A"/>
                </a:solidFill>
                <a:latin typeface="Inter"/>
                <a:ea typeface="Inter"/>
              </a:rPr>
              <a:t>底部锚定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4038600" y="3886200"/>
            <a:ext cx="7581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按钮放行的四类条件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4038600" y="4200525"/>
            <a:ext cx="7581900" cy="466725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661" name=""/>
          <p:cNvSpPr/>
          <p:nvPr/>
        </p:nvSpPr>
        <p:spPr>
          <a:xfrm rot="0" flipH="0" flipV="0">
            <a:off x="4171950" y="4324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4257675" y="4362450"/>
            <a:ext cx="57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4514850" y="434340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两类同意勾选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6229350" y="4314825"/>
            <a:ext cx="52578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确认电话与邮箱正确，以及已阅读服务条款与退款政策。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4038600" y="4743450"/>
            <a:ext cx="7581900" cy="466725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666" name=""/>
          <p:cNvSpPr/>
          <p:nvPr/>
        </p:nvSpPr>
        <p:spPr>
          <a:xfrm rot="0" flipH="0" flipV="0">
            <a:off x="4171950" y="48672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4248150" y="49053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4514850" y="4886325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配送信息完整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6229350" y="4857750"/>
            <a:ext cx="52578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配送模式要填完地址与联系人；自提模式免填地址但必须选中网点。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4038600" y="5286375"/>
            <a:ext cx="75819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671" name=""/>
          <p:cNvSpPr/>
          <p:nvPr/>
        </p:nvSpPr>
        <p:spPr>
          <a:xfrm rot="0" flipH="0" flipV="0">
            <a:off x="4171950" y="54006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4248150" y="54387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4514850" y="5419725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邮箱格式合法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6229350" y="5400675"/>
            <a:ext cx="52578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不合法时邮箱下方直接给出提示，因为要用它发订单链接。</a:t>
            </a:r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4038600" y="5819775"/>
            <a:ext cx="7581900" cy="466725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sp>
        <p:nvSpPr>
          <p:cNvPr id="676" name=""/>
          <p:cNvSpPr/>
          <p:nvPr/>
        </p:nvSpPr>
        <p:spPr>
          <a:xfrm rot="0" flipH="0" flipV="0">
            <a:off x="4171950" y="59436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4248150" y="59817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Inter"/>
                <a:ea typeface="Inter"/>
              </a:rPr>
              <a:t>4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4514850" y="59626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支付方式自身校验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6229350" y="5934075"/>
            <a:ext cx="52578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银行卡走格式校验；余额支付要求余额充足。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23 / 31</a:t>
            </a:r>
            <a:endParaRPr/>
          </a:p>
        </p:txBody>
      </p:sp>
    </p:spTree>
  </p:cSld>
</p:sld>
</file>

<file path=ppt/slides/slide2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83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订单落库与订单号&lt;/Text&gt;&#10;        &lt;Text style={{ fontSize: 16, color: '#5C646A', lineHeight: 1.4, marginTop: 6 }}&gt;&#10;            一个订单六组字段，订单号是三条路径共用的唯一标识&#10;        &lt;/Text&gt;&#10;    &lt;/Box&gt;&#10;&#10;    {/* ===== B 区（上大图 + 下方卡片） ===== */}&#10;    &lt;Box style={{ height: 540, flexDirection: 'column', gap: 16 }}&gt;&#10;        {/* 上：字段 + 订单号 */}&#10;        &lt;Box style={{ height: 232, background: '#F4F6F8', borderRadius: 10, padding: 14, justifyContent: 'center' }}&gt;&#10;            &lt;svg width={1132} height={204} viewBox='0 0 1132 204'&gt;&#10;                {[&#10;                    { g: '基本信息', f: 'id · date · currency' },&#10;                    { g: '商品明细', f: 'items[] · qty · price · bv' },&#10;                    { g: '权益归属', f: 'memberId · operatorId' },&#10;                    { g: '客户与配送', f: 'customer{} · delivery{}' },&#10;                    { g: '支付与状态', f: 'payment · payStatus · status' },&#10;                    { g: '业务来源', f: 'source · 报单中心' },&#10;                ].map(function (it, i) {&#10;                    var col = i % 3;&#10;                    var row = Math.floor(i / 3);&#10;                    var x = col * 222;&#10;                    var y = row * 104;&#10;                    var isKey = it.g === '权益归属';&#10;                    return (&#10;                        &lt;g key={i}&gt;&#10;                            &lt;rect x={x} y={y} width={210} height={92} rx={8} fill={isKey ? '#202259' : '#FFFFFF'} stroke={isKey ? 'none' : '#E3E6E8'} strokeWidth='1.5' /&gt;&#10;                            &lt;text x={x + 14} y={y + 28} fill={isKey ? '#7FD3EC' : '#202259'} fontSize={15} fontWeight='bold' fontFamily='Inter, PingFang SC, sans-serif'&gt;{it.g}&lt;/text&gt;&#10;                            &lt;text x={x + 14} y={y + 56} fill={isKey ? '#FFFFFF' : '#5C646A'} fontSize={13} fontFamily='Menlo, ui-monospace, monospace'&gt;{it.f}&lt;/text&gt;&#10;                            {isKey ? (&#10;                                &lt;text x={x + 14} y={y + 78} fill='#F287B7' fontSize={12} fontFamily='Inter, PingFang SC, sans-serif'&gt;决定订单归谁 · 决定账户里怎么分桶&lt;/text&gt;&#10;                            ) : null}&#10;                        &lt;/g&gt;&#10;                    );&#10;                })}&#10;            &lt;/svg&gt;&#10;        &lt;/Box&gt;&#10;&#10;        {/* 下：三张卡片 */}&#10;        &lt;Box style={{ flex: 1, flexDirection: 'row', gap: 16 }}&gt;&#10;            {[&#10;                { icon: 'hashtag', c: '#2AA7CF', t: '订单号怎么生成', d: '固定 AQ- 前缀，加六位随机字符。字符集是 A 到 Z 加 2 到 9，刻意去掉了 I、O、0、1 四个容易看错的字符。它同时是下单落地页和订单详情页的 URL 参数。' },&#10;                { icon: 'info-circle', c: '#202259', t: '状态取值', d: '创建时内部状态一律是 pending；支付状态默认 Unpaid，只有余额支付成功才会变成 Paid。页面上最终显示四种：Paid、Pending、Unpaid、Failed。' },&#10;                { icon: 'bug', c: '#F287B7', t: '写入顺序有两个要点', d: '结算路径是先写库、再补推荐人字段，所以落库的订单里没有这个字段。另外结算路径把订单插到数组最前面，注册路径是追加到末尾 —— 列表排序因此不同。' },&#10;            ].map(function (it, i) {&#10;                return (&#10;                    &lt;Box key={i} style={{ flex: 1, background: '#FFFFFF', border: '1px solid #E3E6E8', borderRadius: 10, padding: '16px 18px', flexDirection: 'column' }}&gt;&#10;                        &lt;Box style={{ flexDirection: 'row', alignItems: 'center', gap: 10, marginBottom: 10 }}&gt;&#10;                            &lt;FAIcon name={it.icon} style={{ fill: it.c, width: 22, height: 22 }} /&gt;&#10;                            &lt;Text style={{ fontSize: 20, fontWeight: 'bold', color: '#202259' }}&gt;{it.t}&lt;/Text&gt;&#10;                        &lt;/Box&gt;&#10;                        &lt;Text style={{ fontSize: 16, color: '#3F4A55', lineHeight: 1.55 }}&gt;{it.d}&lt;/Text&gt;&#10;                    &lt;/Box&gt;&#10;                );&#10;            })}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24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订单落库与订单号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一个订单六组字段，订单号是三条路径共用的唯一标识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571500" y="1143000"/>
            <a:ext cx="11049000" cy="2209800"/>
          </a:xfrm>
          <a:prstGeom prst="roundRect">
            <a:avLst>
              <a:gd name="adj" fmla="val 4310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6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4850" y="1276350"/>
            <a:ext cx="10782300" cy="1943100"/>
          </a:xfrm>
          <a:prstGeom prst="rect">
            <a:avLst/>
          </a:prstGeom>
          <a:ln/>
        </p:spPr>
      </p:pic>
      <p:sp>
        <p:nvSpPr>
          <p:cNvPr id="689" name=""/>
          <p:cNvSpPr/>
          <p:nvPr/>
        </p:nvSpPr>
        <p:spPr>
          <a:xfrm rot="0" flipH="0" flipV="0">
            <a:off x="571500" y="3505200"/>
            <a:ext cx="3581400" cy="27813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6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2950" y="3667125"/>
            <a:ext cx="209550" cy="209550"/>
          </a:xfrm>
          <a:prstGeom prst="rect">
            <a:avLst/>
          </a:prstGeom>
          <a:ln/>
        </p:spPr>
      </p:pic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1047750" y="36576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订单号怎么生成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742950" y="3981450"/>
            <a:ext cx="32385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固定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AQ-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前缀，加六位随机字符。字符集是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A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Z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加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2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到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9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，刻意去掉了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I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O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0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1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四个容易看错的字符。它同时是下单落地页和订单详情页的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URL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参数。</a:t>
            </a:r>
            <a:endParaRPr/>
          </a:p>
        </p:txBody>
      </p:sp>
      <p:sp>
        <p:nvSpPr>
          <p:cNvPr id="693" name=""/>
          <p:cNvSpPr/>
          <p:nvPr/>
        </p:nvSpPr>
        <p:spPr>
          <a:xfrm rot="0" flipH="0" flipV="0">
            <a:off x="4305300" y="3505200"/>
            <a:ext cx="3581400" cy="27813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6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476750" y="3667125"/>
            <a:ext cx="209550" cy="209550"/>
          </a:xfrm>
          <a:prstGeom prst="rect">
            <a:avLst/>
          </a:prstGeom>
          <a:ln/>
        </p:spPr>
      </p:pic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4781550" y="36576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状态取值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4476750" y="3981450"/>
            <a:ext cx="32385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创建时内部状态一律是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pending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；支付状态默认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Unpaid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，只有余额支付成功才会变成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Paid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。页面上最终显示四种：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Paid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Pending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Unpaid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、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Failed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8039100" y="3505200"/>
            <a:ext cx="3581400" cy="27813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3E6E8"/>
            </a:solidFill>
            <a:prstDash val="solid"/>
          </a:ln>
        </p:spPr>
        <p:txBody>
          <a:bodyPr/>
          <a:p/>
        </p:txBody>
      </p:sp>
      <p:pic>
        <p:nvPicPr>
          <p:cNvPr id="6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210550" y="3667125"/>
            <a:ext cx="209550" cy="209550"/>
          </a:xfrm>
          <a:prstGeom prst="rect">
            <a:avLst/>
          </a:prstGeom>
          <a:ln/>
        </p:spPr>
      </p:pic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8515350" y="3657600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2259"/>
                </a:solidFill>
                <a:latin typeface="Inter"/>
                <a:ea typeface="Inter"/>
              </a:rPr>
              <a:t>写入顺序有两个要点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8210550" y="3981450"/>
            <a:ext cx="32385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结算路径是先写库、再补推荐人字段，所以落库的订单里没有这个字段。另外结算路径把订单插到数组最前面，注册路径是追加到末尾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列表排序因此不同。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24 / 31</a:t>
            </a:r>
            <a:endParaRPr/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704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我的账户：四个 Tab&lt;/Text&gt;&#10;        &lt;Text style={{ fontSize: 16, color: '#5C646A', lineHeight: 1.4, marginTop: 6 }}&gt;&#10;            三条路径最终都指向这里 —— 但只有两条能在这里看到自己的订单&#10;        &lt;/Text&gt;&#10;    &lt;/Box&gt;&#10;&#10;    {/* ===== B 区（巨型数字 + 洞察） ===== */}&#10;    &lt;Box style={{ height: 540, flexDirection: 'row', gap: 24 }}&gt;&#10;        {/* 左：巨型数字 + 四个 Tab */}&#10;        &lt;Box style={{ width: 724, flexDirection: 'column', gap: 16 }}&gt;&#10;            &lt;Box style={{ height: 128, background: '#202259', borderRadius: 10, padding: '0 26px', flexDirection: 'row', alignItems: 'center', gap: 20 }}&gt;&#10;                &lt;Text style={{ fontSize: 86, fontWeight: 'bold', color: '#FFFFFF', lineHeight: 1, letterSpacing: -4, fontFamily: 'Menlo, ui-monospace, monospace' }}&gt;4&lt;/Text&gt;&#10;                &lt;Box style={{ flexDirection: 'column' }}&gt;&#10;                    &lt;Text style={{ fontSize: 24, fontWeight: 'bold', color: '#7FD3EC' }}&gt;个 Tab&lt;/Text&gt;&#10;                    &lt;Text style={{ fontSize: 16, color: '#B9C6E4', lineHeight: 1.45, marginTop: 6 }}&gt;&#10;                        顶部固定显示会员 ID，右上角是退出登录。页面用 URL 锚点决定默认打开哪个 Tab。&#10;                    &lt;/Text&gt;&#10;                &lt;/Box&gt;&#10;            &lt;/Box&gt;&#10;&#10;            &lt;Box style={{ flex: 1, flexDirection: 'column', gap: 8 }}&gt;&#10;                {[&#10;                    { n: 'Overview 总览', c: '#2AA7CF', d: '奖金与 Ecoin 两张 KPI 卡、九宫格九个功能入口、推荐链接与推荐返佣列表' },&#10;                    { n: 'Orders 订单', c: '#202259', d: '我的订单与会员订单两段，表格含 BV 与税额，每张单可导出为文档' },&#10;                    { n: 'Profile 资料', c: '#F287B7', d: '六张卡：基础信息、个人信息、登录密码、支付密码、收货地址、通知偏好' },&#10;                    { n: 'Sponsor Network', c: '#859EB3', d: '两种模式，按顶层会员与展开深度查询下级网络树，节点显示等级与个人业绩' },&#10;                ].map(function (it, i) {&#10;                    return (&#10;                        &lt;Box key={i} style={{ flex: 1, flexDirection: 'row', alignItems: 'center', gap: 16, background: '#F4F6F8', borderRadius: 8, padding: '0 18px', borderLeft: '5px solid ' + it.c }}&gt;&#10;                            &lt;Text style={{ fontSize: 19, fontWeight: 'bold', color: '#202259', width: 196 }}&gt;{it.n}&lt;/Text&gt;&#10;                            &lt;Text style={{ fontSize: 16, color: '#3F4A55', flex: 1, lineHeight: 1.45 }}&gt;{it.d}&lt;/Text&gt;&#10;                        &lt;/Box&gt;&#10;                    );&#10;                })}&#10;            &lt;/Box&gt;&#10;        &lt;/Box&gt;&#10;&#10;        {/* 右：说明 */}&#10;        &lt;Box style={{ flex: 1, flexDirection: 'column', gap: 14 }}&gt;&#10;            &lt;Box style={{ background: 'rgba(32,34,89,0.06)', borderRadius: 10, padding: '18px 20px', flexDirection: 'column', flex: 1 }}&gt;&#10;                &lt;Text style={{ fontSize: 19, fontWeight: 'bold', color: '#202259', marginBottom: 12 }}&gt;进账户页的前提&lt;/Text&gt;&#10;                &lt;Text style={{ fontSize: 16, color: '#3F4A55', lineHeight: 1.6 }}&gt;&#10;                    这是全站唯一有登录守卫的页面。未登录访问会被强制跳到登录页，并带上回跳参数；登录成功后自动回到账户页。&#10;                &lt;/Text&gt;&#10;                &lt;Text style={{ fontSize: 16, color: '#3F4A55', lineHeight: 1.6, marginTop: 12 }}&gt;&#10;                    也就是说 —— &lt;span style={{ fontWeight: 'bold', color: '#202259' }}&gt;路径一的客户永远走不到这个页面&lt;/span&gt;，他既没有账号，也没有订单落在这里。&#10;                &lt;/Text&gt;&#10;                &lt;Box style={{ marginTop: 'auto', paddingTop: 14, borderTop: '1px solid #E3E6E8' }}&gt;&#10;                    &lt;Text style={{ fontSize: 15, color: '#5C646A', lineHeight: 1.5 }}&gt;&#10;                        演示账号已经预填在登录页：会员 ID NG09246375。&#10;                    &lt;/Text&gt;&#10;                &lt;/Box&gt;&#10;            &lt;/Box&gt;&#10;&#10;            &lt;Box style={{ background: '#202259', borderRadius: 8, padding: '15px 18px' }}&gt;&#10;                &lt;Text style={{ fontSize: 16, color: '#D6E2F5', lineHeight: 1.5 }}&gt;&#10;                    九宫格里除了订单和推荐网络，还挂着复购、欢迎包、代客复购、自动维护、会员升级、往期奖金、团队查询、历史累计奖金、充值与转账。&#10;                &lt;/Text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25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我的账户：四个</a:t>
            </a:r>
            <a:r>
              <a:rPr lang="en-US" sz="2550" b="1">
                <a:solidFill>
                  <a:srgbClr val="202259"/>
                </a:solidFill>
                <a:latin typeface="Inter"/>
                <a:ea typeface="Inter"/>
              </a:rPr>
              <a:t> Tab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三条路径最终都指向这里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但只有两条能在这里看到自己的订单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571500" y="1143000"/>
            <a:ext cx="6896100" cy="1219200"/>
          </a:xfrm>
          <a:prstGeom prst="roundRect">
            <a:avLst>
              <a:gd name="adj" fmla="val 7813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819150" y="1257300"/>
            <a:ext cx="457200" cy="990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450" b="1" spc="-300">
                <a:solidFill>
                  <a:srgbClr val="FFFFFF"/>
                </a:solidFill>
                <a:latin typeface="Menlo"/>
                <a:ea typeface="Menlo"/>
              </a:rPr>
              <a:t>4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1466850" y="1457325"/>
            <a:ext cx="5753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7FD3EC"/>
                </a:solidFill>
                <a:latin typeface="Inter"/>
                <a:ea typeface="Inter"/>
              </a:rPr>
              <a:t>个</a:t>
            </a:r>
            <a:r>
              <a:rPr lang="en-US" sz="1800" b="1">
                <a:solidFill>
                  <a:srgbClr val="7FD3EC"/>
                </a:solidFill>
                <a:latin typeface="Inter"/>
                <a:ea typeface="Inter"/>
              </a:rPr>
              <a:t> Tab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1466850" y="1790700"/>
            <a:ext cx="5753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顶部固定显示会员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 ID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，右上角是退出登录。页面用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 URL 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锚点决定默认打开哪个</a:t>
            </a: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 Tab</a:t>
            </a:r>
            <a:r>
              <a:rPr lang="zh-CN" sz="1200">
                <a:solidFill>
                  <a:srgbClr val="B9C6E4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619125" y="2514600"/>
            <a:ext cx="6896100" cy="885825"/>
          </a:xfrm>
          <a:prstGeom prst="roundRect">
            <a:avLst>
              <a:gd name="adj" fmla="val 860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13" name=""/>
          <p:cNvSpPr/>
          <p:nvPr/>
        </p:nvSpPr>
        <p:spPr>
          <a:xfrm rot="0" flipH="0" flipV="0">
            <a:off x="619125" y="2514600"/>
            <a:ext cx="6896100" cy="885825"/>
          </a:xfrm>
          <a:custGeom>
            <a:pathLst>
              <a:path w="724" h="93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0"/>
                </a:lnTo>
                <a:cubicBezTo>
                  <a:pt x="5" y="92"/>
                  <a:pt x="6" y="93"/>
                  <a:pt x="8" y="93"/>
                </a:cubicBezTo>
                <a:cubicBezTo>
                  <a:pt x="3" y="93"/>
                  <a:pt x="0" y="89"/>
                  <a:pt x="0" y="8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790575" y="2847975"/>
            <a:ext cx="186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Overview </a:t>
            </a: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总览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2809875" y="2695575"/>
            <a:ext cx="44862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奖金与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Ecoin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两张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KPI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卡、九宫格九个功能入口、推荐链接与推荐返佣列表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619125" y="3476625"/>
            <a:ext cx="6896100" cy="885825"/>
          </a:xfrm>
          <a:prstGeom prst="roundRect">
            <a:avLst>
              <a:gd name="adj" fmla="val 860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17" name=""/>
          <p:cNvSpPr/>
          <p:nvPr/>
        </p:nvSpPr>
        <p:spPr>
          <a:xfrm rot="0" flipH="0" flipV="0">
            <a:off x="619125" y="3476625"/>
            <a:ext cx="6896100" cy="885825"/>
          </a:xfrm>
          <a:custGeom>
            <a:pathLst>
              <a:path w="724" h="93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0"/>
                </a:lnTo>
                <a:cubicBezTo>
                  <a:pt x="5" y="92"/>
                  <a:pt x="6" y="93"/>
                  <a:pt x="8" y="93"/>
                </a:cubicBezTo>
                <a:cubicBezTo>
                  <a:pt x="3" y="93"/>
                  <a:pt x="0" y="89"/>
                  <a:pt x="0" y="8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790575" y="3810000"/>
            <a:ext cx="186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Orders </a:t>
            </a: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订单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2809875" y="3657600"/>
            <a:ext cx="44862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我的订单与会员订单两段，表格含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与税额，每张单可导出为文档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619125" y="4438650"/>
            <a:ext cx="6896100" cy="885825"/>
          </a:xfrm>
          <a:prstGeom prst="roundRect">
            <a:avLst>
              <a:gd name="adj" fmla="val 860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21" name=""/>
          <p:cNvSpPr/>
          <p:nvPr/>
        </p:nvSpPr>
        <p:spPr>
          <a:xfrm rot="0" flipH="0" flipV="0">
            <a:off x="619125" y="4438650"/>
            <a:ext cx="6896100" cy="885825"/>
          </a:xfrm>
          <a:custGeom>
            <a:pathLst>
              <a:path w="724" h="93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0"/>
                </a:lnTo>
                <a:cubicBezTo>
                  <a:pt x="5" y="92"/>
                  <a:pt x="6" y="93"/>
                  <a:pt x="8" y="93"/>
                </a:cubicBezTo>
                <a:cubicBezTo>
                  <a:pt x="3" y="93"/>
                  <a:pt x="0" y="89"/>
                  <a:pt x="0" y="8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790575" y="4772025"/>
            <a:ext cx="186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Profile </a:t>
            </a: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资料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2809875" y="4619625"/>
            <a:ext cx="44862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六张卡：基础信息、个人信息、登录密码、支付密码、收货地址、通知偏好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619125" y="5400675"/>
            <a:ext cx="6896100" cy="885825"/>
          </a:xfrm>
          <a:prstGeom prst="roundRect">
            <a:avLst>
              <a:gd name="adj" fmla="val 860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25" name=""/>
          <p:cNvSpPr/>
          <p:nvPr/>
        </p:nvSpPr>
        <p:spPr>
          <a:xfrm rot="0" flipH="0" flipV="0">
            <a:off x="619125" y="5400675"/>
            <a:ext cx="6896100" cy="885825"/>
          </a:xfrm>
          <a:custGeom>
            <a:pathLst>
              <a:path w="724" h="93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0"/>
                </a:lnTo>
                <a:cubicBezTo>
                  <a:pt x="5" y="92"/>
                  <a:pt x="6" y="93"/>
                  <a:pt x="8" y="93"/>
                </a:cubicBezTo>
                <a:cubicBezTo>
                  <a:pt x="3" y="93"/>
                  <a:pt x="0" y="89"/>
                  <a:pt x="0" y="8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859EB3"/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790575" y="5734050"/>
            <a:ext cx="186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2259"/>
                </a:solidFill>
                <a:latin typeface="Inter"/>
                <a:ea typeface="Inter"/>
              </a:rPr>
              <a:t>Sponsor Network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2809875" y="5581650"/>
            <a:ext cx="44862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两种模式，按顶层会员与展开深度查询下级网络树，节点显示等级与个人业绩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7696200" y="1143000"/>
            <a:ext cx="3924300" cy="3895725"/>
          </a:xfrm>
          <a:prstGeom prst="roundRect">
            <a:avLst>
              <a:gd name="adj" fmla="val 2445"/>
            </a:avLst>
          </a:prstGeom>
          <a:solidFill>
            <a:srgbClr val="202259">
              <a:alpha val="6000"/>
            </a:srgbClr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7886700" y="1314450"/>
            <a:ext cx="3543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进账户页的前提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7886700" y="1647825"/>
            <a:ext cx="35433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这是全站唯一有登录守卫的页面。未登录访问会被强制跳到登录页，并带上回跳参数；登录成功后自动回到账户页。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7886700" y="2647950"/>
            <a:ext cx="3543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也就是说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路径一的客户永远走不到这个页面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，他既没有账号，也没有订单落在这里。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7886700" y="4467225"/>
            <a:ext cx="3543300" cy="409575"/>
          </a:xfrm>
          <a:custGeom>
            <a:pathLst>
              <a:path w="372" h="43">
                <a:moveTo>
                  <a:pt x="0" y="0"/>
                </a:moveTo>
                <a:lnTo>
                  <a:pt x="372" y="0"/>
                </a:lnTo>
                <a:lnTo>
                  <a:pt x="372" y="1"/>
                </a:lnTo>
                <a:lnTo>
                  <a:pt x="0" y="1"/>
                </a:lnTo>
                <a:close/>
              </a:path>
            </a:pathLst>
          </a:custGeom>
          <a:solidFill>
            <a:srgbClr val="E3E6E8"/>
          </a:soli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7886700" y="4610100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演示账号已经预填在登录页：会员</a:t>
            </a:r>
            <a:r>
              <a:rPr lang="en-US" sz="1125">
                <a:solidFill>
                  <a:srgbClr val="5C646A"/>
                </a:solidFill>
                <a:latin typeface="Inter"/>
                <a:ea typeface="Inter"/>
              </a:rPr>
              <a:t> ID NG09246375</a:t>
            </a:r>
            <a:r>
              <a:rPr lang="zh-CN" sz="1125">
                <a:solidFill>
                  <a:srgbClr val="5C646A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7696200" y="5172075"/>
            <a:ext cx="3924300" cy="1114425"/>
          </a:xfrm>
          <a:prstGeom prst="roundRect">
            <a:avLst>
              <a:gd name="adj" fmla="val 6838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7867650" y="5314950"/>
            <a:ext cx="35814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九宫格里除了订单和推荐网络，还挂着复购、欢迎包、代客复购、自动维护、会员升级、往期奖金、团队查询、历史累计奖金、充值与转账。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25 / 31</a:t>
            </a:r>
            <a:endParaRPr/>
          </a:p>
        </p:txBody>
      </p:sp>
    </p:spTree>
  </p:cSld>
</p:sld>
</file>

<file path=ppt/slides/slide2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39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订单在账户里怎么展示&lt;/Text&gt;&#10;        &lt;Text style={{ fontSize: 16, color: '#5C646A', lineHeight: 1.4, marginTop: 6 }}&gt;&#10;            分桶只看两个字段：权益归属人和实际操作人&#10;        &lt;/Text&gt;&#10;    &lt;/Box&gt;&#10;&#10;    {/* ===== B 区（左大图 + 右侧文字） ===== */}&#10;    &lt;Box style={{ height: 540, flexDirection: 'row', gap: 24 }}&gt;&#10;        {/* 左：订单卡结构 */}&#10;        &lt;Box style={{ width: 720, background: '#F4F6F8', borderRadius: 10, padding: 16, justifyContent: 'center' }}&gt;&#10;            &lt;svg width={688} height={500} viewBox='0 0 688 500'&gt;&#10;                {/* 卡头 */}&#10;                &lt;rect x='0' y='0' width='688' height='140' rx='10' fill='#FFFFFF' stroke='#E3E6E8' strokeWidth='1.5' /&gt;&#10;                &lt;text x='22' y='40' fill='#2AA7CF' fontSize={19} fontWeight='bold' fontFamily='Menlo, ui-monospace, monospace'&gt;AQ-7K2MNP&lt;/text&gt;&#10;                &lt;line x1='22' y1='52' x2='160' y2='52' stroke='#2AA7CF' strokeWidth='2' /&gt;&#10;                &lt;text x='14' y='44' fill='#2AA7CF' fontSize={19} fontWeight='bold' fontFamily='Menlo, ui-monospace, monospace'&gt; &lt;/text&gt;&#10;                &lt;rect x='22' y='62' width='86' height='26' rx='13' fill='rgba(32,34,89,0.08)' /&gt;&#10;                &lt;text x='65' y='80' fill='#202259' fontSize={14} textAnchor='middle' fontFamily='Inter, PingFang SC, sans-serif'&gt;My order&lt;/text&gt;&#10;                &lt;rect x='118' y='62' width='76' height='26' rx='13' fill='rgba(31,107,63,0.12)' /&gt;&#10;                &lt;text x='156' y='80' fill='#1F6B3F' fontSize={14} textAnchor='middle' fontFamily='Inter, PingFang SC, sans-serif'&gt;Paid&lt;/text&gt;&#10;                &lt;rect x='592' y='60' width='76' height='30' rx='6' fill='#202259' /&gt;&#10;                &lt;text x='630' y='80' fill='#FFFFFF' fontSize={14} textAnchor='middle' fontFamily='Inter, PingFang SC, sans-serif'&gt;Download&lt;/text&gt;&#10;                &lt;text x='22' y='116' fill='#5C646A' fontSize={14} fontFamily='Inter, PingFang SC, sans-serif'&gt;日期 · 付款方式 · 订单类型 —— 卡头一行看全&lt;/text&gt;&#10;&#10;                {/* 表格 */}&#10;                &lt;rect x='0' y='156' width='688' height='264' rx='10' fill='#FFFFFF' stroke='#E3E6E8' strokeWidth='1.5' /&gt;&#10;                &lt;rect x='14' y='170' width='660' height='34' rx='6' fill='rgba(32,34,89,0.06)' /&gt;&#10;                {['商品编码', '商品', '数量', '单价', '总价', '总 BV'].map(function (h, i) {&#10;                    var xs = [26, 116, 330, 396, 500, 620];&#10;                    return (&#10;                        &lt;text key={i} x={xs[i]} y={193} fill='#202259' fontSize={14} fontWeight='bold' fontFamily='Inter, PingFang SC, sans-serif'&gt;{h}&lt;/text&gt;&#10;                    );&#10;                })}&#10;                {[&#10;                    { c: 'ELK-CAL01', n: 'Calmag', q: '2', p: '₦38,000', t: '₦76,000', b: '70 BV' },&#10;                    { c: 'ELK-AAR02', n: 'Advanced Age Recovery', q: '1', p: '₦68,000', t: '₦68,000', b: '62 BV' },&#10;                ].map(function (r, i) {&#10;                    var y = 224 + i * 52;&#10;                    return (&#10;                        &lt;g key={i}&gt;&#10;                            &lt;rect x='14' y={y} width='660' height='44' rx='6' fill={i % 2 === 0 ? '#FFFFFF' : '#F8F9FA'} /&gt;&#10;                            &lt;text x='26' y={y + 28} fill='#5C646A' fontSize={13} fontFamily='Menlo, ui-monospace, monospace'&gt;{r.c}&lt;/text&gt;&#10;                            &lt;text x='116' y={y + 28} fill='#202259' fontSize={15} fontFamily='Inter, PingFang SC, sans-serif'&gt;{r.n}&lt;/text&gt;&#10;                            &lt;text x='336' y={y + 28} fill='#3F4A55' fontSize={15} textAnchor='middle' fontFamily='Inter, PingFang SC, sans-serif'&gt;{r.q}&lt;/text&gt;&#10;                            &lt;text x='396' y={y + 28} fill='#3F4A55' fontSize={15} fontFamily='Inter, PingFang SC, sans-serif'&gt;{r.p}&lt;/text&gt;&#10;                            &lt;text x='500' y={y + 28} fill='#3F4A55' fontSize={15} fontFamily='Inter, PingFang SC, sans-serif'&gt;{r.t}&lt;/text&gt;&#10;                            &lt;text x='620' y={y + 28} fill='#2AA7CF' fontSize={15} fontWeight='bold' fontFamily='Inter, PingFang SC, sans-serif'&gt;{r.b}&lt;/text&gt;&#10;                        &lt;/g&gt;&#10;                    );&#10;                })}&#10;                &lt;line x1='14' y1='340' x2='674' y2='340' stroke='#E3E6E8' strokeWidth='1.5' /&gt;&#10;                &lt;text x='440' y='366' fill='#5C646A' fontSize={14} fontFamily='Inter, PingFang SC, sans-serif'&gt;Subtotal&lt;/text&gt;&#10;                &lt;text x='620' y='366' fill='#3F4A55' fontSize={14} fontFamily='Inter, PingFang SC, sans-serif'&gt;₦144,000&lt;/text&gt;&#10;                &lt;text x='392' y='396' fill='#202259' fontSize={15} fontWeight='bold' fontFamily='Inter, PingFang SC, sans-serif'&gt;Total (incl. tax)&lt;/text&gt;&#10;                &lt;text x='620' y='396' fill='#202259' fontSize={15} fontWeight='bold' fontFamily='Inter, PingFang SC, sans-serif'&gt;₦154,800&lt;/text&gt;&#10;&#10;                {/* 说明 */}&#10;                &lt;text x='0' y='452' fill='#5C646A' fontSize={14} fontFamily='Inter, PingFang SC, sans-serif'&gt;表格含税率与税额两列，表尾有商品小计和含税总计两行。&lt;/text&gt;&#10;                &lt;text x='0' y='478' fill='#5C646A' fontSize={14} fontFamily='Inter, PingFang SC, sans-serif'&gt;税率按 7.5% 计算，这一项只在订单展示环节出现，结算页并不计算。&lt;/text&gt;&#10;            &lt;/svg&gt;&#10;        &lt;/Box&gt;&#10;&#10;        {/* 右：分桶依据 + 注意 */}&#10;        &lt;Box style={{ flex: 1, flexDirection: 'column', gap: 14 }}&gt;&#10;            &lt;Box style={{ background: '#202259', borderRadius: 10, padding: '18px 20px', flexDirection: 'column' }}&gt;&#10;                &lt;Text style={{ fontSize: 15, color: '#7FD3EC', letterSpacing: 1.8, fontWeight: 'bold' }}&gt;BUCKETS&lt;/Text&gt;&#10;                &lt;Text style={{ fontSize: 20, fontWeight: 'bold', color: '#FFFFFF', lineHeight: 1.35, marginTop: 8 }}&gt;&#10;                    两段列表怎么分出来的&#10;                &lt;/Text&gt;&#10;                &lt;Box style={{ flexDirection: 'column', gap: 9, marginTop: 14 }}&gt;&#10;                    {[&#10;                        '先筛出「归属人是我 或 操作人是我」的订单',&#10;                        '其中归属人是我的 → My orders',&#10;                        '归属人不是我、但操作人是我 → Member orders',&#10;                    ].map(function (t, i) {&#10;                        return (&#10;                            &lt;Box key={i} style={{ flexDirection: 'row', gap: 10 }}&gt;&#10;                                &lt;Text style={{ fontSize: 15, color: '#2AA7CF', fontFamily: 'Menlo, ui-monospace, monospace' }}&gt;{i + 1}&lt;/Text&gt;&#10;                                &lt;Text style={{ fontSize: 16, color: '#D6E2F5', lineHeight: 1.45, flex: 1 }}&gt;{t}&lt;/Text&gt;&#10;                            &lt;/Box&gt;&#10;                        );&#10;                    })}&#10;                &lt;/Box&gt;&#10;                &lt;Text style={{ fontSize: 14, color: '#859EB3', marginTop: 12 }}&gt;&#10;                    会员订单只来自代客下单流程，和三条下单路径都无关。&#10;                &lt;/Text&gt;&#10;            &lt;/Box&gt;&#10;&#10;            &lt;Box style={{ flex: 1, background: 'rgba(242,135,183,0.14)', borderLeft: '4px solid #F287B7', borderRadius: 8, padding: '14px 16px', flexDirection: 'column', gap: 10 }}&gt;&#10;                &lt;Text style={{ fontSize: 17, fontWeight: 'bold', color: '#7A2F5C' }}&gt;三处要提前说清&lt;/Text&gt;&#10;                &lt;Text style={{ fontSize: 16, color: '#4A3040', lineHeight: 1.5 }}&gt;&#10;                    一、访客订单两个字段都为空 —— 两段列表都进不去，而且会在进入账户页时被清理掉。&#10;                &lt;/Text&gt;&#10;                &lt;Text style={{ fontSize: 16, color: '#4A3040', lineHeight: 1.5 }}&gt;&#10;                    二、注册路径的订单，地址列会显示&quot;未提供地址&quot;，因为字段是平铺存的。&#10;                &lt;/Text&gt;&#10;                &lt;Text style={{ fontSize: 16, color: '#4A3040', lineHeight: 1.5 }}&gt;&#10;                    三、支付状态标签有四种取值，注册单会落到默认的未支付标签上。&#10;                &lt;/Text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26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订单在账户里怎么展示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分桶只看两个字段：权益归属人和实际操作人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571500" y="1143000"/>
            <a:ext cx="6858000" cy="5143500"/>
          </a:xfrm>
          <a:prstGeom prst="roundRect">
            <a:avLst>
              <a:gd name="adj" fmla="val 1852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7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" y="1333500"/>
            <a:ext cx="6553200" cy="4762500"/>
          </a:xfrm>
          <a:prstGeom prst="rect">
            <a:avLst/>
          </a:prstGeom>
          <a:ln/>
        </p:spPr>
      </p:pic>
      <p:sp>
        <p:nvSpPr>
          <p:cNvPr id="745" name=""/>
          <p:cNvSpPr/>
          <p:nvPr/>
        </p:nvSpPr>
        <p:spPr>
          <a:xfrm rot="0" flipH="0" flipV="0">
            <a:off x="7658100" y="1143000"/>
            <a:ext cx="3962400" cy="2286000"/>
          </a:xfrm>
          <a:prstGeom prst="roundRect">
            <a:avLst>
              <a:gd name="adj" fmla="val 4167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7848600" y="1314450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35">
                <a:solidFill>
                  <a:srgbClr val="7FD3EC"/>
                </a:solidFill>
                <a:latin typeface="Inter"/>
                <a:ea typeface="Inter"/>
              </a:rPr>
              <a:t>BUCKETS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7848600" y="1562100"/>
            <a:ext cx="358140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00" b="1">
                <a:solidFill>
                  <a:srgbClr val="FFFFFF"/>
                </a:solidFill>
                <a:latin typeface="Inter"/>
                <a:ea typeface="Inter"/>
              </a:rPr>
              <a:t>两段列表怎么分出来的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7848600" y="2009775"/>
            <a:ext cx="952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A7CF"/>
                </a:solidFill>
                <a:latin typeface="Menlo"/>
                <a:ea typeface="Menlo"/>
              </a:rPr>
              <a:t>1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8039100" y="2009775"/>
            <a:ext cx="33909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先筛出「归属人是我</a:t>
            </a: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 </a:t>
            </a: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或</a:t>
            </a: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 </a:t>
            </a: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操作人是我」的订单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7848600" y="2362200"/>
            <a:ext cx="952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A7CF"/>
                </a:solidFill>
                <a:latin typeface="Menlo"/>
                <a:ea typeface="Menlo"/>
              </a:rPr>
              <a:t>2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8039100" y="2362200"/>
            <a:ext cx="33909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其中归属人是我的</a:t>
            </a: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 → My orders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7848600" y="2714625"/>
            <a:ext cx="952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A7CF"/>
                </a:solidFill>
                <a:latin typeface="Menlo"/>
                <a:ea typeface="Menlo"/>
              </a:rPr>
              <a:t>3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8039100" y="2714625"/>
            <a:ext cx="33909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D6E2F5"/>
                </a:solidFill>
                <a:latin typeface="Inter"/>
                <a:ea typeface="Inter"/>
              </a:rPr>
              <a:t>归属人不是我、但操作人是我</a:t>
            </a:r>
            <a:r>
              <a:rPr lang="en-US" sz="1200">
                <a:solidFill>
                  <a:srgbClr val="D6E2F5"/>
                </a:solidFill>
                <a:latin typeface="Inter"/>
                <a:ea typeface="Inter"/>
              </a:rPr>
              <a:t> → Member orders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7848600" y="3095625"/>
            <a:ext cx="3581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59EB3"/>
                </a:solidFill>
                <a:latin typeface="Inter"/>
                <a:ea typeface="Inter"/>
              </a:rPr>
              <a:t>会员订单只来自代客下单流程，和三条下单路径都无关。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7696200" y="3562350"/>
            <a:ext cx="3962400" cy="2724150"/>
          </a:xfrm>
          <a:prstGeom prst="roundRect">
            <a:avLst>
              <a:gd name="adj" fmla="val 2797"/>
            </a:avLst>
          </a:prstGeom>
          <a:solidFill>
            <a:srgbClr val="F287B7">
              <a:alpha val="14000"/>
            </a:srgbClr>
          </a:solidFill>
          <a:ln/>
        </p:spPr>
        <p:txBody>
          <a:bodyPr/>
          <a:p/>
        </p:txBody>
      </p:sp>
      <p:sp>
        <p:nvSpPr>
          <p:cNvPr id="756" name=""/>
          <p:cNvSpPr/>
          <p:nvPr/>
        </p:nvSpPr>
        <p:spPr>
          <a:xfrm rot="0" flipH="0" flipV="0">
            <a:off x="7696200" y="3562350"/>
            <a:ext cx="3962400" cy="2724150"/>
          </a:xfrm>
          <a:custGeom>
            <a:pathLst>
              <a:path w="416" h="28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282"/>
                </a:lnTo>
                <a:cubicBezTo>
                  <a:pt x="4" y="284"/>
                  <a:pt x="5" y="286"/>
                  <a:pt x="7" y="286"/>
                </a:cubicBezTo>
                <a:cubicBezTo>
                  <a:pt x="3" y="286"/>
                  <a:pt x="0" y="282"/>
                  <a:pt x="0" y="27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7848600" y="3695700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7A2F5C"/>
                </a:solidFill>
                <a:latin typeface="Inter"/>
                <a:ea typeface="Inter"/>
              </a:rPr>
              <a:t>三处要提前说清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7848600" y="399097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一、访客订单两个字段都为空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两段列表都进不去，而且会在进入账户页时被清理掉。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7848600" y="463867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二、注册路径的订单，地址列会显示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未提供地址</a:t>
            </a:r>
            <a:r>
              <a:rPr lang="en-US" sz="1200">
                <a:solidFill>
                  <a:srgbClr val="4A3040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，因为字段是平铺存的。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7848600" y="528637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三、支付状态标签有四种取值，注册单会落到默认的未支付标签上。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26 / 31</a:t>
            </a:r>
            <a:endParaRPr/>
          </a:p>
        </p:txBody>
      </p:sp>
    </p:spTree>
  </p:cSld>
</p:sld>
</file>

<file path=ppt/slides/slide2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64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奖金看板：两个数字怎么算&lt;/Text&gt;&#10;        &lt;Text style={{ fontSize: 16, color: '#5C646A', lineHeight: 1.4, marginTop: 6 }}&gt;&#10;            一个来自订单，一个来自台账 —— 这也解释了三条路径的奖金差异从哪来&#10;        &lt;/Text&gt;&#10;    &lt;/Box&gt;&#10;&#10;    {/* ===== B 区（巨型数字 + 洞察） ===== */}&#10;    &lt;Box style={{ height: 540, flexDirection: 'column', gap: 20 }}&gt;&#10;        {/* 双 KPI */}&#10;        &lt;Box style={{ height: 212, flexDirection: 'row', gap: 20 }}&gt;&#10;            &lt;Box style={{ flex: 1, background: '#202259', borderRadius: 10, padding: '22px 26px', flexDirection: 'column' }}&gt;&#10;                &lt;Box style={{ flexDirection: 'row', alignItems: 'center', justifyContent: 'space-between' }}&gt;&#10;                    &lt;Text style={{ fontSize: 15, color: '#7FD3EC', letterSpacing: 2, fontWeight: 'bold' }}&gt;MEMBER BONUS&lt;/Text&gt;&#10;                    &lt;Text style={{ fontSize: 14, color: '#859EB3', fontFamily: 'Menlo, ui-monospace, monospace' }}&gt;al.bvCredits + al.orders&lt;/Text&gt;&#10;                &lt;/Box&gt;&#10;                &lt;Box style={{ flexDirection: 'row', alignItems: 'baseline', gap: 10, marginTop: 10 }}&gt;&#10;                    &lt;Text style={{ fontSize: 88, fontWeight: 'bold', color: '#FFFFFF', lineHeight: 1, letterSpacing: -3, fontFamily: 'Menlo, ui-monospace, monospace' }}&gt;312&lt;/Text&gt;&#10;                    &lt;Text style={{ fontSize: 26, color: '#7FD3EC', fontWeight: 'bold' }}&gt;BV&lt;/Text&gt;&#10;                &lt;/Box&gt;&#10;                &lt;Text style={{ fontSize: 16, color: '#B9C6E4', marginTop: 'auto' }}&gt;&#10;                    Earned 312 from your orders · 0 from referrals&#10;                &lt;/Text&gt;&#10;            &lt;/Box&gt;&#10;&#10;            &lt;Box style={{ flex: 1, background: '#F4F6F8', border: '2px solid #F287B7', borderRadius: 10, padding: '22px 26px', flexDirection: 'column' }}&gt;&#10;                &lt;Box style={{ flexDirection: 'row', alignItems: 'center', justifyContent: 'space-between' }}&gt;&#10;                    &lt;Text style={{ fontSize: 15, color: '#B3528A', letterSpacing: 2, fontWeight: 'bold' }}&gt;MEMBER ECOIN&lt;/Text&gt;&#10;                    &lt;Text style={{ fontSize: 14, color: '#859EB3', fontFamily: 'Menlo, ui-monospace, monospace' }}&gt;al.ecoin&lt;/Text&gt;&#10;                &lt;/Box&gt;&#10;                &lt;Box style={{ flexDirection: 'row', alignItems: 'baseline', gap: 10, marginTop: 10 }}&gt;&#10;                    &lt;Text style={{ fontSize: 88, fontWeight: 'bold', color: '#F287B7', lineHeight: 1, letterSpacing: -3, fontFamily: 'Menlo, ui-monospace, monospace' }}&gt;43&lt;/Text&gt;&#10;                    &lt;Text style={{ fontSize: 26, color: '#B3528A', fontWeight: 'bold' }}&gt;EC&lt;/Text&gt;&#10;                &lt;/Box&gt;&#10;                &lt;Text style={{ fontSize: 16, color: '#3F4A55', marginTop: 'auto' }}&gt;&#10;                    没有流水时副标题显示 No ecoin yet&#10;                &lt;/Text&gt;&#10;            &lt;/Box&gt;&#10;        &lt;/Box&gt;&#10;&#10;        {/* 口径拆解 + 与路径的关联 */}&#10;        &lt;Box style={{ flex: 1, flexDirection: 'row', gap: 18 }}&gt;&#10;            &lt;Box style={{ flex: 1, background: '#F4F6F8', borderRadius: 10, padding: '16px 18px', flexDirection: 'column' }}&gt;&#10;                &lt;Text style={{ fontSize: 19, fontWeight: 'bold', color: '#202259', marginBottom: 10 }}&gt;口径拆解&lt;/Text&gt;&#10;                &lt;Box style={{ flex: 1, flexDirection: 'column', gap: 8 }}&gt;&#10;                    {[&#10;                        { k: '自购 BV', d: '把自己名下所有订单的 BV 累加，卡片上标注为 Your orders。', c: '#202259' },&#10;                        { k: '推荐 BV', d: '从 BV 台账取出记在自己名下的条目累加，标注为 From referrals。', c: '#F287B7' },&#10;                        { k: '合计', d: '两者相加就是卡片上的 Member Bonus 数字，展开 Breakdown 能看到这两行。', c: '#2AA7CF' },&#10;                        { k: 'Ecoin', d: '走另一本独立台账，按充值、转账、扣减逐条累计，与 BV 互不影响。', c: '#859EB3' },&#10;                    ].map(function (it, i) {&#10;                        return (&#10;                            &lt;Box key={i} style={{ flex: 1, flexDirection: 'row', gap: 14, alignItems: 'center', background: '#FFFFFF', borderRadius: 8, padding: '0 16px', borderLeft: '4px solid ' + it.c }}&gt;&#10;                                &lt;Text style={{ fontSize: 16, fontWeight: 'bold', color: '#202259', width: 84 }}&gt;{it.k}&lt;/Text&gt;&#10;                                &lt;Text style={{ fontSize: 16, color: '#3F4A55', lineHeight: 1.4, flex: 1 }}&gt;{it.d}&lt;/Text&gt;&#10;                            &lt;/Box&gt;&#10;                        );&#10;                    })}&#10;                &lt;/Box&gt;&#10;            &lt;/Box&gt;&#10;&#10;            &lt;Box style={{ width: 396, background: 'rgba(42,167,207,0.10)', borderRadius: 10, padding: '16px 18px', flexDirection: 'column' }}&gt;&#10;                &lt;Box style={{ flexDirection: 'row', alignItems: 'center', gap: 10, marginBottom: 10 }}&gt;&#10;                    &lt;FAIcon name='link' style={{ fill: '#2AA7CF', width: 20, height: 20 }} /&gt;&#10;                  &lt;Text style={{ fontSize: 19, fontWeight: 'bold', color: '#202259' }}&gt;和三条路径的关系&lt;/Text&gt;&#10;                &lt;/Box&gt;&#10;                &lt;Box style={{ flex: 1, flexDirection: 'column', gap: 10 }}&gt;&#10;                    &lt;Box style={{ background: '#FFFFFF', borderRadius: 8, padding: '11px 13px' }}&gt;&#10;                        &lt;Text style={{ fontSize: 16, color: '#3F4A55', lineHeight: 1.5 }}&gt;&#10;                            &lt;span style={{ fontWeight: 'bold', color: '#202259' }}&gt;路径一&lt;/span&gt;：访客订单的 BV 全额给分享者 —— 所以访客自己的卡片&lt;span style={{ fontWeight: 'bold' }}&gt;一分不涨&lt;/span&gt;。&#10;                        &lt;/Text&gt;&#10;                    &lt;/Box&gt;&#10;                    &lt;Box style={{ background: '#FFFFFF', borderRadius: 8, padding: '11px 13px' }}&gt;&#10;                        &lt;Text style={{ fontSize: 16, color: '#3F4A55', lineHeight: 1.5 }}&gt;&#10;                            &lt;span style={{ fontWeight: 'bold', color: '#202259' }}&gt;路径二 / 三&lt;/span&gt;：订单归属人就是自己 —— BV 计入自购 BV，卡片&lt;span style={{ fontWeight: 'bold' }}&gt;会涨&lt;/span&gt;。&#10;                        &lt;/Text&gt;&#10;                    &lt;/Box&gt;&#10;                    &lt;Box style={{ background: '#FFFFFF', borderRadius: 8, padding: '11px 13px' }}&gt;&#10;                        &lt;Text style={{ fontSize: 16, color: '#3F4A55', lineHeight: 1.5 }}&gt;&#10;                            推荐 BV 只会在&lt;span style={{ fontWeight: 'bold' }}&gt;别人通过你的链接下单&lt;/span&gt;时增长，和自己下不下单无关。&#10;                        &lt;/Text&gt;&#10;                    &lt;/Box&gt;&#10;                &lt;/Box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27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奖金看板：两个数字怎么算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一个来自订单，一个来自台账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这也解释了三条路径的奖金差异从哪来</a:t>
            </a:r>
            <a:endParaRPr/>
          </a:p>
        </p:txBody>
      </p:sp>
      <p:sp>
        <p:nvSpPr>
          <p:cNvPr id="768" name=""/>
          <p:cNvSpPr/>
          <p:nvPr/>
        </p:nvSpPr>
        <p:spPr>
          <a:xfrm rot="0" flipH="0" flipV="0">
            <a:off x="571500" y="1143000"/>
            <a:ext cx="5429250" cy="2019300"/>
          </a:xfrm>
          <a:prstGeom prst="roundRect">
            <a:avLst>
              <a:gd name="adj" fmla="val 4717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819150" y="13525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MEMBER BONUS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3819525" y="1362075"/>
            <a:ext cx="1933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59EB3"/>
                </a:solidFill>
                <a:latin typeface="Menlo"/>
                <a:ea typeface="Menlo"/>
              </a:rPr>
              <a:t>al.bvCredits + al.orders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819150" y="1619250"/>
            <a:ext cx="142875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 spc="-225">
                <a:solidFill>
                  <a:srgbClr val="FFFFFF"/>
                </a:solidFill>
                <a:latin typeface="Menlo"/>
                <a:ea typeface="Menlo"/>
              </a:rPr>
              <a:t>312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2343150" y="1619250"/>
            <a:ext cx="3429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7FD3EC"/>
                </a:solidFill>
                <a:latin typeface="Inter"/>
                <a:ea typeface="Inter"/>
              </a:rPr>
              <a:t>BV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819150" y="2762250"/>
            <a:ext cx="493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9C6E4"/>
                </a:solidFill>
                <a:latin typeface="Inter"/>
                <a:ea typeface="Inter"/>
              </a:rPr>
              <a:t>Earned 312 from your orders · 0 from referrals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6191250" y="1143000"/>
            <a:ext cx="5429250" cy="2019300"/>
          </a:xfrm>
          <a:prstGeom prst="roundRect">
            <a:avLst>
              <a:gd name="adj" fmla="val 4717"/>
            </a:avLst>
          </a:prstGeom>
          <a:solidFill>
            <a:srgbClr val="F4F6F8"/>
          </a:solidFill>
          <a:ln w="25400">
            <a:solidFill>
              <a:srgbClr val="F287B7"/>
            </a:solidFill>
            <a:prstDash val="solid"/>
          </a:ln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6438900" y="13525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B3528A"/>
                </a:solidFill>
                <a:latin typeface="Inter"/>
                <a:ea typeface="Inter"/>
              </a:rPr>
              <a:t>MEMBER ECOIN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10725150" y="13620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59EB3"/>
                </a:solidFill>
                <a:latin typeface="Menlo"/>
                <a:ea typeface="Menlo"/>
              </a:rPr>
              <a:t>al.ecoin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6438900" y="1619250"/>
            <a:ext cx="9525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 spc="-225">
                <a:solidFill>
                  <a:srgbClr val="F287B7"/>
                </a:solidFill>
                <a:latin typeface="Menlo"/>
                <a:ea typeface="Menlo"/>
              </a:rPr>
              <a:t>43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7486650" y="1619250"/>
            <a:ext cx="3429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3528A"/>
                </a:solidFill>
                <a:latin typeface="Inter"/>
                <a:ea typeface="Inter"/>
              </a:rPr>
              <a:t>EC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6438900" y="2762250"/>
            <a:ext cx="493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没有流水时副标题显示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No ecoin yet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571500" y="3352800"/>
            <a:ext cx="7105650" cy="3095625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742950" y="3505200"/>
            <a:ext cx="6762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口径拆解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781050" y="3819525"/>
            <a:ext cx="6762750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3" name=""/>
          <p:cNvSpPr/>
          <p:nvPr/>
        </p:nvSpPr>
        <p:spPr>
          <a:xfrm rot="0" flipH="0" flipV="0">
            <a:off x="781050" y="3819525"/>
            <a:ext cx="6762750" cy="561975"/>
          </a:xfrm>
          <a:custGeom>
            <a:pathLst>
              <a:path w="710" h="5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5"/>
                </a:lnTo>
                <a:cubicBezTo>
                  <a:pt x="4" y="57"/>
                  <a:pt x="5" y="59"/>
                  <a:pt x="7" y="59"/>
                </a:cubicBezTo>
                <a:cubicBezTo>
                  <a:pt x="3" y="59"/>
                  <a:pt x="0" y="55"/>
                  <a:pt x="0" y="5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933450" y="4010025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自购</a:t>
            </a: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 BV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1866900" y="3971925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把自己名下所有订单的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累加，卡片上标注为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Your orders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786" name=""/>
          <p:cNvSpPr/>
          <p:nvPr/>
        </p:nvSpPr>
        <p:spPr>
          <a:xfrm rot="0" flipH="0" flipV="0">
            <a:off x="781050" y="4457700"/>
            <a:ext cx="6762750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7" name=""/>
          <p:cNvSpPr/>
          <p:nvPr/>
        </p:nvSpPr>
        <p:spPr>
          <a:xfrm rot="0" flipH="0" flipV="0">
            <a:off x="781050" y="4457700"/>
            <a:ext cx="6762750" cy="561975"/>
          </a:xfrm>
          <a:custGeom>
            <a:pathLst>
              <a:path w="710" h="5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5"/>
                </a:lnTo>
                <a:cubicBezTo>
                  <a:pt x="4" y="57"/>
                  <a:pt x="5" y="59"/>
                  <a:pt x="7" y="59"/>
                </a:cubicBezTo>
                <a:cubicBezTo>
                  <a:pt x="3" y="59"/>
                  <a:pt x="0" y="55"/>
                  <a:pt x="0" y="5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933450" y="4648200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推荐</a:t>
            </a: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 BV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1866900" y="4610100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台账取出记在自己名下的条目累加，标注为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From referrals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781050" y="5095875"/>
            <a:ext cx="6762750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1" name=""/>
          <p:cNvSpPr/>
          <p:nvPr/>
        </p:nvSpPr>
        <p:spPr>
          <a:xfrm rot="0" flipH="0" flipV="0">
            <a:off x="781050" y="5095875"/>
            <a:ext cx="6762750" cy="561975"/>
          </a:xfrm>
          <a:custGeom>
            <a:pathLst>
              <a:path w="710" h="5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5"/>
                </a:lnTo>
                <a:cubicBezTo>
                  <a:pt x="4" y="57"/>
                  <a:pt x="5" y="59"/>
                  <a:pt x="7" y="59"/>
                </a:cubicBezTo>
                <a:cubicBezTo>
                  <a:pt x="3" y="59"/>
                  <a:pt x="0" y="55"/>
                  <a:pt x="0" y="5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933450" y="5286375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合计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1866900" y="5248275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两者相加就是卡片上的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Member Bonus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数字，展开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Breakdown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能看到这两行。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781050" y="5734050"/>
            <a:ext cx="6762750" cy="561975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5" name=""/>
          <p:cNvSpPr/>
          <p:nvPr/>
        </p:nvSpPr>
        <p:spPr>
          <a:xfrm rot="0" flipH="0" flipV="0">
            <a:off x="781050" y="5734050"/>
            <a:ext cx="6762750" cy="561975"/>
          </a:xfrm>
          <a:custGeom>
            <a:pathLst>
              <a:path w="710" h="5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5"/>
                </a:lnTo>
                <a:cubicBezTo>
                  <a:pt x="4" y="57"/>
                  <a:pt x="5" y="59"/>
                  <a:pt x="7" y="59"/>
                </a:cubicBezTo>
                <a:cubicBezTo>
                  <a:pt x="3" y="59"/>
                  <a:pt x="0" y="55"/>
                  <a:pt x="0" y="5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859EB3"/>
          </a:solidFill>
          <a:ln/>
        </p:spPr>
        <p:txBody>
          <a:bodyPr/>
          <a:p/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933450" y="5924550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Ecoin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1866900" y="5886450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走另一本独立台账，按充值、转账、扣减逐条累计，与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互不影响。</a:t>
            </a:r>
            <a:endParaRPr/>
          </a:p>
        </p:txBody>
      </p:sp>
      <p:sp>
        <p:nvSpPr>
          <p:cNvPr id="798" name=""/>
          <p:cNvSpPr/>
          <p:nvPr/>
        </p:nvSpPr>
        <p:spPr>
          <a:xfrm rot="0" flipH="0" flipV="0">
            <a:off x="7848600" y="3352800"/>
            <a:ext cx="3771900" cy="3095625"/>
          </a:xfrm>
          <a:prstGeom prst="roundRect">
            <a:avLst>
              <a:gd name="adj" fmla="val 3077"/>
            </a:avLst>
          </a:prstGeom>
          <a:solidFill>
            <a:srgbClr val="2AA7CF">
              <a:alpha val="10000"/>
            </a:srgbClr>
          </a:solidFill>
          <a:ln/>
        </p:spPr>
        <p:txBody>
          <a:bodyPr/>
          <a:p/>
        </p:txBody>
      </p:sp>
      <p:pic>
        <p:nvPicPr>
          <p:cNvPr id="7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20050" y="3524250"/>
            <a:ext cx="190500" cy="190500"/>
          </a:xfrm>
          <a:prstGeom prst="rect">
            <a:avLst/>
          </a:prstGeom>
          <a:ln/>
        </p:spPr>
      </p:pic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8305800" y="3505200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和三条路径的关系</a:t>
            </a:r>
            <a:endParaRPr/>
          </a:p>
        </p:txBody>
      </p:sp>
      <p:sp>
        <p:nvSpPr>
          <p:cNvPr id="801" name=""/>
          <p:cNvSpPr/>
          <p:nvPr/>
        </p:nvSpPr>
        <p:spPr>
          <a:xfrm rot="0" flipH="0" flipV="0">
            <a:off x="8020050" y="381952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8143875" y="3924300"/>
            <a:ext cx="3181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路径一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：访客订单的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全额给分享者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所以访客自己的卡片</a:t>
            </a:r>
            <a:r>
              <a:rPr lang="zh-CN" sz="1200" b="1">
                <a:solidFill>
                  <a:srgbClr val="3F4A55"/>
                </a:solidFill>
                <a:latin typeface="Inter"/>
                <a:ea typeface="Inter"/>
              </a:rPr>
              <a:t>一分不涨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8020050" y="46767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8143875" y="4781550"/>
            <a:ext cx="3181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路径二</a:t>
            </a: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 / </a:t>
            </a: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三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：订单归属人就是自己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——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计入自购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，卡片</a:t>
            </a:r>
            <a:r>
              <a:rPr lang="zh-CN" sz="1200" b="1">
                <a:solidFill>
                  <a:srgbClr val="3F4A55"/>
                </a:solidFill>
                <a:latin typeface="Inter"/>
                <a:ea typeface="Inter"/>
              </a:rPr>
              <a:t>会涨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。</a:t>
            </a:r>
            <a:endParaRPr/>
          </a:p>
        </p:txBody>
      </p:sp>
      <p:sp>
        <p:nvSpPr>
          <p:cNvPr id="805" name=""/>
          <p:cNvSpPr/>
          <p:nvPr/>
        </p:nvSpPr>
        <p:spPr>
          <a:xfrm rot="0" flipH="0" flipV="0">
            <a:off x="8020050" y="553402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8143875" y="5638800"/>
            <a:ext cx="3181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推荐</a:t>
            </a:r>
            <a:r>
              <a:rPr lang="en-US" sz="120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只会在</a:t>
            </a:r>
            <a:r>
              <a:rPr lang="zh-CN" sz="1200" b="1">
                <a:solidFill>
                  <a:srgbClr val="3F4A55"/>
                </a:solidFill>
                <a:latin typeface="Inter"/>
                <a:ea typeface="Inter"/>
              </a:rPr>
              <a:t>别人通过你的链接下单</a:t>
            </a:r>
            <a:r>
              <a:rPr lang="zh-CN" sz="1200">
                <a:solidFill>
                  <a:srgbClr val="3F4A55"/>
                </a:solidFill>
                <a:latin typeface="Inter"/>
                <a:ea typeface="Inter"/>
              </a:rPr>
              <a:t>时增长，和自己下不下单无关。</a:t>
            </a:r>
            <a:endParaRPr/>
          </a:p>
        </p:txBody>
      </p:sp>
      <p:sp>
        <p:nvSpPr>
          <p:cNvPr id="807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27 / 31</a:t>
            </a:r>
            <a:endParaRPr/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810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九类奖金与资金闭环&lt;/Text&gt;&#10;        &lt;Text style={{ fontSize: 16, color: '#5C646A', lineHeight: 1.4, marginTop: 6 }}&gt;&#10;            九类名称齐全，但它们是展示字段；钱怎么在两本账之间流动才是可讲的部分&#10;        &lt;/Text&gt;&#10;    &lt;/Box&gt;&#10;&#10;    {/* ===== B 区（非对称双栏） ===== */}&#10;    &lt;Box style={{ height: 540, flexDirection: 'row', gap: 24 }}&gt;&#10;        {/* 左：九类奖金 */}&#10;        &lt;Box style={{ width: 520, flexDirection: 'column', gap: 12 }}&gt;&#10;            &lt;Text style={{ fontSize: 19, fontWeight: 'bold', color: '#202259' }}&gt;往期奖金里的九类名称&lt;/Text&gt;&#10;&#10;            &lt;Box style={{ flexDirection: 'row', flexWrap: 'wrap', gap: 8 }}&gt;&#10;                {[&#10;                    'Elite Bonus', 'Pro Elite Bonus', 'Super Elite Bonus',&#10;                    'Stockist Bonus', 'LeaderShip Bonus', 'Welcome Bonus',&#10;                    'Car Bonus', 'Performance Bonus', 'Builder Bonus',&#10;                ].map(function (t, i) {&#10;                    return (&#10;                        &lt;Box key={i} style={{ width: 160, height: 62, background: '#F4F6F8', borderRadius: 8, padding: '0 12px', justifyContent: 'center', borderLeft: '4px solid #2AA7CF' }}&gt;&#10;                            &lt;Text style={{ fontSize: 13, color: '#2AA7CF', fontFamily: 'Menlo, ui-monospace, monospace' }}&gt;{String(i + 1).padStart(2, '0')}&lt;/Text&gt;&#10;                            &lt;Text style={{ fontSize: 15, fontWeight: 'bold', color: '#202259', lineHeight: 1.25, marginTop: 2 }}&gt;{t}&lt;/Text&gt;&#10;                        &lt;/Box&gt;&#10;                    );&#10;                })}&#10;            &lt;/Box&gt;&#10;&#10;            &lt;Box style={{ flex: 1, background: 'rgba(242,135,183,0.14)', borderLeft: '4px solid #F287B7', borderRadius: 8, padding: '14px 16px', flexDirection: 'column' }}&gt;&#10;                &lt;Text style={{ fontSize: 17, fontWeight: 'bold', color: '#7A2F5C', marginBottom: 8 }}&gt;必须说清的一句&lt;/Text&gt;&#10;                &lt;Text style={{ fontSize: 16, color: '#4A3040', lineHeight: 1.55 }}&gt;&#10;                    这九类名称目前是展示型字段。页面上没有任何佣金比例、没有计算公式、也没有晋升条件。周期表里的数字全部来自演示数据，不是真实业务结果。&#10;                &lt;/Text&gt;&#10;                &lt;Text style={{ fontSize: 16, color: '#4A3040', lineHeight: 1.55, marginTop: 8 }}&gt;&#10;                    对外统一口径建议：奖金规则由注册你的经销商线下完整说明，我们不在页面上公布任何数字承诺。&#10;                &lt;/Text&gt;&#10;            &lt;/Box&gt;&#10;        &lt;/Box&gt;&#10;&#10;        {/* 右：资金闭环 */}&#10;        &lt;Box style={{ flex: 1, flexDirection: 'column', gap: 10 }}&gt;&#10;            &lt;Text style={{ fontSize: 19, fontWeight: 'bold', color: '#202259' }}&gt;资金闭环的四条路径&lt;/Text&gt;&#10;&#10;            {[&#10;                { n: '1', t: '充值进 Bonus', d: '表单四项：金额（步进器，最小 1）、类型（目前只有现金）、支付日期、备注。提交后金额同时写进 BV 流水。', c: '#202259' },&#10;                { n: '2', t: 'Bonus 转 Ecoin', d: '转账类型之一。可用余额取 BV 台账最后一条记录的期末余额，不足会被拦住。', c: '#2AA7CF' },&#10;                { n: '3', t: 'Ecoin 转给其他会员', d: '另一种转账类型。按会员编码定向转出，编码必须符合会员 ID 格式，提交后两边台账各写一条流水。', c: '#2AA7CF' },&#10;                { n: '4', t: 'Ecoin 抵扣订单', d: '就是结算页的余额支付 —— 三条路径里唯一被登录态卡住的支付方式，下单当场扣减并置为已支付。', c: '#F287B7' },&#10;            ].map(function (it, i) {&#10;                return (&#10;                    &lt;Box key={i} style={{ flex: 1, flexDirection: 'row', alignItems: 'center', gap: 16, background: '#F4F6F8', borderRadius: 8, padding: '0 18px', borderLeft: '5px solid ' + it.c }}&gt;&#10;                        &lt;Box style={{ width: 34, height: 34, borderRadius: 17, background: it.c, justifyContent: 'center', alignItems: 'center' }}&gt;&#10;                            &lt;Text style={{ fontSize: 16, fontWeight: 'bold', color: '#FFFFFF' }}&gt;{it.n}&lt;/Text&gt;&#10;                        &lt;/Box&gt;&#10;                        &lt;Box style={{ flexDirection: 'column', width: 168 }}&gt;&#10;                            &lt;Text style={{ fontSize: 17, fontWeight: 'bold', color: '#202259', lineHeight: 1.25 }}&gt;{it.t}&lt;/Text&gt;&#10;                        &lt;/Box&gt;&#10;                        &lt;Text style={{ fontSize: 15, color: '#3F4A55', flex: 1, lineHeight: 1.45 }}&gt;{it.d}&lt;/Text&gt;&#10;                    &lt;/Box&gt;&#10;                );&#10;            })}&#10;&#10;            &lt;Box style={{ background: '#202259', borderRadius: 8, padding: '13px 16px' }}&gt;&#10;                &lt;Text style={{ fontSize: 15, color: '#D6E2F5', lineHeight: 1.5 }}&gt;&#10;                    每一次充值、转账都会在两本台账各自留下带时间、金额与备注的流水 —— 账户页的 View History 就是把它们渲染成表格。&#10;                &lt;/Text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28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九类奖金与资金闭环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九类名称齐全，但它们是展示字段；钱怎么在两本账之间流动才是可讲的部分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往期奖金里的九类名称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609600" y="1476375"/>
            <a:ext cx="1485900" cy="590550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16" name=""/>
          <p:cNvSpPr/>
          <p:nvPr/>
        </p:nvSpPr>
        <p:spPr>
          <a:xfrm rot="0" flipH="0" flipV="0">
            <a:off x="609600" y="1476375"/>
            <a:ext cx="1485900" cy="590550"/>
          </a:xfrm>
          <a:custGeom>
            <a:pathLst>
              <a:path w="156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723900" y="1581150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A7CF"/>
                </a:solidFill>
                <a:latin typeface="Menlo"/>
                <a:ea typeface="Menlo"/>
              </a:rPr>
              <a:t>01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723900" y="1752600"/>
            <a:ext cx="12573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125" b="1">
                <a:solidFill>
                  <a:srgbClr val="202259"/>
                </a:solidFill>
                <a:latin typeface="Inter"/>
                <a:ea typeface="Inter"/>
              </a:rPr>
              <a:t>Elite Bonus</a:t>
            </a:r>
            <a:endParaRPr/>
          </a:p>
        </p:txBody>
      </p:sp>
      <p:sp>
        <p:nvSpPr>
          <p:cNvPr id="819" name=""/>
          <p:cNvSpPr/>
          <p:nvPr/>
        </p:nvSpPr>
        <p:spPr>
          <a:xfrm rot="0" flipH="0" flipV="0">
            <a:off x="2209800" y="1476375"/>
            <a:ext cx="1485900" cy="590550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20" name=""/>
          <p:cNvSpPr/>
          <p:nvPr/>
        </p:nvSpPr>
        <p:spPr>
          <a:xfrm rot="0" flipH="0" flipV="0">
            <a:off x="2209800" y="1476375"/>
            <a:ext cx="1485900" cy="590550"/>
          </a:xfrm>
          <a:custGeom>
            <a:pathLst>
              <a:path w="156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2324100" y="1581150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A7CF"/>
                </a:solidFill>
                <a:latin typeface="Menlo"/>
                <a:ea typeface="Menlo"/>
              </a:rPr>
              <a:t>02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2324100" y="1752600"/>
            <a:ext cx="12573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125" b="1">
                <a:solidFill>
                  <a:srgbClr val="202259"/>
                </a:solidFill>
                <a:latin typeface="Inter"/>
                <a:ea typeface="Inter"/>
              </a:rPr>
              <a:t>Pro Elite Bonus</a:t>
            </a:r>
            <a:endParaRPr/>
          </a:p>
        </p:txBody>
      </p:sp>
      <p:sp>
        <p:nvSpPr>
          <p:cNvPr id="823" name=""/>
          <p:cNvSpPr/>
          <p:nvPr/>
        </p:nvSpPr>
        <p:spPr>
          <a:xfrm rot="0" flipH="0" flipV="0">
            <a:off x="3810000" y="1476375"/>
            <a:ext cx="1485900" cy="590550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24" name=""/>
          <p:cNvSpPr/>
          <p:nvPr/>
        </p:nvSpPr>
        <p:spPr>
          <a:xfrm rot="0" flipH="0" flipV="0">
            <a:off x="3810000" y="1476375"/>
            <a:ext cx="1485900" cy="590550"/>
          </a:xfrm>
          <a:custGeom>
            <a:pathLst>
              <a:path w="156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3924300" y="1581150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A7CF"/>
                </a:solidFill>
                <a:latin typeface="Menlo"/>
                <a:ea typeface="Menlo"/>
              </a:rPr>
              <a:t>03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3924300" y="1752600"/>
            <a:ext cx="12573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125" b="1">
                <a:solidFill>
                  <a:srgbClr val="202259"/>
                </a:solidFill>
                <a:latin typeface="Inter"/>
                <a:ea typeface="Inter"/>
              </a:rPr>
              <a:t>Super Elite Bonus</a:t>
            </a:r>
            <a:endParaRPr/>
          </a:p>
        </p:txBody>
      </p:sp>
      <p:sp>
        <p:nvSpPr>
          <p:cNvPr id="827" name=""/>
          <p:cNvSpPr/>
          <p:nvPr/>
        </p:nvSpPr>
        <p:spPr>
          <a:xfrm rot="0" flipH="0" flipV="0">
            <a:off x="609600" y="2143125"/>
            <a:ext cx="1485900" cy="590550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28" name=""/>
          <p:cNvSpPr/>
          <p:nvPr/>
        </p:nvSpPr>
        <p:spPr>
          <a:xfrm rot="0" flipH="0" flipV="0">
            <a:off x="609600" y="2143125"/>
            <a:ext cx="1485900" cy="590550"/>
          </a:xfrm>
          <a:custGeom>
            <a:pathLst>
              <a:path w="156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723900" y="2247900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A7CF"/>
                </a:solidFill>
                <a:latin typeface="Menlo"/>
                <a:ea typeface="Menlo"/>
              </a:rPr>
              <a:t>04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723900" y="2419350"/>
            <a:ext cx="12573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125" b="1">
                <a:solidFill>
                  <a:srgbClr val="202259"/>
                </a:solidFill>
                <a:latin typeface="Inter"/>
                <a:ea typeface="Inter"/>
              </a:rPr>
              <a:t>Stockist Bonus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2209800" y="2143125"/>
            <a:ext cx="1485900" cy="590550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32" name=""/>
          <p:cNvSpPr/>
          <p:nvPr/>
        </p:nvSpPr>
        <p:spPr>
          <a:xfrm rot="0" flipH="0" flipV="0">
            <a:off x="2209800" y="2143125"/>
            <a:ext cx="1485900" cy="590550"/>
          </a:xfrm>
          <a:custGeom>
            <a:pathLst>
              <a:path w="156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2324100" y="2247900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A7CF"/>
                </a:solidFill>
                <a:latin typeface="Menlo"/>
                <a:ea typeface="Menlo"/>
              </a:rPr>
              <a:t>05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2324100" y="2419350"/>
            <a:ext cx="12573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125" b="1">
                <a:solidFill>
                  <a:srgbClr val="202259"/>
                </a:solidFill>
                <a:latin typeface="Inter"/>
                <a:ea typeface="Inter"/>
              </a:rPr>
              <a:t>LeaderShip Bonus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3810000" y="2143125"/>
            <a:ext cx="1485900" cy="590550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36" name=""/>
          <p:cNvSpPr/>
          <p:nvPr/>
        </p:nvSpPr>
        <p:spPr>
          <a:xfrm rot="0" flipH="0" flipV="0">
            <a:off x="3810000" y="2143125"/>
            <a:ext cx="1485900" cy="590550"/>
          </a:xfrm>
          <a:custGeom>
            <a:pathLst>
              <a:path w="156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3924300" y="2247900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A7CF"/>
                </a:solidFill>
                <a:latin typeface="Menlo"/>
                <a:ea typeface="Menlo"/>
              </a:rPr>
              <a:t>06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3924300" y="2419350"/>
            <a:ext cx="12573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125" b="1">
                <a:solidFill>
                  <a:srgbClr val="202259"/>
                </a:solidFill>
                <a:latin typeface="Inter"/>
                <a:ea typeface="Inter"/>
              </a:rPr>
              <a:t>Welcome Bonus</a:t>
            </a:r>
            <a:endParaRPr/>
          </a:p>
        </p:txBody>
      </p:sp>
      <p:sp>
        <p:nvSpPr>
          <p:cNvPr id="839" name=""/>
          <p:cNvSpPr/>
          <p:nvPr/>
        </p:nvSpPr>
        <p:spPr>
          <a:xfrm rot="0" flipH="0" flipV="0">
            <a:off x="609600" y="2809875"/>
            <a:ext cx="1485900" cy="590550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40" name=""/>
          <p:cNvSpPr/>
          <p:nvPr/>
        </p:nvSpPr>
        <p:spPr>
          <a:xfrm rot="0" flipH="0" flipV="0">
            <a:off x="609600" y="2809875"/>
            <a:ext cx="1485900" cy="590550"/>
          </a:xfrm>
          <a:custGeom>
            <a:pathLst>
              <a:path w="156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723900" y="2914650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A7CF"/>
                </a:solidFill>
                <a:latin typeface="Menlo"/>
                <a:ea typeface="Menlo"/>
              </a:rPr>
              <a:t>07</a:t>
            </a:r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723900" y="3086100"/>
            <a:ext cx="12573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125" b="1">
                <a:solidFill>
                  <a:srgbClr val="202259"/>
                </a:solidFill>
                <a:latin typeface="Inter"/>
                <a:ea typeface="Inter"/>
              </a:rPr>
              <a:t>Car Bonus</a:t>
            </a:r>
            <a:endParaRPr/>
          </a:p>
        </p:txBody>
      </p:sp>
      <p:sp>
        <p:nvSpPr>
          <p:cNvPr id="843" name=""/>
          <p:cNvSpPr/>
          <p:nvPr/>
        </p:nvSpPr>
        <p:spPr>
          <a:xfrm rot="0" flipH="0" flipV="0">
            <a:off x="2209800" y="2809875"/>
            <a:ext cx="1485900" cy="590550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44" name=""/>
          <p:cNvSpPr/>
          <p:nvPr/>
        </p:nvSpPr>
        <p:spPr>
          <a:xfrm rot="0" flipH="0" flipV="0">
            <a:off x="2209800" y="2809875"/>
            <a:ext cx="1485900" cy="590550"/>
          </a:xfrm>
          <a:custGeom>
            <a:pathLst>
              <a:path w="156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2324100" y="2809875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A7CF"/>
                </a:solidFill>
                <a:latin typeface="Menlo"/>
                <a:ea typeface="Menlo"/>
              </a:rPr>
              <a:t>08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2324100" y="2981325"/>
            <a:ext cx="12573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5000"/>
              </a:lnSpc>
            </a:pPr>
            <a:r>
              <a:rPr lang="en-US" sz="1125" b="1">
                <a:solidFill>
                  <a:srgbClr val="202259"/>
                </a:solidFill>
                <a:latin typeface="Inter"/>
                <a:ea typeface="Inter"/>
              </a:rPr>
              <a:t>Performance Bonus</a:t>
            </a:r>
            <a:endParaRPr/>
          </a:p>
        </p:txBody>
      </p:sp>
      <p:sp>
        <p:nvSpPr>
          <p:cNvPr id="847" name=""/>
          <p:cNvSpPr/>
          <p:nvPr/>
        </p:nvSpPr>
        <p:spPr>
          <a:xfrm rot="0" flipH="0" flipV="0">
            <a:off x="3810000" y="2809875"/>
            <a:ext cx="1485900" cy="590550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48" name=""/>
          <p:cNvSpPr/>
          <p:nvPr/>
        </p:nvSpPr>
        <p:spPr>
          <a:xfrm rot="0" flipH="0" flipV="0">
            <a:off x="3810000" y="2809875"/>
            <a:ext cx="1485900" cy="590550"/>
          </a:xfrm>
          <a:custGeom>
            <a:pathLst>
              <a:path w="156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3924300" y="2914650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A7CF"/>
                </a:solidFill>
                <a:latin typeface="Menlo"/>
                <a:ea typeface="Menlo"/>
              </a:rPr>
              <a:t>09</a:t>
            </a:r>
            <a:endParaRPr/>
          </a:p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3924300" y="3086100"/>
            <a:ext cx="12573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125" b="1">
                <a:solidFill>
                  <a:srgbClr val="202259"/>
                </a:solidFill>
                <a:latin typeface="Inter"/>
                <a:ea typeface="Inter"/>
              </a:rPr>
              <a:t>Builder Bonus</a:t>
            </a:r>
            <a:endParaRPr/>
          </a:p>
        </p:txBody>
      </p:sp>
      <p:sp>
        <p:nvSpPr>
          <p:cNvPr id="851" name=""/>
          <p:cNvSpPr/>
          <p:nvPr/>
        </p:nvSpPr>
        <p:spPr>
          <a:xfrm rot="0" flipH="0" flipV="0">
            <a:off x="609600" y="3514725"/>
            <a:ext cx="4953000" cy="2771775"/>
          </a:xfrm>
          <a:prstGeom prst="roundRect">
            <a:avLst>
              <a:gd name="adj" fmla="val 2749"/>
            </a:avLst>
          </a:prstGeom>
          <a:solidFill>
            <a:srgbClr val="F287B7">
              <a:alpha val="14000"/>
            </a:srgbClr>
          </a:solidFill>
          <a:ln/>
        </p:spPr>
        <p:txBody>
          <a:bodyPr/>
          <a:p/>
        </p:txBody>
      </p:sp>
      <p:sp>
        <p:nvSpPr>
          <p:cNvPr id="852" name=""/>
          <p:cNvSpPr/>
          <p:nvPr/>
        </p:nvSpPr>
        <p:spPr>
          <a:xfrm rot="0" flipH="0" flipV="0">
            <a:off x="609600" y="3514725"/>
            <a:ext cx="4953000" cy="2771775"/>
          </a:xfrm>
          <a:custGeom>
            <a:pathLst>
              <a:path w="520" h="29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287"/>
                </a:lnTo>
                <a:cubicBezTo>
                  <a:pt x="4" y="289"/>
                  <a:pt x="5" y="291"/>
                  <a:pt x="7" y="291"/>
                </a:cubicBezTo>
                <a:cubicBezTo>
                  <a:pt x="3" y="291"/>
                  <a:pt x="0" y="287"/>
                  <a:pt x="0" y="28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762000" y="3648075"/>
            <a:ext cx="4610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7A2F5C"/>
                </a:solidFill>
                <a:latin typeface="Inter"/>
                <a:ea typeface="Inter"/>
              </a:rPr>
              <a:t>必须说清的一句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762000" y="3924300"/>
            <a:ext cx="46101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这九类名称目前是展示型字段。页面上没有任何佣金比例、没有计算公式、也没有晋升条件。周期表里的数字全部来自演示数据，不是真实业务结果。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762000" y="4857750"/>
            <a:ext cx="4610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3040"/>
                </a:solidFill>
                <a:latin typeface="Inter"/>
                <a:ea typeface="Inter"/>
              </a:rPr>
              <a:t>对外统一口径建议：奖金规则由注册你的经销商线下完整说明，我们不在页面上公布任何数字承诺。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5753100" y="1143000"/>
            <a:ext cx="5867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259"/>
                </a:solidFill>
                <a:latin typeface="Inter"/>
                <a:ea typeface="Inter"/>
              </a:rPr>
              <a:t>资金闭环的四条路径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5800725" y="1457325"/>
            <a:ext cx="5867400" cy="1104900"/>
          </a:xfrm>
          <a:prstGeom prst="roundRect">
            <a:avLst>
              <a:gd name="adj" fmla="val 6897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58" name=""/>
          <p:cNvSpPr/>
          <p:nvPr/>
        </p:nvSpPr>
        <p:spPr>
          <a:xfrm rot="0" flipH="0" flipV="0">
            <a:off x="5800725" y="1457325"/>
            <a:ext cx="5867400" cy="1104900"/>
          </a:xfrm>
          <a:custGeom>
            <a:pathLst>
              <a:path w="616" h="116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13"/>
                </a:lnTo>
                <a:cubicBezTo>
                  <a:pt x="5" y="115"/>
                  <a:pt x="6" y="116"/>
                  <a:pt x="8" y="116"/>
                </a:cubicBezTo>
                <a:cubicBezTo>
                  <a:pt x="3" y="116"/>
                  <a:pt x="0" y="112"/>
                  <a:pt x="0" y="10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859" name=""/>
          <p:cNvSpPr/>
          <p:nvPr/>
        </p:nvSpPr>
        <p:spPr>
          <a:xfrm rot="0" flipH="0" flipV="0">
            <a:off x="5972175" y="18478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6105525" y="1914525"/>
            <a:ext cx="66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6448425" y="1885950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充值进</a:t>
            </a: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 Bonus</a:t>
            </a:r>
            <a:endParaRPr/>
          </a:p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8201025" y="1638300"/>
            <a:ext cx="3248025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表单四项：金额（步进器，最小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1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）、类型（目前只有现金）、支付日期、备注。提交后金额同时写进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流水。</a:t>
            </a:r>
            <a:endParaRPr/>
          </a:p>
        </p:txBody>
      </p:sp>
      <p:sp>
        <p:nvSpPr>
          <p:cNvPr id="863" name=""/>
          <p:cNvSpPr/>
          <p:nvPr/>
        </p:nvSpPr>
        <p:spPr>
          <a:xfrm rot="0" flipH="0" flipV="0">
            <a:off x="5800725" y="2657475"/>
            <a:ext cx="5867400" cy="866775"/>
          </a:xfrm>
          <a:prstGeom prst="roundRect">
            <a:avLst>
              <a:gd name="adj" fmla="val 879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64" name=""/>
          <p:cNvSpPr/>
          <p:nvPr/>
        </p:nvSpPr>
        <p:spPr>
          <a:xfrm rot="0" flipH="0" flipV="0">
            <a:off x="5800725" y="2657475"/>
            <a:ext cx="5867400" cy="866775"/>
          </a:xfrm>
          <a:custGeom>
            <a:pathLst>
              <a:path w="616" h="91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88"/>
                </a:lnTo>
                <a:cubicBezTo>
                  <a:pt x="5" y="90"/>
                  <a:pt x="6" y="91"/>
                  <a:pt x="8" y="91"/>
                </a:cubicBezTo>
                <a:cubicBezTo>
                  <a:pt x="3" y="91"/>
                  <a:pt x="0" y="87"/>
                  <a:pt x="0" y="8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865" name=""/>
          <p:cNvSpPr/>
          <p:nvPr/>
        </p:nvSpPr>
        <p:spPr>
          <a:xfrm rot="0" flipH="0" flipV="0">
            <a:off x="5972175" y="29337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6086475" y="30003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6448425" y="2971800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Bonus </a:t>
            </a: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转</a:t>
            </a: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 Ecoin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8201025" y="2838450"/>
            <a:ext cx="32480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转账类型之一。可用余额取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台账最后一条记录的期末余额，不足会被拦住。</a:t>
            </a:r>
            <a:endParaRPr/>
          </a:p>
        </p:txBody>
      </p:sp>
      <p:sp>
        <p:nvSpPr>
          <p:cNvPr id="869" name=""/>
          <p:cNvSpPr/>
          <p:nvPr/>
        </p:nvSpPr>
        <p:spPr>
          <a:xfrm rot="0" flipH="0" flipV="0">
            <a:off x="5800725" y="3619500"/>
            <a:ext cx="5867400" cy="85725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70" name=""/>
          <p:cNvSpPr/>
          <p:nvPr/>
        </p:nvSpPr>
        <p:spPr>
          <a:xfrm rot="0" flipH="0" flipV="0">
            <a:off x="5800725" y="3619500"/>
            <a:ext cx="5867400" cy="857250"/>
          </a:xfrm>
          <a:custGeom>
            <a:pathLst>
              <a:path w="616" h="90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87"/>
                </a:lnTo>
                <a:cubicBezTo>
                  <a:pt x="5" y="89"/>
                  <a:pt x="6" y="90"/>
                  <a:pt x="8" y="90"/>
                </a:cubicBezTo>
                <a:cubicBezTo>
                  <a:pt x="3" y="90"/>
                  <a:pt x="0" y="86"/>
                  <a:pt x="0" y="8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871" name=""/>
          <p:cNvSpPr/>
          <p:nvPr/>
        </p:nvSpPr>
        <p:spPr>
          <a:xfrm rot="0" flipH="0" flipV="0">
            <a:off x="5972175" y="3886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6086475" y="39528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6448425" y="3924300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Ecoin </a:t>
            </a: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转给其他会员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8201025" y="3800475"/>
            <a:ext cx="32480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另一种转账类型。按会员编码定向转出，编码必须符合会员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ID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格式，提交后两边台账各写一条流水。</a:t>
            </a:r>
            <a:endParaRPr/>
          </a:p>
        </p:txBody>
      </p:sp>
      <p:sp>
        <p:nvSpPr>
          <p:cNvPr id="875" name=""/>
          <p:cNvSpPr/>
          <p:nvPr/>
        </p:nvSpPr>
        <p:spPr>
          <a:xfrm rot="0" flipH="0" flipV="0">
            <a:off x="5800725" y="4572000"/>
            <a:ext cx="5867400" cy="85725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76" name=""/>
          <p:cNvSpPr/>
          <p:nvPr/>
        </p:nvSpPr>
        <p:spPr>
          <a:xfrm rot="0" flipH="0" flipV="0">
            <a:off x="5800725" y="4572000"/>
            <a:ext cx="5867400" cy="857250"/>
          </a:xfrm>
          <a:custGeom>
            <a:pathLst>
              <a:path w="616" h="90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87"/>
                </a:lnTo>
                <a:cubicBezTo>
                  <a:pt x="5" y="89"/>
                  <a:pt x="6" y="90"/>
                  <a:pt x="8" y="90"/>
                </a:cubicBezTo>
                <a:cubicBezTo>
                  <a:pt x="3" y="90"/>
                  <a:pt x="0" y="86"/>
                  <a:pt x="0" y="8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877" name=""/>
          <p:cNvSpPr/>
          <p:nvPr/>
        </p:nvSpPr>
        <p:spPr>
          <a:xfrm rot="0" flipH="0" flipV="0">
            <a:off x="5972175" y="48387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6086475" y="49053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Inter"/>
                <a:ea typeface="Inter"/>
              </a:rPr>
              <a:t>4</a:t>
            </a:r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6448425" y="4876800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Ecoin </a:t>
            </a: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抵扣订单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8201025" y="4752975"/>
            <a:ext cx="32480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就是结算页的余额支付</a:t>
            </a:r>
            <a:r>
              <a:rPr lang="en-US" sz="1125">
                <a:solidFill>
                  <a:srgbClr val="3F4A55"/>
                </a:solidFill>
                <a:latin typeface="Inter"/>
                <a:ea typeface="Inter"/>
              </a:rPr>
              <a:t> —— </a:t>
            </a:r>
            <a:r>
              <a:rPr lang="zh-CN" sz="1125">
                <a:solidFill>
                  <a:srgbClr val="3F4A55"/>
                </a:solidFill>
                <a:latin typeface="Inter"/>
                <a:ea typeface="Inter"/>
              </a:rPr>
              <a:t>三条路径里唯一被登录态卡住的支付方式，下单当场扣减并置为已支付。</a:t>
            </a:r>
            <a:endParaRPr/>
          </a:p>
        </p:txBody>
      </p:sp>
      <p:sp>
        <p:nvSpPr>
          <p:cNvPr id="881" name=""/>
          <p:cNvSpPr/>
          <p:nvPr/>
        </p:nvSpPr>
        <p:spPr>
          <a:xfrm rot="0" flipH="0" flipV="0">
            <a:off x="5753100" y="5524500"/>
            <a:ext cx="5867400" cy="762000"/>
          </a:xfrm>
          <a:prstGeom prst="roundRect">
            <a:avLst>
              <a:gd name="adj" fmla="val 1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5905500" y="5648325"/>
            <a:ext cx="5562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D6E2F5"/>
                </a:solidFill>
                <a:latin typeface="Inter"/>
                <a:ea typeface="Inter"/>
              </a:rPr>
              <a:t>每一次充值、转账都会在两本台账各自留下带时间、金额与备注的流水</a:t>
            </a:r>
            <a:r>
              <a:rPr lang="en-US" sz="1125">
                <a:solidFill>
                  <a:srgbClr val="D6E2F5"/>
                </a:solidFill>
                <a:latin typeface="Inter"/>
                <a:ea typeface="Inter"/>
              </a:rPr>
              <a:t> —— </a:t>
            </a:r>
            <a:r>
              <a:rPr lang="zh-CN" sz="1125">
                <a:solidFill>
                  <a:srgbClr val="D6E2F5"/>
                </a:solidFill>
                <a:latin typeface="Inter"/>
                <a:ea typeface="Inter"/>
              </a:rPr>
              <a:t>账户页的</a:t>
            </a:r>
            <a:r>
              <a:rPr lang="en-US" sz="1125">
                <a:solidFill>
                  <a:srgbClr val="D6E2F5"/>
                </a:solidFill>
                <a:latin typeface="Inter"/>
                <a:ea typeface="Inter"/>
              </a:rPr>
              <a:t> View History </a:t>
            </a:r>
            <a:r>
              <a:rPr lang="zh-CN" sz="1125">
                <a:solidFill>
                  <a:srgbClr val="D6E2F5"/>
                </a:solidFill>
                <a:latin typeface="Inter"/>
                <a:ea typeface="Inter"/>
              </a:rPr>
              <a:t>就是把它们渲染成表格。</a:t>
            </a:r>
            <a:endParaRPr/>
          </a:p>
        </p:txBody>
      </p:sp>
      <p:sp>
        <p:nvSpPr>
          <p:cNvPr id="883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28 / 31</a:t>
            </a:r>
            <a:endParaRPr/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886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演示动线：三条路径各走一遍&lt;/Text&gt;&#10;        &lt;Text style={{ fontSize: 16, color: '#5C646A', lineHeight: 1.4, marginTop: 6 }}&gt;&#10;            建议按&quot;访客 → 注册 → 已有账户&quot;的顺序演示，差异对比最明显&#10;        &lt;/Text&gt;&#10;    &lt;/Box&gt;&#10;&#10;    {/* ===== B 区（左标题 + 右内容） ===== */}&#10;    &lt;Box style={{ height: 540, flexDirection: 'row', gap: 24 }}&gt;&#10;        {/* 左栏：演示前准备 */}&#10;        &lt;Box style={{ width: 380, background: '#202259', borderRadius: 10, padding: '24px 22px', flexDirection: 'column' }}&gt;&#10;            &lt;Text style={{ fontSize: 15, color: '#7FD3EC', letterSpacing: 2, fontWeight: 'bold' }}&gt;BEFORE YOU START&lt;/Text&gt;&#10;            &lt;Text style={{ fontSize: 28, fontWeight: 'bold', color: '#FFFFFF', lineHeight: 1.25, marginTop: 12 }}&gt;&#10;                演示前&#10;                &lt;br /&gt;&#10;                必做两步&#10;            &lt;/Text&gt;&#10;&#10;            &lt;Box style={{ flexDirection: 'column', gap: 14, marginTop: 20 }}&gt;&#10;                {[&#10;                    { n: '1', t: '先清一次浏览器数据', d: '演示账号与示例订单只在本地数据为空时自动注入。不清就直接打开，看到的可能是上一轮留下的数据。' },&#10;                    { n: '2', t: '要演示访客，先点退出登录', d: '全新浏览器默认就是登录态。注意：退出只清登录态，个人资料和地址仍残留，下单表单会被预填。' },&#10;                ].map(function (it, i) {&#10;                    return (&#10;                        &lt;Box key={i} style={{ flexDirection: 'row', gap: 12, alignItems: 'flex-start' }}&gt;&#10;                            &lt;Box style={{ width: 26, height: 26, borderRadius: 13, background: '#F287B7', justifyContent: 'center', alignItems: 'center' }}&gt;&#10;                                &lt;Text style={{ fontSize: 15, fontWeight: 'bold', color: '#FFFFFF' }}&gt;{it.n}&lt;/Text&gt;&#10;                            &lt;/Box&gt;&#10;                            &lt;Box style={{ flex: 1, flexDirection: 'column' }}&gt;&#10;                                &lt;Text style={{ fontSize: 17, fontWeight: 'bold', color: '#FFFFFF' }}&gt;{it.t}&lt;/Text&gt;&#10;                                &lt;Text style={{ fontSize: 15, color: '#B9C6E4', lineHeight: 1.5, marginTop: 4 }}&gt;{it.d}&lt;/Text&gt;&#10;                            &lt;/Box&gt;&#10;                        &lt;/Box&gt;&#10;                    );&#10;                })}&#10;            &lt;/Box&gt;&#10;&#10;            &lt;Box style={{ marginTop: 'auto', paddingTop: 16, borderTop: '1px solid rgba(127,211,236,0.3)' }}&gt;&#10;                &lt;Text style={{ fontSize: 15, color: '#CFE9F4', lineHeight: 1.5 }}&gt;&#10;                    两个现场提醒：USSD 固定码直接照读；点 Place order 之前记得先把两项同意勾上。&#10;                &lt;/Text&gt;&#10;            &lt;/Box&gt;&#10;        &lt;/Box&gt;&#10;&#10;        {/* 右栏：三段动线 */}&#10;        &lt;Box style={{ flex: 1, flexDirection: 'column', gap: 10 }}&gt;&#10;            {[&#10;                {&#10;                    c: '#202259',&#10;                    t: 'A · 路径一：访客下单',&#10;                    steps: [&#10;                        '登出，确认顶栏从会员头像变回一个登录图标',&#10;                        '商品页加购 → 购物车 → 结算页。重点看三处：摘要没有 BV 行、地址选择器整块消失、余额支付置灰',&#10;                        'Place order → 落地页展示订单号',&#10;                        '说明：这笔单在账户里看不到，而且会被清理',&#10;                    ],&#10;                },&#10;                {&#10;                    c: '#2AA7CF',&#10;                    t: 'B · 路径二：注册后购买',&#10;                    steps: [&#10;                        '打开注册页，亮出 Member ID 是自动生成且不可修改的',&#10;                        '勾商品、填必填项，点 Save → 观察自动登录与三秒倒计时',&#10;                        '账户页订单列表里出现这笔单，标签为 My order',&#10;                        '点开看地址列与付款状态的显示差异',&#10;                    ],&#10;                },&#10;                {&#10;                    c: '#F287B7',&#10;                    t: 'C · 路径三：已有账户购买',&#10;                    steps: [&#10;                        '登录（演示账号已预填在登录页）',&#10;                        '商品页出现 BV 标识 → 结算页出现 BV rewards 行',&#10;                        '任选一种支付方式下单 → 账户页看订单落进 My orders',&#10;                        '打开奖金卡片的 View History，看逐条流水',&#10;                    ],&#10;                },&#10;            ].map(function (blk, i) {&#10;                return (&#10;                    &lt;Box key={i} style={{ flex: 1, background: '#F4F6F8', borderRadius: 10, padding: '11px 16px', flexDirection: 'column', borderLeft: '5px solid ' + blk.c }}&gt;&#10;                        &lt;Box style={{ flexDirection: 'row', alignItems: 'center', gap: 8, marginBottom: 6 }}&gt;&#10;                            &lt;Text style={{ fontSize: 17, fontWeight: 'bold', color: blk.c }}&gt;{blk.t}&lt;/Text&gt;&#10;                        &lt;/Box&gt;&#10;                        &lt;Box style={{ flex: 1, flexDirection: 'column', gap: 3 }}&gt;&#10;                            {blk.steps.map(function (s, j) {&#10;                                return (&#10;                                    &lt;Box key={j} style={{ flexDirection: 'row', gap: 9, alignItems: 'flex-start' }}&gt;&#10;                                        &lt;Text style={{ fontSize: 13, color: '#859EB3', fontFamily: 'Menlo, ui-monospace, monospace', marginTop: 1 }}&gt;{j + 1}&lt;/Text&gt;&#10;                                        &lt;Text style={{ fontSize: 14, color: '#3F4A55', lineHeight: 1.35, flex: 1 }}&gt;{s}&lt;/Text&gt;&#10;                                    &lt;/Box&gt;&#10;                                );&#10;                            })}&#10;                        &lt;/Box&gt;&#10;                    &lt;/Box&gt;&#10;                );&#10;            })}&#10;&#10;            &lt;Box style={{ background: '#202259', borderRadius: 8, padding: '11px 16px' }}&gt;&#10;                &lt;Text style={{ fontSize: 14, color: '#CFE9F4', lineHeight: 1.4 }}&gt;&#10;                    收尾可选：打开往期奖金与历史累计两个弹窗，说明九类奖金是展示字段。&#10;                &lt;/Text&gt;&#10;            &lt;/Box&gt;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29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演示动线：三条路径各走一遍</a:t>
            </a:r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建议按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访客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→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注册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→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已有账户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"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的顺序演示，差异对比最明显</a:t>
            </a:r>
            <a:endParaRPr/>
          </a:p>
        </p:txBody>
      </p:sp>
      <p:sp>
        <p:nvSpPr>
          <p:cNvPr id="890" name=""/>
          <p:cNvSpPr/>
          <p:nvPr/>
        </p:nvSpPr>
        <p:spPr>
          <a:xfrm rot="0" flipH="0" flipV="0">
            <a:off x="571500" y="1143000"/>
            <a:ext cx="3619500" cy="5143500"/>
          </a:xfrm>
          <a:prstGeom prst="roundRect">
            <a:avLst>
              <a:gd name="adj" fmla="val 2632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781050" y="1371600"/>
            <a:ext cx="320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BEFORE YOU START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781050" y="1657350"/>
            <a:ext cx="32004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100" b="1">
                <a:solidFill>
                  <a:srgbClr val="FFFFFF"/>
                </a:solidFill>
                <a:latin typeface="Inter"/>
                <a:ea typeface="Inter"/>
              </a:rPr>
              <a:t>演示前</a:t>
            </a:r>
            <a:endParaRPr/>
          </a:p>
          <a:p>
            <a:pPr>
              <a:lnSpc>
                <a:spcPct val="125000"/>
              </a:lnSpc>
            </a:pPr>
            <a:r>
              <a:rPr lang="zh-CN" sz="2100" b="1">
                <a:solidFill>
                  <a:srgbClr val="FFFFFF"/>
                </a:solidFill>
                <a:latin typeface="Inter"/>
                <a:ea typeface="Inter"/>
              </a:rPr>
              <a:t>必做两步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781050" y="2647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876300" y="2686050"/>
            <a:ext cx="66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1143000" y="2647950"/>
            <a:ext cx="283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先清一次浏览器数据</a:t>
            </a:r>
            <a:endParaRPr/>
          </a:p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1143000" y="2886075"/>
            <a:ext cx="2838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B9C6E4"/>
                </a:solidFill>
                <a:latin typeface="Inter"/>
                <a:ea typeface="Inter"/>
              </a:rPr>
              <a:t>演示账号与示例订单只在本地数据为空时自动注入。不清就直接打开，看到的可能是上一轮留下的数据。</a:t>
            </a:r>
            <a:endParaRPr/>
          </a:p>
        </p:txBody>
      </p:sp>
      <p:sp>
        <p:nvSpPr>
          <p:cNvPr id="897" name=""/>
          <p:cNvSpPr/>
          <p:nvPr/>
        </p:nvSpPr>
        <p:spPr>
          <a:xfrm rot="0" flipH="0" flipV="0">
            <a:off x="781050" y="37909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866775" y="382905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1143000" y="3790950"/>
            <a:ext cx="2838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Inter"/>
                <a:ea typeface="Inter"/>
              </a:rPr>
              <a:t>要演示访客，先点退出登录</a:t>
            </a:r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1143000" y="4029075"/>
            <a:ext cx="2838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B9C6E4"/>
                </a:solidFill>
                <a:latin typeface="Inter"/>
                <a:ea typeface="Inter"/>
              </a:rPr>
              <a:t>全新浏览器默认就是登录态。注意：退出只清登录态，个人资料和地址仍残留，下单表单会被预填。</a:t>
            </a:r>
            <a:endParaRPr/>
          </a:p>
        </p:txBody>
      </p:sp>
      <p:sp>
        <p:nvSpPr>
          <p:cNvPr id="901" name=""/>
          <p:cNvSpPr/>
          <p:nvPr/>
        </p:nvSpPr>
        <p:spPr>
          <a:xfrm rot="0" flipH="0" flipV="0">
            <a:off x="781050" y="5381625"/>
            <a:ext cx="3200400" cy="685800"/>
          </a:xfrm>
          <a:custGeom>
            <a:pathLst>
              <a:path w="336" h="72">
                <a:moveTo>
                  <a:pt x="0" y="0"/>
                </a:moveTo>
                <a:lnTo>
                  <a:pt x="336" y="0"/>
                </a:lnTo>
                <a:lnTo>
                  <a:pt x="336" y="1"/>
                </a:lnTo>
                <a:lnTo>
                  <a:pt x="0" y="1"/>
                </a:lnTo>
                <a:close/>
              </a:path>
            </a:pathLst>
          </a:custGeom>
          <a:solidFill>
            <a:srgbClr val="7FD3EC">
              <a:alpha val="30000"/>
            </a:srgbClr>
          </a:solidFill>
          <a:ln/>
        </p:spPr>
        <p:txBody>
          <a:bodyPr/>
          <a:p/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781050" y="5543550"/>
            <a:ext cx="3200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CFE9F4"/>
                </a:solidFill>
                <a:latin typeface="Inter"/>
                <a:ea typeface="Inter"/>
              </a:rPr>
              <a:t>两个现场提醒：</a:t>
            </a:r>
            <a:r>
              <a:rPr lang="en-US" sz="1125">
                <a:solidFill>
                  <a:srgbClr val="CFE9F4"/>
                </a:solidFill>
                <a:latin typeface="Inter"/>
                <a:ea typeface="Inter"/>
              </a:rPr>
              <a:t>USSD </a:t>
            </a:r>
            <a:r>
              <a:rPr lang="zh-CN" sz="1125">
                <a:solidFill>
                  <a:srgbClr val="CFE9F4"/>
                </a:solidFill>
                <a:latin typeface="Inter"/>
                <a:ea typeface="Inter"/>
              </a:rPr>
              <a:t>固定码直接照读；点</a:t>
            </a:r>
            <a:r>
              <a:rPr lang="en-US" sz="1125">
                <a:solidFill>
                  <a:srgbClr val="CFE9F4"/>
                </a:solidFill>
                <a:latin typeface="Inter"/>
                <a:ea typeface="Inter"/>
              </a:rPr>
              <a:t> Place order </a:t>
            </a:r>
            <a:r>
              <a:rPr lang="zh-CN" sz="1125">
                <a:solidFill>
                  <a:srgbClr val="CFE9F4"/>
                </a:solidFill>
                <a:latin typeface="Inter"/>
                <a:ea typeface="Inter"/>
              </a:rPr>
              <a:t>之前记得先把两项同意勾上。</a:t>
            </a:r>
            <a:endParaRPr/>
          </a:p>
        </p:txBody>
      </p:sp>
      <p:sp>
        <p:nvSpPr>
          <p:cNvPr id="903" name=""/>
          <p:cNvSpPr/>
          <p:nvPr/>
        </p:nvSpPr>
        <p:spPr>
          <a:xfrm rot="0" flipH="0" flipV="0">
            <a:off x="4467225" y="1143000"/>
            <a:ext cx="7200900" cy="1476375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904" name=""/>
          <p:cNvSpPr/>
          <p:nvPr/>
        </p:nvSpPr>
        <p:spPr>
          <a:xfrm rot="0" flipH="0" flipV="0">
            <a:off x="4467225" y="1143000"/>
            <a:ext cx="7200900" cy="1476375"/>
          </a:xfrm>
          <a:custGeom>
            <a:pathLst>
              <a:path w="756" h="155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50"/>
                </a:lnTo>
                <a:cubicBezTo>
                  <a:pt x="5" y="152"/>
                  <a:pt x="7" y="154"/>
                  <a:pt x="9" y="155"/>
                </a:cubicBezTo>
                <a:cubicBezTo>
                  <a:pt x="4" y="154"/>
                  <a:pt x="0" y="150"/>
                  <a:pt x="0" y="1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4619625" y="124777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2259"/>
                </a:solidFill>
                <a:latin typeface="Inter"/>
                <a:ea typeface="Inter"/>
              </a:rPr>
              <a:t>A · </a:t>
            </a:r>
            <a:r>
              <a:rPr lang="zh-CN" sz="1275" b="1">
                <a:solidFill>
                  <a:srgbClr val="202259"/>
                </a:solidFill>
                <a:latin typeface="Inter"/>
                <a:ea typeface="Inter"/>
              </a:rPr>
              <a:t>路径一：访客下单</a:t>
            </a:r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4619625" y="15144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1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4781550" y="1504950"/>
            <a:ext cx="66865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登出，确认顶栏从会员头像变回一个登录图标</a:t>
            </a:r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4619625" y="17621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2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4781550" y="1752600"/>
            <a:ext cx="66865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商品页加购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→ 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购物车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→ 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结算页。重点看三处：摘要没有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行、地址选择器整块消失、余额支付置灰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4619625" y="20097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3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4781550" y="2000250"/>
            <a:ext cx="66865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Place order → 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落地页展示订单号</a:t>
            </a:r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4619625" y="22574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4</a:t>
            </a:r>
            <a:endParaRPr/>
          </a:p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4781550" y="2247900"/>
            <a:ext cx="66865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说明：这笔单在账户里看不到，而且会被清理</a:t>
            </a:r>
            <a:endParaRPr/>
          </a:p>
        </p:txBody>
      </p:sp>
      <p:sp>
        <p:nvSpPr>
          <p:cNvPr id="914" name=""/>
          <p:cNvSpPr/>
          <p:nvPr/>
        </p:nvSpPr>
        <p:spPr>
          <a:xfrm rot="0" flipH="0" flipV="0">
            <a:off x="4467225" y="2714625"/>
            <a:ext cx="7200900" cy="1466850"/>
          </a:xfrm>
          <a:prstGeom prst="roundRect">
            <a:avLst>
              <a:gd name="adj" fmla="val 6494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915" name=""/>
          <p:cNvSpPr/>
          <p:nvPr/>
        </p:nvSpPr>
        <p:spPr>
          <a:xfrm rot="0" flipH="0" flipV="0">
            <a:off x="4467225" y="2714625"/>
            <a:ext cx="7200900" cy="1466850"/>
          </a:xfrm>
          <a:custGeom>
            <a:pathLst>
              <a:path w="756" h="15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49"/>
                </a:lnTo>
                <a:cubicBezTo>
                  <a:pt x="5" y="151"/>
                  <a:pt x="7" y="153"/>
                  <a:pt x="9" y="154"/>
                </a:cubicBezTo>
                <a:cubicBezTo>
                  <a:pt x="4" y="153"/>
                  <a:pt x="0" y="149"/>
                  <a:pt x="0" y="14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AA7CF"/>
          </a:solidFill>
          <a:ln/>
        </p:spPr>
        <p:txBody>
          <a:bodyPr/>
          <a:p/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4619625" y="2819400"/>
            <a:ext cx="1762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A7CF"/>
                </a:solidFill>
                <a:latin typeface="Inter"/>
                <a:ea typeface="Inter"/>
              </a:rPr>
              <a:t>B · </a:t>
            </a:r>
            <a:r>
              <a:rPr lang="zh-CN" sz="1275" b="1">
                <a:solidFill>
                  <a:srgbClr val="2AA7CF"/>
                </a:solidFill>
                <a:latin typeface="Inter"/>
                <a:ea typeface="Inter"/>
              </a:rPr>
              <a:t>路径二：注册后购买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4619625" y="30861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1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4781550" y="3076575"/>
            <a:ext cx="66865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打开注册页，亮出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Member ID 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是自动生成且不可修改的</a:t>
            </a:r>
            <a:endParaRPr/>
          </a:p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4619625" y="33337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2</a:t>
            </a:r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4781550" y="3324225"/>
            <a:ext cx="66865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勾商品、填必填项，点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Save → 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观察自动登录与三秒倒计时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4619625" y="35814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3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4781550" y="3571875"/>
            <a:ext cx="66865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账户页订单列表里出现这笔单，标签为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My order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4619625" y="38290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4</a:t>
            </a:r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4781550" y="3819525"/>
            <a:ext cx="66865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点开看地址列与付款状态的显示差异</a:t>
            </a:r>
            <a:endParaRPr/>
          </a:p>
        </p:txBody>
      </p:sp>
      <p:sp>
        <p:nvSpPr>
          <p:cNvPr id="925" name=""/>
          <p:cNvSpPr/>
          <p:nvPr/>
        </p:nvSpPr>
        <p:spPr>
          <a:xfrm rot="0" flipH="0" flipV="0">
            <a:off x="4467225" y="4276725"/>
            <a:ext cx="7200900" cy="1476375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926" name=""/>
          <p:cNvSpPr/>
          <p:nvPr/>
        </p:nvSpPr>
        <p:spPr>
          <a:xfrm rot="0" flipH="0" flipV="0">
            <a:off x="4467225" y="4276725"/>
            <a:ext cx="7200900" cy="1476375"/>
          </a:xfrm>
          <a:custGeom>
            <a:pathLst>
              <a:path w="756" h="155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50"/>
                </a:lnTo>
                <a:cubicBezTo>
                  <a:pt x="5" y="152"/>
                  <a:pt x="7" y="154"/>
                  <a:pt x="9" y="155"/>
                </a:cubicBezTo>
                <a:cubicBezTo>
                  <a:pt x="4" y="154"/>
                  <a:pt x="0" y="150"/>
                  <a:pt x="0" y="1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4619625" y="4381500"/>
            <a:ext cx="1933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287B7"/>
                </a:solidFill>
                <a:latin typeface="Inter"/>
                <a:ea typeface="Inter"/>
              </a:rPr>
              <a:t>C · </a:t>
            </a:r>
            <a:r>
              <a:rPr lang="zh-CN" sz="1275" b="1">
                <a:solidFill>
                  <a:srgbClr val="F287B7"/>
                </a:solidFill>
                <a:latin typeface="Inter"/>
                <a:ea typeface="Inter"/>
              </a:rPr>
              <a:t>路径三：已有账户购买</a:t>
            </a:r>
            <a:endParaRPr/>
          </a:p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4619625" y="46482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1</a:t>
            </a:r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4781550" y="4638675"/>
            <a:ext cx="66865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登录（演示账号已预填在登录页）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4619625" y="48958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2</a:t>
            </a:r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4781550" y="4886325"/>
            <a:ext cx="66865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商品页出现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BV 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标识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→ 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结算页出现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BV rewards 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行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4619625" y="51435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3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4781550" y="5133975"/>
            <a:ext cx="66865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任选一种支付方式下单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→ 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账户页看订单落进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My orders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4619625" y="53911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59EB3"/>
                </a:solidFill>
                <a:latin typeface="Menlo"/>
                <a:ea typeface="Menlo"/>
              </a:rPr>
              <a:t>4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4781550" y="5381625"/>
            <a:ext cx="66865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打开奖金卡片的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View History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，看逐条流水</a:t>
            </a:r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4419600" y="5848350"/>
            <a:ext cx="7200900" cy="438150"/>
          </a:xfrm>
          <a:prstGeom prst="roundRect">
            <a:avLst>
              <a:gd name="adj" fmla="val 17391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4572000" y="5953125"/>
            <a:ext cx="68961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CFE9F4"/>
                </a:solidFill>
                <a:latin typeface="Inter"/>
                <a:ea typeface="Inter"/>
              </a:rPr>
              <a:t>收尾可选：打开往期奖金与历史累计两个弹窗，说明九类奖金是展示字段。</a:t>
            </a:r>
            <a:endParaRPr/>
          </a:p>
        </p:txBody>
      </p:sp>
      <p:sp>
        <p:nvSpPr>
          <p:cNvPr id="938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29 / 31</a:t>
            </a:r>
            <a:endParaRPr/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020" name="" descr="&lt;Slide style={{ width: 1280, height: 720, padding: '20px 60px', fontFamily: 'Inter, PingFang SC, Helvetica Neue, sans-serif', background: '#FFFFFF' }}&gt;&#10;    {/* ===== A 区 ===== */}&#10;    &lt;Box style={{ height: 100, flexDirection: 'column', justifyContent: 'flex-start' }}&gt;&#10;        &lt;Text style={{ fontSize: 34, fontWeight: 'bold', color: '#202259', lineHeight: 1.3 }}&gt;讲解注意：需要对齐的十点&lt;/Text&gt;&#10;        &lt;Text style={{ fontSize: 16, color: '#5C646A', lineHeight: 1.4, marginTop: 6 }}&gt;&#10;            这十条不是挑毛病，是提前统一对外口径 —— 建议逐条念一遍&#10;        &lt;/Text&gt;&#10;    &lt;/Box&gt;&#10;&#10;    {/* ===== B 区（非对称双栏） ===== */}&#10;    &lt;Box style={{ height: 540, flexDirection: 'row', gap: 24 }}&gt;&#10;        {/* 左：为什么 */}&#10;        &lt;Box style={{ width: 392, background: '#202259', borderRadius: 10, padding: '24px 22px', flexDirection: 'column' }}&gt;&#10;            &lt;Text style={{ fontSize: 15, color: '#7FD3EC', letterSpacing: 2, fontWeight: 'bold' }}&gt;ALIGN FIRST&lt;/Text&gt;&#10;            &lt;Text style={{ fontSize: 30, fontWeight: 'bold', color: '#FFFFFF', lineHeight: 1.22, marginTop: 12 }}&gt;&#10;                先说边界&#10;                &lt;br /&gt;&#10;                再谈排期&#10;            &lt;/Text&gt;&#10;            &lt;Text style={{ fontSize: 17, color: '#B9C6E4', lineHeight: 1.6, marginTop: 16 }}&gt;&#10;                负责人最容易把界面上的文案当成已实现能力。下面十条要么是&quot;文案有、按钮没接&quot;，要么是两处口径不一致 —— 提前讲，后面就不会有落差。&#10;            &lt;/Text&gt;&#10;&#10;            &lt;Box style={{ background: 'rgba(242,135,183,0.18)', borderRadius: 8, padding: '13px 15px', marginTop: 20 }}&gt;&#10;                &lt;Text style={{ fontSize: 16, color: '#FBE0EE', lineHeight: 1.5 }}&gt;&#10;                    建议统一一句对外说法：当前是演示版本，以下能力待排期。&#10;                &lt;/Text&gt;&#10;            &lt;/Box&gt;&#10;&#10;            &lt;Box style={{ marginTop: 'auto', paddingTop: 16, borderTop: '1px solid rgba(127,211,236,0.3)' }}&gt;&#10;                &lt;Text style={{ fontSize: 15, color: '#859EB3', lineHeight: 1.5 }}&gt;&#10;                    其中第 1、3、6 条最容易被追问，建议优先准备。&#10;                &lt;/Text&gt;&#10;            &lt;/Box&gt;&#10;        &lt;/Box&gt;&#10;&#10;        {/* 右：十条 */}&#10;        &lt;Box style={{ flex: 1, flexDirection: 'column', gap: 5 }}&gt;&#10;            {[&#10;                { t: '访客订单不入账户资产', d: '进账户页时会被剔除删除，且目前没有访客订单认领机制', c: '#F287B7' },&#10;                { t: '访客订单的推荐人字段会丢失', d: '写库发生在赋值之前，落地页那行 BV credited to 不显示', c: '#F287B7' },&#10;                { t: '推荐人默认值写死', d: '没带推荐链接的注册，都会给 NG00000001 记一笔推荐 BV', c: '#F287B7' },&#10;                { t: '注册订单的字段形态不一致', d: '地址列显示未提供地址，付款状态落到未支付标签', c: '#202259' },&#10;                { t: '两条路径的写入位置不同', d: '注册追加到数组末尾，结算插到最前面，列表顺序因此不同', c: '#202259' },&#10;                { t: '结算摘要不含运费与税费', d: '总计等于商品小计；7.5% 税率只在订单展示环节出现', c: '#202259' },&#10;                { t: 'USSD 码写死', d: '固定显示，不随订单金额变化', c: '#202259' },&#10;                { t: '详情页 BV 徽标口径不同', d: '无条件显示，且用价格现算，与列表页读字段的口径不一致', c: '#202259' },&#10;                { t: '若干交互未接逻辑', d: '记住我、忘记密码、落地页的进入我的账户按钮', c: '#859EB3' },&#10;                { t: '三个功能尚未实现', d: '取消订单、物流追踪、催发货；九类奖金无比例无条件', c: '#859EB3' },&#10;            ].map(function (it, i) {&#10;                return (&#10;                    &lt;Box key={i} style={{ flex: 1, flexDirection: 'row', alignItems: 'center', gap: 14, background: '#F4F6F8', borderRadius: 8, padding: '0 16px', borderLeft: '4px solid ' + it.c }}&gt;&#10;                        &lt;Text style={{ fontSize: 15, fontWeight: 'bold', color: '#859EB3', fontFamily: 'Menlo, ui-monospace, monospace', width: 22 }}&gt;{String(i + 1).padStart(2, '0')}&lt;/Text&gt;&#10;                        &lt;Text style={{ fontSize: 16, fontWeight: 'bold', color: '#202259', width: 224, lineHeight: 1.25 }}&gt;{it.t}&lt;/Text&gt;&#10;                        &lt;Text style={{ fontSize: 14, color: '#3F4A55', flex: 1, lineHeight: 1.35 }}&gt;{it.d}&lt;/Text&gt;&#10;                    &lt;/Box&gt;&#10;                );&#10;            })}&#10;        &lt;/Box&gt;&#10;    &lt;/Box&gt;&#10;&#10;    {/* ===== C 区 ===== */}&#10;    &lt;Box style={{ height: 40, flexDirection: 'row', justifyContent: 'space-between', alignItems: 'center' }}&gt;&#10;        &lt;Box style={{ flexDirection: 'row', alignItems: 'center', gap: 8 }}&gt;&#10;            &lt;Box style={{ width: 10, height: 10, background: '#202259', borderRadius: 2 }} /&gt;&#10;            &lt;Text style={{ fontSize: 14, color: '#5C646A', letterSpacing: 0.3 }}&gt;AQUALIFE · 三条下单路径讲解&lt;/Text&gt;&#10;        &lt;/Box&gt;&#10;        &lt;Text style={{ fontSize: 14, color: '#5C646A', letterSpacing: 0.3 }}&gt;30 / 3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202259"/>
                </a:solidFill>
                <a:latin typeface="Inter"/>
                <a:ea typeface="Inter"/>
              </a:rPr>
              <a:t>讲解注意：需要对齐的十点</a:t>
            </a:r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571500" y="762000"/>
            <a:ext cx="11049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这十条不是挑毛病，是提前统一对外口径</a:t>
            </a:r>
            <a:r>
              <a:rPr lang="en-US" sz="1200">
                <a:solidFill>
                  <a:srgbClr val="5C646A"/>
                </a:solidFill>
                <a:latin typeface="Inter"/>
                <a:ea typeface="Inter"/>
              </a:rPr>
              <a:t> —— </a:t>
            </a:r>
            <a:r>
              <a:rPr lang="zh-CN" sz="1200">
                <a:solidFill>
                  <a:srgbClr val="5C646A"/>
                </a:solidFill>
                <a:latin typeface="Inter"/>
                <a:ea typeface="Inter"/>
              </a:rPr>
              <a:t>建议逐条念一遍</a:t>
            </a:r>
            <a:endParaRPr/>
          </a:p>
        </p:txBody>
      </p:sp>
      <p:sp>
        <p:nvSpPr>
          <p:cNvPr id="1024" name=""/>
          <p:cNvSpPr/>
          <p:nvPr/>
        </p:nvSpPr>
        <p:spPr>
          <a:xfrm rot="0" flipH="0" flipV="0">
            <a:off x="571500" y="1143000"/>
            <a:ext cx="3733800" cy="5143500"/>
          </a:xfrm>
          <a:prstGeom prst="roundRect">
            <a:avLst>
              <a:gd name="adj" fmla="val 2551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781050" y="1371600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7FD3EC"/>
                </a:solidFill>
                <a:latin typeface="Inter"/>
                <a:ea typeface="Inter"/>
              </a:rPr>
              <a:t>ALIGN FIRST</a:t>
            </a:r>
            <a:endParaRPr/>
          </a:p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781050" y="1657350"/>
            <a:ext cx="3314700" cy="83820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2250" b="1">
                <a:solidFill>
                  <a:srgbClr val="FFFFFF"/>
                </a:solidFill>
                <a:latin typeface="Inter"/>
                <a:ea typeface="Inter"/>
              </a:rPr>
              <a:t>先说边界</a:t>
            </a:r>
            <a:endParaRPr/>
          </a:p>
          <a:p>
            <a:pPr>
              <a:lnSpc>
                <a:spcPct val="122000"/>
              </a:lnSpc>
            </a:pPr>
            <a:r>
              <a:rPr lang="zh-CN" sz="2250" b="1">
                <a:solidFill>
                  <a:srgbClr val="FFFFFF"/>
                </a:solidFill>
                <a:latin typeface="Inter"/>
                <a:ea typeface="Inter"/>
              </a:rPr>
              <a:t>再谈排期</a:t>
            </a:r>
            <a:endParaRPr/>
          </a:p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781050" y="2647950"/>
            <a:ext cx="33147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负责人最容易把界面上的文案当成已实现能力。下面十条要么是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文案有、按钮没接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"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，要么是两处口径不一致</a:t>
            </a:r>
            <a:r>
              <a:rPr lang="en-US" sz="1275">
                <a:solidFill>
                  <a:srgbClr val="B9C6E4"/>
                </a:solidFill>
                <a:latin typeface="Inter"/>
                <a:ea typeface="Inter"/>
              </a:rPr>
              <a:t> —— </a:t>
            </a:r>
            <a:r>
              <a:rPr lang="zh-CN" sz="1275">
                <a:solidFill>
                  <a:srgbClr val="B9C6E4"/>
                </a:solidFill>
                <a:latin typeface="Inter"/>
                <a:ea typeface="Inter"/>
              </a:rPr>
              <a:t>提前讲，后面就不会有落差。</a:t>
            </a:r>
            <a:endParaRPr/>
          </a:p>
        </p:txBody>
      </p:sp>
      <p:sp>
        <p:nvSpPr>
          <p:cNvPr id="1028" name=""/>
          <p:cNvSpPr/>
          <p:nvPr/>
        </p:nvSpPr>
        <p:spPr>
          <a:xfrm rot="0" flipH="0" flipV="0">
            <a:off x="781050" y="4086225"/>
            <a:ext cx="3314700" cy="800100"/>
          </a:xfrm>
          <a:prstGeom prst="roundRect">
            <a:avLst>
              <a:gd name="adj" fmla="val 9524"/>
            </a:avLst>
          </a:prstGeom>
          <a:solidFill>
            <a:srgbClr val="F287B7">
              <a:alpha val="18000"/>
            </a:srgbClr>
          </a:solidFill>
          <a:ln/>
        </p:spPr>
        <p:txBody>
          <a:bodyPr/>
          <a:p/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923925" y="4210050"/>
            <a:ext cx="3028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BE0EE"/>
                </a:solidFill>
                <a:latin typeface="Inter"/>
                <a:ea typeface="Inter"/>
              </a:rPr>
              <a:t>建议统一一句对外说法：当前是演示版本，以下能力待排期。</a:t>
            </a:r>
            <a:endParaRPr/>
          </a:p>
        </p:txBody>
      </p:sp>
      <p:sp>
        <p:nvSpPr>
          <p:cNvPr id="1030" name=""/>
          <p:cNvSpPr/>
          <p:nvPr/>
        </p:nvSpPr>
        <p:spPr>
          <a:xfrm rot="0" flipH="0" flipV="0">
            <a:off x="781050" y="5638800"/>
            <a:ext cx="3314700" cy="428625"/>
          </a:xfrm>
          <a:custGeom>
            <a:pathLst>
              <a:path w="348" h="45">
                <a:moveTo>
                  <a:pt x="0" y="0"/>
                </a:moveTo>
                <a:lnTo>
                  <a:pt x="348" y="0"/>
                </a:lnTo>
                <a:lnTo>
                  <a:pt x="348" y="1"/>
                </a:lnTo>
                <a:lnTo>
                  <a:pt x="0" y="1"/>
                </a:lnTo>
                <a:close/>
              </a:path>
            </a:pathLst>
          </a:custGeom>
          <a:solidFill>
            <a:srgbClr val="7FD3EC">
              <a:alpha val="30000"/>
            </a:srgbClr>
          </a:solidFill>
          <a:ln/>
        </p:spPr>
        <p:txBody>
          <a:bodyPr/>
          <a:p/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781050" y="5800725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59EB3"/>
                </a:solidFill>
                <a:latin typeface="Inter"/>
                <a:ea typeface="Inter"/>
              </a:rPr>
              <a:t>其中第</a:t>
            </a:r>
            <a:r>
              <a:rPr lang="en-US" sz="1125">
                <a:solidFill>
                  <a:srgbClr val="859EB3"/>
                </a:solidFill>
                <a:latin typeface="Inter"/>
                <a:ea typeface="Inter"/>
              </a:rPr>
              <a:t> 1</a:t>
            </a:r>
            <a:r>
              <a:rPr lang="zh-CN" sz="1125">
                <a:solidFill>
                  <a:srgbClr val="859EB3"/>
                </a:solidFill>
                <a:latin typeface="Inter"/>
                <a:ea typeface="Inter"/>
              </a:rPr>
              <a:t>、</a:t>
            </a:r>
            <a:r>
              <a:rPr lang="en-US" sz="1125">
                <a:solidFill>
                  <a:srgbClr val="859EB3"/>
                </a:solidFill>
                <a:latin typeface="Inter"/>
                <a:ea typeface="Inter"/>
              </a:rPr>
              <a:t>3</a:t>
            </a:r>
            <a:r>
              <a:rPr lang="zh-CN" sz="1125">
                <a:solidFill>
                  <a:srgbClr val="859EB3"/>
                </a:solidFill>
                <a:latin typeface="Inter"/>
                <a:ea typeface="Inter"/>
              </a:rPr>
              <a:t>、</a:t>
            </a:r>
            <a:r>
              <a:rPr lang="en-US" sz="1125">
                <a:solidFill>
                  <a:srgbClr val="859EB3"/>
                </a:solidFill>
                <a:latin typeface="Inter"/>
                <a:ea typeface="Inter"/>
              </a:rPr>
              <a:t>6 </a:t>
            </a:r>
            <a:r>
              <a:rPr lang="zh-CN" sz="1125">
                <a:solidFill>
                  <a:srgbClr val="859EB3"/>
                </a:solidFill>
                <a:latin typeface="Inter"/>
                <a:ea typeface="Inter"/>
              </a:rPr>
              <a:t>条最容易被追问，建议优先准备。</a:t>
            </a:r>
            <a:endParaRPr/>
          </a:p>
        </p:txBody>
      </p:sp>
      <p:sp>
        <p:nvSpPr>
          <p:cNvPr id="1032" name=""/>
          <p:cNvSpPr/>
          <p:nvPr/>
        </p:nvSpPr>
        <p:spPr>
          <a:xfrm rot="0" flipH="0" flipV="0">
            <a:off x="4572000" y="1143000"/>
            <a:ext cx="7086600" cy="47625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33" name=""/>
          <p:cNvSpPr/>
          <p:nvPr/>
        </p:nvSpPr>
        <p:spPr>
          <a:xfrm rot="0" flipH="0" flipV="0">
            <a:off x="4572000" y="1143000"/>
            <a:ext cx="7086600" cy="476250"/>
          </a:xfrm>
          <a:custGeom>
            <a:pathLst>
              <a:path w="744" h="5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6"/>
                </a:lnTo>
                <a:cubicBezTo>
                  <a:pt x="4" y="48"/>
                  <a:pt x="5" y="50"/>
                  <a:pt x="7" y="50"/>
                </a:cubicBezTo>
                <a:cubicBezTo>
                  <a:pt x="3" y="50"/>
                  <a:pt x="0" y="46"/>
                  <a:pt x="0" y="4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4724400" y="1295400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59EB3"/>
                </a:solidFill>
                <a:latin typeface="Menlo"/>
                <a:ea typeface="Menlo"/>
              </a:rPr>
              <a:t>01</a:t>
            </a:r>
            <a:endParaRPr/>
          </a:p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5067300" y="1266825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访客订单不入账户资产</a:t>
            </a:r>
            <a:endParaRPr/>
          </a:p>
        </p:txBody>
      </p:sp>
      <p:sp>
        <p:nvSpPr>
          <p:cNvPr id="1036" name="" descr="{&quot;isTemplate&quot;:true,&quot;type&quot;:&quot;text&quot;}"/>
          <p:cNvSpPr txBox="1"/>
          <p:nvPr/>
        </p:nvSpPr>
        <p:spPr>
          <a:xfrm rot="0" flipH="0" flipV="0">
            <a:off x="7334250" y="1276350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进账户页时会被剔除删除，且目前没有访客订单认领机制</a:t>
            </a:r>
            <a:endParaRPr/>
          </a:p>
        </p:txBody>
      </p:sp>
      <p:sp>
        <p:nvSpPr>
          <p:cNvPr id="1037" name=""/>
          <p:cNvSpPr/>
          <p:nvPr/>
        </p:nvSpPr>
        <p:spPr>
          <a:xfrm rot="0" flipH="0" flipV="0">
            <a:off x="4572000" y="1666875"/>
            <a:ext cx="7086600" cy="466725"/>
          </a:xfrm>
          <a:prstGeom prst="roundRect">
            <a:avLst>
              <a:gd name="adj" fmla="val 16327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38" name=""/>
          <p:cNvSpPr/>
          <p:nvPr/>
        </p:nvSpPr>
        <p:spPr>
          <a:xfrm rot="0" flipH="0" flipV="0">
            <a:off x="4572000" y="1666875"/>
            <a:ext cx="7086600" cy="466725"/>
          </a:xfrm>
          <a:custGeom>
            <a:pathLst>
              <a:path w="744" h="4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5"/>
                </a:lnTo>
                <a:cubicBezTo>
                  <a:pt x="4" y="47"/>
                  <a:pt x="5" y="49"/>
                  <a:pt x="7" y="49"/>
                </a:cubicBezTo>
                <a:cubicBezTo>
                  <a:pt x="3" y="49"/>
                  <a:pt x="0" y="45"/>
                  <a:pt x="0" y="4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1039" name="" descr="{&quot;isTemplate&quot;:true,&quot;type&quot;:&quot;text&quot;}"/>
          <p:cNvSpPr txBox="1"/>
          <p:nvPr/>
        </p:nvSpPr>
        <p:spPr>
          <a:xfrm rot="0" flipH="0" flipV="0">
            <a:off x="4724400" y="181927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59EB3"/>
                </a:solidFill>
                <a:latin typeface="Menlo"/>
                <a:ea typeface="Menlo"/>
              </a:rPr>
              <a:t>02</a:t>
            </a:r>
            <a:endParaRPr/>
          </a:p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5067300" y="1790700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访客订单的推荐人字段会丢失</a:t>
            </a:r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7334250" y="1790700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写库发生在赋值之前，落地页那行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BV credited to 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不显示</a:t>
            </a:r>
            <a:endParaRPr/>
          </a:p>
        </p:txBody>
      </p:sp>
      <p:sp>
        <p:nvSpPr>
          <p:cNvPr id="1042" name=""/>
          <p:cNvSpPr/>
          <p:nvPr/>
        </p:nvSpPr>
        <p:spPr>
          <a:xfrm rot="0" flipH="0" flipV="0">
            <a:off x="4572000" y="2181225"/>
            <a:ext cx="7086600" cy="47625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43" name=""/>
          <p:cNvSpPr/>
          <p:nvPr/>
        </p:nvSpPr>
        <p:spPr>
          <a:xfrm rot="0" flipH="0" flipV="0">
            <a:off x="4572000" y="2181225"/>
            <a:ext cx="7086600" cy="476250"/>
          </a:xfrm>
          <a:custGeom>
            <a:pathLst>
              <a:path w="744" h="5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6"/>
                </a:lnTo>
                <a:cubicBezTo>
                  <a:pt x="4" y="48"/>
                  <a:pt x="5" y="50"/>
                  <a:pt x="7" y="50"/>
                </a:cubicBezTo>
                <a:cubicBezTo>
                  <a:pt x="3" y="50"/>
                  <a:pt x="0" y="46"/>
                  <a:pt x="0" y="4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87B7"/>
          </a:solidFill>
          <a:ln/>
        </p:spPr>
        <p:txBody>
          <a:bodyPr/>
          <a:p/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4724400" y="233362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59EB3"/>
                </a:solidFill>
                <a:latin typeface="Menlo"/>
                <a:ea typeface="Menlo"/>
              </a:rPr>
              <a:t>03</a:t>
            </a:r>
            <a:endParaRPr/>
          </a:p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5067300" y="2305050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推荐人默认值写死</a:t>
            </a:r>
            <a:endParaRPr/>
          </a:p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7334250" y="2314575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没带推荐链接的注册，都会给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NG00000001 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记一笔推荐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 BV</a:t>
            </a:r>
            <a:endParaRPr/>
          </a:p>
        </p:txBody>
      </p:sp>
      <p:sp>
        <p:nvSpPr>
          <p:cNvPr id="1047" name=""/>
          <p:cNvSpPr/>
          <p:nvPr/>
        </p:nvSpPr>
        <p:spPr>
          <a:xfrm rot="0" flipH="0" flipV="0">
            <a:off x="4572000" y="2705100"/>
            <a:ext cx="7086600" cy="466725"/>
          </a:xfrm>
          <a:prstGeom prst="roundRect">
            <a:avLst>
              <a:gd name="adj" fmla="val 16327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48" name=""/>
          <p:cNvSpPr/>
          <p:nvPr/>
        </p:nvSpPr>
        <p:spPr>
          <a:xfrm rot="0" flipH="0" flipV="0">
            <a:off x="4572000" y="2705100"/>
            <a:ext cx="7086600" cy="466725"/>
          </a:xfrm>
          <a:custGeom>
            <a:pathLst>
              <a:path w="744" h="4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5"/>
                </a:lnTo>
                <a:cubicBezTo>
                  <a:pt x="4" y="47"/>
                  <a:pt x="5" y="49"/>
                  <a:pt x="7" y="49"/>
                </a:cubicBezTo>
                <a:cubicBezTo>
                  <a:pt x="3" y="49"/>
                  <a:pt x="0" y="45"/>
                  <a:pt x="0" y="4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4724400" y="2857500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59EB3"/>
                </a:solidFill>
                <a:latin typeface="Menlo"/>
                <a:ea typeface="Menlo"/>
              </a:rPr>
              <a:t>04</a:t>
            </a:r>
            <a:endParaRPr/>
          </a:p>
        </p:txBody>
      </p:sp>
      <p:sp>
        <p:nvSpPr>
          <p:cNvPr id="1050" name="" descr="{&quot;isTemplate&quot;:true,&quot;type&quot;:&quot;text&quot;}"/>
          <p:cNvSpPr txBox="1"/>
          <p:nvPr/>
        </p:nvSpPr>
        <p:spPr>
          <a:xfrm rot="0" flipH="0" flipV="0">
            <a:off x="5067300" y="2828925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注册订单的字段形态不一致</a:t>
            </a:r>
            <a:endParaRPr/>
          </a:p>
        </p:txBody>
      </p:sp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7334250" y="2828925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地址列显示未提供地址，付款状态落到未支付标签</a:t>
            </a:r>
            <a:endParaRPr/>
          </a:p>
        </p:txBody>
      </p:sp>
      <p:sp>
        <p:nvSpPr>
          <p:cNvPr id="1052" name=""/>
          <p:cNvSpPr/>
          <p:nvPr/>
        </p:nvSpPr>
        <p:spPr>
          <a:xfrm rot="0" flipH="0" flipV="0">
            <a:off x="4572000" y="3219450"/>
            <a:ext cx="7086600" cy="47625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53" name=""/>
          <p:cNvSpPr/>
          <p:nvPr/>
        </p:nvSpPr>
        <p:spPr>
          <a:xfrm rot="0" flipH="0" flipV="0">
            <a:off x="4572000" y="3219450"/>
            <a:ext cx="7086600" cy="476250"/>
          </a:xfrm>
          <a:custGeom>
            <a:pathLst>
              <a:path w="744" h="5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6"/>
                </a:lnTo>
                <a:cubicBezTo>
                  <a:pt x="4" y="48"/>
                  <a:pt x="5" y="50"/>
                  <a:pt x="7" y="50"/>
                </a:cubicBezTo>
                <a:cubicBezTo>
                  <a:pt x="3" y="50"/>
                  <a:pt x="0" y="46"/>
                  <a:pt x="0" y="4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4724400" y="3371850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59EB3"/>
                </a:solidFill>
                <a:latin typeface="Menlo"/>
                <a:ea typeface="Menlo"/>
              </a:rPr>
              <a:t>05</a:t>
            </a:r>
            <a:endParaRPr/>
          </a:p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5067300" y="3343275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两条路径的写入位置不同</a:t>
            </a:r>
            <a:endParaRPr/>
          </a:p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7334250" y="3352800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注册追加到数组末尾，结算插到最前面，列表顺序因此不同</a:t>
            </a:r>
            <a:endParaRPr/>
          </a:p>
        </p:txBody>
      </p:sp>
      <p:sp>
        <p:nvSpPr>
          <p:cNvPr id="1057" name=""/>
          <p:cNvSpPr/>
          <p:nvPr/>
        </p:nvSpPr>
        <p:spPr>
          <a:xfrm rot="0" flipH="0" flipV="0">
            <a:off x="4572000" y="3743325"/>
            <a:ext cx="7086600" cy="466725"/>
          </a:xfrm>
          <a:prstGeom prst="roundRect">
            <a:avLst>
              <a:gd name="adj" fmla="val 16327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58" name=""/>
          <p:cNvSpPr/>
          <p:nvPr/>
        </p:nvSpPr>
        <p:spPr>
          <a:xfrm rot="0" flipH="0" flipV="0">
            <a:off x="4572000" y="3743325"/>
            <a:ext cx="7086600" cy="466725"/>
          </a:xfrm>
          <a:custGeom>
            <a:pathLst>
              <a:path w="744" h="4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5"/>
                </a:lnTo>
                <a:cubicBezTo>
                  <a:pt x="4" y="47"/>
                  <a:pt x="5" y="49"/>
                  <a:pt x="7" y="49"/>
                </a:cubicBezTo>
                <a:cubicBezTo>
                  <a:pt x="3" y="49"/>
                  <a:pt x="0" y="45"/>
                  <a:pt x="0" y="4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1059" name="" descr="{&quot;isTemplate&quot;:true,&quot;type&quot;:&quot;text&quot;}"/>
          <p:cNvSpPr txBox="1"/>
          <p:nvPr/>
        </p:nvSpPr>
        <p:spPr>
          <a:xfrm rot="0" flipH="0" flipV="0">
            <a:off x="4724400" y="389572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59EB3"/>
                </a:solidFill>
                <a:latin typeface="Menlo"/>
                <a:ea typeface="Menlo"/>
              </a:rPr>
              <a:t>06</a:t>
            </a:r>
            <a:endParaRPr/>
          </a:p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5067300" y="3867150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结算摘要不含运费与税费</a:t>
            </a:r>
            <a:endParaRPr/>
          </a:p>
        </p:txBody>
      </p:sp>
      <p:sp>
        <p:nvSpPr>
          <p:cNvPr id="1061" name="" descr="{&quot;isTemplate&quot;:true,&quot;type&quot;:&quot;text&quot;}"/>
          <p:cNvSpPr txBox="1"/>
          <p:nvPr/>
        </p:nvSpPr>
        <p:spPr>
          <a:xfrm rot="0" flipH="0" flipV="0">
            <a:off x="7334250" y="3867150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总计等于商品小计；</a:t>
            </a:r>
            <a:r>
              <a:rPr lang="en-US" sz="1050">
                <a:solidFill>
                  <a:srgbClr val="3F4A55"/>
                </a:solidFill>
                <a:latin typeface="Inter"/>
                <a:ea typeface="Inter"/>
              </a:rPr>
              <a:t>7.5% </a:t>
            </a: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税率只在订单展示环节出现</a:t>
            </a:r>
            <a:endParaRPr/>
          </a:p>
        </p:txBody>
      </p:sp>
      <p:sp>
        <p:nvSpPr>
          <p:cNvPr id="1062" name=""/>
          <p:cNvSpPr/>
          <p:nvPr/>
        </p:nvSpPr>
        <p:spPr>
          <a:xfrm rot="0" flipH="0" flipV="0">
            <a:off x="4572000" y="4257675"/>
            <a:ext cx="7086600" cy="47625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63" name=""/>
          <p:cNvSpPr/>
          <p:nvPr/>
        </p:nvSpPr>
        <p:spPr>
          <a:xfrm rot="0" flipH="0" flipV="0">
            <a:off x="4572000" y="4257675"/>
            <a:ext cx="7086600" cy="476250"/>
          </a:xfrm>
          <a:custGeom>
            <a:pathLst>
              <a:path w="744" h="5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6"/>
                </a:lnTo>
                <a:cubicBezTo>
                  <a:pt x="4" y="48"/>
                  <a:pt x="5" y="50"/>
                  <a:pt x="7" y="50"/>
                </a:cubicBezTo>
                <a:cubicBezTo>
                  <a:pt x="3" y="50"/>
                  <a:pt x="0" y="46"/>
                  <a:pt x="0" y="4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1064" name="" descr="{&quot;isTemplate&quot;:true,&quot;type&quot;:&quot;text&quot;}"/>
          <p:cNvSpPr txBox="1"/>
          <p:nvPr/>
        </p:nvSpPr>
        <p:spPr>
          <a:xfrm rot="0" flipH="0" flipV="0">
            <a:off x="4724400" y="441007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59EB3"/>
                </a:solidFill>
                <a:latin typeface="Menlo"/>
                <a:ea typeface="Menlo"/>
              </a:rPr>
              <a:t>07</a:t>
            </a:r>
            <a:endParaRPr/>
          </a:p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USSD </a:t>
            </a: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码写死</a:t>
            </a:r>
            <a:endParaRPr/>
          </a:p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7334250" y="4391025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固定显示，不随订单金额变化</a:t>
            </a:r>
            <a:endParaRPr/>
          </a:p>
        </p:txBody>
      </p:sp>
      <p:sp>
        <p:nvSpPr>
          <p:cNvPr id="1067" name=""/>
          <p:cNvSpPr/>
          <p:nvPr/>
        </p:nvSpPr>
        <p:spPr>
          <a:xfrm rot="0" flipH="0" flipV="0">
            <a:off x="4572000" y="4781550"/>
            <a:ext cx="7086600" cy="466725"/>
          </a:xfrm>
          <a:prstGeom prst="roundRect">
            <a:avLst>
              <a:gd name="adj" fmla="val 16327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68" name=""/>
          <p:cNvSpPr/>
          <p:nvPr/>
        </p:nvSpPr>
        <p:spPr>
          <a:xfrm rot="0" flipH="0" flipV="0">
            <a:off x="4572000" y="4781550"/>
            <a:ext cx="7086600" cy="466725"/>
          </a:xfrm>
          <a:custGeom>
            <a:pathLst>
              <a:path w="744" h="4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5"/>
                </a:lnTo>
                <a:cubicBezTo>
                  <a:pt x="4" y="47"/>
                  <a:pt x="5" y="49"/>
                  <a:pt x="7" y="49"/>
                </a:cubicBezTo>
                <a:cubicBezTo>
                  <a:pt x="3" y="49"/>
                  <a:pt x="0" y="45"/>
                  <a:pt x="0" y="4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02259"/>
          </a:solidFill>
          <a:ln/>
        </p:spPr>
        <p:txBody>
          <a:bodyPr/>
          <a:p/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4724400" y="4933950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59EB3"/>
                </a:solidFill>
                <a:latin typeface="Menlo"/>
                <a:ea typeface="Menlo"/>
              </a:rPr>
              <a:t>08</a:t>
            </a:r>
            <a:endParaRPr/>
          </a:p>
        </p:txBody>
      </p:sp>
      <p:sp>
        <p:nvSpPr>
          <p:cNvPr id="1070" name="" descr="{&quot;isTemplate&quot;:true,&quot;type&quot;:&quot;text&quot;}"/>
          <p:cNvSpPr txBox="1"/>
          <p:nvPr/>
        </p:nvSpPr>
        <p:spPr>
          <a:xfrm rot="0" flipH="0" flipV="0">
            <a:off x="5067300" y="4905375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详情页</a:t>
            </a:r>
            <a:r>
              <a:rPr lang="en-US" sz="1200" b="1">
                <a:solidFill>
                  <a:srgbClr val="202259"/>
                </a:solidFill>
                <a:latin typeface="Inter"/>
                <a:ea typeface="Inter"/>
              </a:rPr>
              <a:t> BV </a:t>
            </a: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徽标口径不同</a:t>
            </a:r>
            <a:endParaRPr/>
          </a:p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7334250" y="4905375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无条件显示，且用价格现算，与列表页读字段的口径不一致</a:t>
            </a:r>
            <a:endParaRPr/>
          </a:p>
        </p:txBody>
      </p:sp>
      <p:sp>
        <p:nvSpPr>
          <p:cNvPr id="1072" name=""/>
          <p:cNvSpPr/>
          <p:nvPr/>
        </p:nvSpPr>
        <p:spPr>
          <a:xfrm rot="0" flipH="0" flipV="0">
            <a:off x="4572000" y="5295900"/>
            <a:ext cx="7086600" cy="47625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73" name=""/>
          <p:cNvSpPr/>
          <p:nvPr/>
        </p:nvSpPr>
        <p:spPr>
          <a:xfrm rot="0" flipH="0" flipV="0">
            <a:off x="4572000" y="5295900"/>
            <a:ext cx="7086600" cy="476250"/>
          </a:xfrm>
          <a:custGeom>
            <a:pathLst>
              <a:path w="744" h="5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6"/>
                </a:lnTo>
                <a:cubicBezTo>
                  <a:pt x="4" y="48"/>
                  <a:pt x="5" y="50"/>
                  <a:pt x="7" y="50"/>
                </a:cubicBezTo>
                <a:cubicBezTo>
                  <a:pt x="3" y="50"/>
                  <a:pt x="0" y="46"/>
                  <a:pt x="0" y="4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859EB3"/>
          </a:solidFill>
          <a:ln/>
        </p:spPr>
        <p:txBody>
          <a:bodyPr/>
          <a:p/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4724400" y="5448300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59EB3"/>
                </a:solidFill>
                <a:latin typeface="Menlo"/>
                <a:ea typeface="Menlo"/>
              </a:rPr>
              <a:t>09</a:t>
            </a:r>
            <a:endParaRPr/>
          </a:p>
        </p:txBody>
      </p:sp>
      <p:sp>
        <p:nvSpPr>
          <p:cNvPr id="1075" name="" descr="{&quot;isTemplate&quot;:true,&quot;type&quot;:&quot;text&quot;}"/>
          <p:cNvSpPr txBox="1"/>
          <p:nvPr/>
        </p:nvSpPr>
        <p:spPr>
          <a:xfrm rot="0" flipH="0" flipV="0">
            <a:off x="5067300" y="5419725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若干交互未接逻辑</a:t>
            </a:r>
            <a:endParaRPr/>
          </a:p>
        </p:txBody>
      </p:sp>
      <p:sp>
        <p:nvSpPr>
          <p:cNvPr id="1076" name="" descr="{&quot;isTemplate&quot;:true,&quot;type&quot;:&quot;text&quot;}"/>
          <p:cNvSpPr txBox="1"/>
          <p:nvPr/>
        </p:nvSpPr>
        <p:spPr>
          <a:xfrm rot="0" flipH="0" flipV="0">
            <a:off x="7334250" y="5429250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记住我、忘记密码、落地页的进入我的账户按钮</a:t>
            </a:r>
            <a:endParaRPr/>
          </a:p>
        </p:txBody>
      </p:sp>
      <p:sp>
        <p:nvSpPr>
          <p:cNvPr id="1077" name=""/>
          <p:cNvSpPr/>
          <p:nvPr/>
        </p:nvSpPr>
        <p:spPr>
          <a:xfrm rot="0" flipH="0" flipV="0">
            <a:off x="4572000" y="5819775"/>
            <a:ext cx="7086600" cy="466725"/>
          </a:xfrm>
          <a:prstGeom prst="roundRect">
            <a:avLst>
              <a:gd name="adj" fmla="val 16327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78" name=""/>
          <p:cNvSpPr/>
          <p:nvPr/>
        </p:nvSpPr>
        <p:spPr>
          <a:xfrm rot="0" flipH="0" flipV="0">
            <a:off x="4572000" y="5819775"/>
            <a:ext cx="7086600" cy="466725"/>
          </a:xfrm>
          <a:custGeom>
            <a:pathLst>
              <a:path w="744" h="4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5"/>
                </a:lnTo>
                <a:cubicBezTo>
                  <a:pt x="4" y="47"/>
                  <a:pt x="5" y="49"/>
                  <a:pt x="7" y="49"/>
                </a:cubicBezTo>
                <a:cubicBezTo>
                  <a:pt x="3" y="49"/>
                  <a:pt x="0" y="45"/>
                  <a:pt x="0" y="4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859EB3"/>
          </a:solidFill>
          <a:ln/>
        </p:spPr>
        <p:txBody>
          <a:bodyPr/>
          <a:p/>
        </p:txBody>
      </p:sp>
      <p:sp>
        <p:nvSpPr>
          <p:cNvPr id="1079" name="" descr="{&quot;isTemplate&quot;:true,&quot;type&quot;:&quot;text&quot;}"/>
          <p:cNvSpPr txBox="1"/>
          <p:nvPr/>
        </p:nvSpPr>
        <p:spPr>
          <a:xfrm rot="0" flipH="0" flipV="0">
            <a:off x="4724400" y="597217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59EB3"/>
                </a:solidFill>
                <a:latin typeface="Menlo"/>
                <a:ea typeface="Menlo"/>
              </a:rPr>
              <a:t>10</a:t>
            </a:r>
            <a:endParaRPr/>
          </a:p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5067300" y="5943600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200" b="1">
                <a:solidFill>
                  <a:srgbClr val="202259"/>
                </a:solidFill>
                <a:latin typeface="Inter"/>
                <a:ea typeface="Inter"/>
              </a:rPr>
              <a:t>三个功能尚未实现</a:t>
            </a:r>
            <a:endParaRPr/>
          </a:p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7334250" y="5943600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3F4A55"/>
                </a:solidFill>
                <a:latin typeface="Inter"/>
                <a:ea typeface="Inter"/>
              </a:rPr>
              <a:t>取消订单、物流追踪、催发货；九类奖金无比例无条件</a:t>
            </a:r>
            <a:endParaRPr/>
          </a:p>
        </p:txBody>
      </p:sp>
      <p:sp>
        <p:nvSpPr>
          <p:cNvPr id="1082" name=""/>
          <p:cNvSpPr/>
          <p:nvPr/>
        </p:nvSpPr>
        <p:spPr>
          <a:xfrm rot="0" flipH="0" flipV="0">
            <a:off x="571500" y="64389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742950" y="640080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AQUALIFE · </a:t>
            </a:r>
            <a:r>
              <a:rPr lang="zh-CN" sz="1050" spc="22">
                <a:solidFill>
                  <a:srgbClr val="5C646A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1084" name="" descr="{&quot;isTemplate&quot;:true,&quot;type&quot;:&quot;text&quot;}"/>
          <p:cNvSpPr txBox="1"/>
          <p:nvPr/>
        </p:nvSpPr>
        <p:spPr>
          <a:xfrm rot="0" flipH="0" flipV="0">
            <a:off x="111442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">
                <a:solidFill>
                  <a:srgbClr val="5C646A"/>
                </a:solidFill>
                <a:latin typeface="Inter"/>
                <a:ea typeface="Inter"/>
              </a:rPr>
              <a:t>30 / 31</a:t>
            </a:r>
            <a:endParaRPr/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085" name="" descr="&lt;Slide style={{ width: 1280, height: 720, position: 'relative', fontFamily: 'Inter, PingFang SC, Helvetica Neue, sans-serif', background: '#202259' }}&gt;&#10;    &lt;Box style={{ position: 'absolute', top: 0, left: 0, width: 1280, height: 720, background: 'linear-gradient(135deg, #202259 0%, #2A3170 48%, #1B5C78 100%)' }} /&gt;&#10;    &lt;Box style={{ position: 'absolute', top: -180, right: -140, width: 560, height: 560, borderRadius: 280, background: 'rgba(42,167,207,0.20)' }} /&gt;&#10;    &lt;Box style={{ position: 'absolute', bottom: -220, left: -160, width: 620, height: 620, borderRadius: 310, background: 'rgba(242,135,183,0.14)' }} /&gt;&#10;&#10;    &lt;Box style={{ position: 'relative', width: '100%', height: '100%', padding: '64px 80px', flexDirection: 'column', justifyContent: 'space-between' }}&gt;&#10;        {/* 三个巨型数字 */}&#10;        &lt;Box style={{ flexDirection: 'row', justifyContent: 'space-between', marginTop: 24 }}&gt;&#10;            {[&#10;                { n: '3', u: '条路径', d: '访客下单、注册购买、已有账户购买' },&#10;                { n: '2', u: '个落点', d: '账户里的订单列表，和奖金卡片上的数字' },&#10;                { n: '1', u: '个判据', d: '下单那一刻，有没有会员身份' },&#10;            ].map(function (it, i) {&#10;                var color = i === 2 ? '#F287B7' : '#7FD3EC';&#10;                return (&#10;                    &lt;Box key={i} style={{ width: 340, flexDirection: 'column' }}&gt;&#10;                        &lt;Box style={{ flexDirection: 'row', alignItems: 'baseline', gap: 8 }}&gt;&#10;                            &lt;Text style={{ fontSize: 96, fontWeight: 'bold', color: color, lineHeight: 1, letterSpacing: -4 }}&gt;{it.n}&lt;/Text&gt;&#10;                            &lt;Text style={{ fontSize: 24, color: '#FFFFFF', fontWeight: 'bold' }}&gt;{it.u}&lt;/Text&gt;&#10;                        &lt;/Box&gt;&#10;                        &lt;Box style={{ width: 76, height: 3, background: i === 2 ? '#F287B7' : '#2AA7CF', marginTop: 14, marginBottom: 14 }} /&gt;&#10;                        &lt;Text style={{ fontSize: 18, color: '#B9C6E4', lineHeight: 1.5 }}&gt;{it.d}&lt;/Text&gt;&#10;                    &lt;/Box&gt;&#10;                );&#10;            })}&#10;        &lt;/Box&gt;&#10;&#10;        {/* 金句 */}&#10;        &lt;Box style={{ flexDirection: 'column' }}&gt;&#10;            &lt;Text style={{ fontSize: 46, fontWeight: 'bold', color: '#FFFFFF', lineHeight: 1.25, letterSpacing: -0.8 }}&gt;&#10;                讲清实现边界，比讲全功能更重要。&#10;            &lt;/Text&gt;&#10;            &lt;Text style={{ fontSize: 20, color: '#B9C6E4', lineHeight: 1.55, marginTop: 16, width: 900 }}&gt;&#10;                三条路径的差别最终只落在一点：这笔单算不算账户资产。把这一点讲透，后面的订单和奖金问题都会顺下去。&#10;            &lt;/Text&gt;&#10;        &lt;/Box&gt;&#10;&#10;        {/* 落款 */}&#10;        &lt;Box style={{ flexDirection: 'row', justifyContent: 'space-between', alignItems: 'center' }}&gt;&#10;            &lt;Box style={{ flexDirection: 'row', alignItems: 'center', gap: 10 }}&gt;&#10;                &lt;Box style={{ width: 10, height: 10, background: '#F287B7', borderRadius: 2 }} /&gt;&#10;                &lt;Text style={{ fontSize: 16, color: '#8A9BC0', letterSpacing: 0.4 }}&gt;AQUALIFE · 三条下单路径讲解&lt;/Text&gt;&#10;            &lt;/Box&gt;&#10;            &lt;Text style={{ fontSize: 16, color: '#8A9BC0', letterSpacing: 0.4 }}&gt;2026-09-14 · 31 / 31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02259"/>
          </a:solidFill>
          <a:ln/>
        </p:spPr>
        <p:txBody>
          <a:bodyPr/>
          <a:p/>
        </p:txBody>
      </p:sp>
      <p:sp>
        <p:nvSpPr>
          <p:cNvPr id="10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02259"/>
              </a:gs>
              <a:gs pos="48000">
                <a:srgbClr val="2A3170"/>
              </a:gs>
              <a:gs pos="100000">
                <a:srgbClr val="1B5C7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88" name=""/>
          <p:cNvSpPr/>
          <p:nvPr/>
        </p:nvSpPr>
        <p:spPr>
          <a:xfrm rot="0" flipH="0" flipV="0">
            <a:off x="8191500" y="-1714500"/>
            <a:ext cx="5334000" cy="5334000"/>
          </a:xfrm>
          <a:prstGeom prst="roundRect">
            <a:avLst>
              <a:gd name="adj" fmla="val 50000"/>
            </a:avLst>
          </a:prstGeom>
          <a:solidFill>
            <a:srgbClr val="2AA7CF">
              <a:alpha val="20000"/>
            </a:srgbClr>
          </a:solidFill>
          <a:ln/>
        </p:spPr>
        <p:txBody>
          <a:bodyPr/>
          <a:p/>
        </p:txBody>
      </p:sp>
      <p:sp>
        <p:nvSpPr>
          <p:cNvPr id="1089" name=""/>
          <p:cNvSpPr/>
          <p:nvPr/>
        </p:nvSpPr>
        <p:spPr>
          <a:xfrm rot="0" flipH="0" flipV="0">
            <a:off x="-1524000" y="3048000"/>
            <a:ext cx="5905500" cy="5905500"/>
          </a:xfrm>
          <a:prstGeom prst="roundRect">
            <a:avLst>
              <a:gd name="adj" fmla="val 50000"/>
            </a:avLst>
          </a:prstGeom>
          <a:solidFill>
            <a:srgbClr val="F287B7">
              <a:alpha val="14000"/>
            </a:srgbClr>
          </a:solidFill>
          <a:ln/>
        </p:spPr>
        <p:txBody>
          <a:bodyPr/>
          <a:p/>
        </p:txBody>
      </p:sp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762000" y="838200"/>
            <a:ext cx="5143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300">
                <a:solidFill>
                  <a:srgbClr val="7FD3EC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1091" name="" descr="{&quot;isTemplate&quot;:true,&quot;type&quot;:&quot;text&quot;}"/>
          <p:cNvSpPr txBox="1"/>
          <p:nvPr/>
        </p:nvSpPr>
        <p:spPr>
          <a:xfrm rot="0" flipH="0" flipV="0">
            <a:off x="1352550" y="838200"/>
            <a:ext cx="685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Inter"/>
                <a:ea typeface="Inter"/>
              </a:rPr>
              <a:t>条路径</a:t>
            </a:r>
            <a:endParaRPr/>
          </a:p>
        </p:txBody>
      </p:sp>
      <p:sp>
        <p:nvSpPr>
          <p:cNvPr id="1092" name=""/>
          <p:cNvSpPr/>
          <p:nvPr/>
        </p:nvSpPr>
        <p:spPr>
          <a:xfrm rot="0" flipH="0" flipV="0">
            <a:off x="762000" y="2076450"/>
            <a:ext cx="723900" cy="28575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762000" y="2238375"/>
            <a:ext cx="3238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B9C6E4"/>
                </a:solidFill>
                <a:latin typeface="Inter"/>
                <a:ea typeface="Inter"/>
              </a:rPr>
              <a:t>访客下单、注册购买、已有账户购买</a:t>
            </a:r>
            <a:endParaRPr/>
          </a:p>
        </p:txBody>
      </p:sp>
      <p:sp>
        <p:nvSpPr>
          <p:cNvPr id="1094" name="" descr="{&quot;isTemplate&quot;:true,&quot;type&quot;:&quot;text&quot;}"/>
          <p:cNvSpPr txBox="1"/>
          <p:nvPr/>
        </p:nvSpPr>
        <p:spPr>
          <a:xfrm rot="0" flipH="0" flipV="0">
            <a:off x="4476750" y="838200"/>
            <a:ext cx="5143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300">
                <a:solidFill>
                  <a:srgbClr val="7FD3EC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5067300" y="838200"/>
            <a:ext cx="685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Inter"/>
                <a:ea typeface="Inter"/>
              </a:rPr>
              <a:t>个落点</a:t>
            </a:r>
            <a:endParaRPr/>
          </a:p>
        </p:txBody>
      </p:sp>
      <p:sp>
        <p:nvSpPr>
          <p:cNvPr id="1096" name=""/>
          <p:cNvSpPr/>
          <p:nvPr/>
        </p:nvSpPr>
        <p:spPr>
          <a:xfrm rot="0" flipH="0" flipV="0">
            <a:off x="4476750" y="2076450"/>
            <a:ext cx="723900" cy="28575"/>
          </a:xfrm>
          <a:prstGeom prst="rect">
            <a:avLst/>
          </a:prstGeom>
          <a:solidFill>
            <a:srgbClr val="2AA7CF"/>
          </a:solidFill>
          <a:ln/>
        </p:spPr>
        <p:txBody>
          <a:bodyPr/>
          <a:p/>
        </p:txBody>
      </p:sp>
      <p:sp>
        <p:nvSpPr>
          <p:cNvPr id="1097" name="" descr="{&quot;isTemplate&quot;:true,&quot;type&quot;:&quot;text&quot;}"/>
          <p:cNvSpPr txBox="1"/>
          <p:nvPr/>
        </p:nvSpPr>
        <p:spPr>
          <a:xfrm rot="0" flipH="0" flipV="0">
            <a:off x="4476750" y="2238375"/>
            <a:ext cx="3238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B9C6E4"/>
                </a:solidFill>
                <a:latin typeface="Inter"/>
                <a:ea typeface="Inter"/>
              </a:rPr>
              <a:t>账户里的订单列表，和奖金卡片上的数字</a:t>
            </a:r>
            <a:endParaRPr/>
          </a:p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8191500" y="838200"/>
            <a:ext cx="3429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300">
                <a:solidFill>
                  <a:srgbClr val="F287B7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8610600" y="838200"/>
            <a:ext cx="685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Inter"/>
                <a:ea typeface="Inter"/>
              </a:rPr>
              <a:t>个判据</a:t>
            </a:r>
            <a:endParaRPr/>
          </a:p>
        </p:txBody>
      </p:sp>
      <p:sp>
        <p:nvSpPr>
          <p:cNvPr id="1100" name=""/>
          <p:cNvSpPr/>
          <p:nvPr/>
        </p:nvSpPr>
        <p:spPr>
          <a:xfrm rot="0" flipH="0" flipV="0">
            <a:off x="8191500" y="2076450"/>
            <a:ext cx="723900" cy="28575"/>
          </a:xfrm>
          <a:prstGeom prst="rect">
            <a:avLst/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8191500" y="2238375"/>
            <a:ext cx="3238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B9C6E4"/>
                </a:solidFill>
                <a:latin typeface="Inter"/>
                <a:ea typeface="Inter"/>
              </a:rPr>
              <a:t>下单那一刻，有没有会员身份</a:t>
            </a:r>
            <a:endParaRPr/>
          </a:p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762000" y="3543300"/>
            <a:ext cx="10668000" cy="657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450" b="1" spc="-60">
                <a:solidFill>
                  <a:srgbClr val="FFFFFF"/>
                </a:solidFill>
                <a:latin typeface="Inter"/>
                <a:ea typeface="Inter"/>
              </a:rPr>
              <a:t>讲清实现边界，比讲全功能更重要。</a:t>
            </a:r>
            <a:endParaRPr/>
          </a:p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762000" y="4352925"/>
            <a:ext cx="8572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B9C6E4"/>
                </a:solidFill>
                <a:latin typeface="Inter"/>
                <a:ea typeface="Inter"/>
              </a:rPr>
              <a:t>三条路径的差别最终只落在一点：这笔单算不算账户资产。把这一点讲透，后面的订单和奖金问题都会顺下去。</a:t>
            </a:r>
            <a:endParaRPr/>
          </a:p>
        </p:txBody>
      </p:sp>
      <p:sp>
        <p:nvSpPr>
          <p:cNvPr id="1104" name=""/>
          <p:cNvSpPr/>
          <p:nvPr/>
        </p:nvSpPr>
        <p:spPr>
          <a:xfrm rot="0" flipH="0" flipV="0">
            <a:off x="762000" y="6105525"/>
            <a:ext cx="95250" cy="95250"/>
          </a:xfrm>
          <a:prstGeom prst="roundRect">
            <a:avLst>
              <a:gd name="adj" fmla="val 20000"/>
            </a:avLst>
          </a:prstGeom>
          <a:solidFill>
            <a:srgbClr val="F287B7"/>
          </a:solidFill>
          <a:ln/>
        </p:spPr>
        <p:txBody>
          <a:bodyPr/>
          <a:p/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952500" y="6057900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">
                <a:solidFill>
                  <a:srgbClr val="8A9BC0"/>
                </a:solidFill>
                <a:latin typeface="Inter"/>
                <a:ea typeface="Inter"/>
              </a:rPr>
              <a:t>AQUALIFE · </a:t>
            </a:r>
            <a:r>
              <a:rPr lang="zh-CN" sz="1200" spc="30">
                <a:solidFill>
                  <a:srgbClr val="8A9BC0"/>
                </a:solidFill>
                <a:latin typeface="Inter"/>
                <a:ea typeface="Inter"/>
              </a:rPr>
              <a:t>三条下单路径讲解</a:t>
            </a:r>
            <a:endParaRPr/>
          </a:p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9801225" y="6057900"/>
            <a:ext cx="1628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">
                <a:solidFill>
                  <a:srgbClr val="8A9BC0"/>
                </a:solidFill>
                <a:latin typeface="Inter"/>
                <a:ea typeface="Inter"/>
              </a:rPr>
              <a:t>2026-09-14 · 31 / 31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2026-09-14T13:38:56Z</dcterms:created>
  <dcterms:modified xsi:type="dcterms:W3CDTF">2026-09-14T13:38:56Z</dcterms:modified>
</cp:coreProperties>
</file>