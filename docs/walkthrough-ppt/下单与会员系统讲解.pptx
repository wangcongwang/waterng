
<file path=[Content_Types].xml><?xml version="1.0" encoding="utf-8"?>
<Types xmlns="http://schemas.openxmlformats.org/package/2006/content-types">
  <Default Extension="svg" ContentType="image/svg+xml"/>
  <Default Extension="jpg" ContentType="image/jpeg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23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25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4.xml" ContentType="application/vnd.openxmlformats-officedocument.presentationml.slide+xml"/>
  <Override PartName="/ppt/slides/slide15.xml" ContentType="application/vnd.openxmlformats-officedocument.presentationml.slide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2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27" Type="http://schemas.openxmlformats.org/officeDocument/2006/relationships/presProps" Target="presProps.xml" /><Relationship Id="rId26" Type="http://schemas.openxmlformats.org/officeDocument/2006/relationships/notesMaster" Target="notesMasters/notesMaster1.xml" /><Relationship Id="rId25" Type="http://schemas.openxmlformats.org/officeDocument/2006/relationships/slide" Target="slides/slide25.xml" /><Relationship Id="rId22" Type="http://schemas.openxmlformats.org/officeDocument/2006/relationships/slide" Target="slides/slide2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" Type="http://schemas.openxmlformats.org/officeDocument/2006/relationships/slide" Target="slides/slide2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19" Type="http://schemas.openxmlformats.org/officeDocument/2006/relationships/slide" Target="slides/slide19.xml" /><Relationship Id="rId29" Type="http://schemas.openxmlformats.org/officeDocument/2006/relationships/viewProps" Target="viewProps.xml" /><Relationship Id="rId17" Type="http://schemas.openxmlformats.org/officeDocument/2006/relationships/slide" Target="slides/slide17.xml" /><Relationship Id="rId16" Type="http://schemas.openxmlformats.org/officeDocument/2006/relationships/slide" Target="slides/slide16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28" Type="http://schemas.openxmlformats.org/officeDocument/2006/relationships/tableStyles" Target="tableStyles.xml" /><Relationship Id="rId13" Type="http://schemas.openxmlformats.org/officeDocument/2006/relationships/slide" Target="slides/slide13.xml" /><Relationship Id="rId8" Type="http://schemas.openxmlformats.org/officeDocument/2006/relationships/slide" Target="slides/slide8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8" Type="http://schemas.openxmlformats.org/officeDocument/2006/relationships/slide" Target="slides/slide18.xml" /><Relationship Id="rId24" Type="http://schemas.openxmlformats.org/officeDocument/2006/relationships/slide" Target="slides/slide24.xml" /><Relationship Id="rId23" Type="http://schemas.openxmlformats.org/officeDocument/2006/relationships/slide" Target="slides/slide23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3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4" Type="http://schemas.openxmlformats.org/officeDocument/2006/relationships/image" Target="media/image5.svg" /><Relationship Id="rId2" Type="http://schemas.openxmlformats.org/officeDocument/2006/relationships/image" Target="media/image21.svg" /><Relationship Id="rId1" Type="http://schemas.openxmlformats.org/officeDocument/2006/relationships/image" Target="media/image20.svg" /><Relationship Id="rId3" Type="http://schemas.openxmlformats.org/officeDocument/2006/relationships/image" Target="media/image22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24.svg" /><Relationship Id="rId1" Type="http://schemas.openxmlformats.org/officeDocument/2006/relationships/image" Target="media/image23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5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image" Target="media/image27.svg" /><Relationship Id="rId1" Type="http://schemas.openxmlformats.org/officeDocument/2006/relationships/image" Target="media/image26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3" Type="http://schemas.openxmlformats.org/officeDocument/2006/relationships/image" Target="media/image30.svg" /><Relationship Id="rId4" Type="http://schemas.openxmlformats.org/officeDocument/2006/relationships/image" Target="media/image31.svg" /><Relationship Id="rId2" Type="http://schemas.openxmlformats.org/officeDocument/2006/relationships/image" Target="media/image29.svg" /><Relationship Id="rId1" Type="http://schemas.openxmlformats.org/officeDocument/2006/relationships/image" Target="media/image28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33.svg" /><Relationship Id="rId1" Type="http://schemas.openxmlformats.org/officeDocument/2006/relationships/image" Target="media/image32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4" Type="http://schemas.openxmlformats.org/officeDocument/2006/relationships/image" Target="media/image37.svg" /><Relationship Id="rId2" Type="http://schemas.openxmlformats.org/officeDocument/2006/relationships/image" Target="media/image35.svg" /><Relationship Id="rId1" Type="http://schemas.openxmlformats.org/officeDocument/2006/relationships/image" Target="media/image34.svg" /><Relationship Id="rId3" Type="http://schemas.openxmlformats.org/officeDocument/2006/relationships/image" Target="media/image36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image" Target="media/image7.svg" /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2" Type="http://schemas.openxmlformats.org/officeDocument/2006/relationships/image" Target="media/image10.svg" /><Relationship Id="rId1" Type="http://schemas.openxmlformats.org/officeDocument/2006/relationships/image" Target="media/image9.svg" /><Relationship Id="rId4" Type="http://schemas.openxmlformats.org/officeDocument/2006/relationships/image" Target="media/image12.svg" /><Relationship Id="rId3" Type="http://schemas.openxmlformats.org/officeDocument/2006/relationships/image" Target="media/image11.sv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4.sv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5.sv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4" Type="http://schemas.openxmlformats.org/officeDocument/2006/relationships/image" Target="media/image19.svg" /><Relationship Id="rId3" Type="http://schemas.openxmlformats.org/officeDocument/2006/relationships/image" Target="media/image18.svg" /><Relationship Id="rId1" Type="http://schemas.openxmlformats.org/officeDocument/2006/relationships/image" Target="media/image16.svg" /><Relationship Id="rId2" Type="http://schemas.openxmlformats.org/officeDocument/2006/relationships/image" Target="media/image17.sv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fontFamily: 'Inter, PingFang SC, Helvetica Neue, sans-serif', background: '#0F1034' }}&gt;&#10;    {/* L1 全幅主视觉 */}&#10;    &lt;Image src='resources/images/cover_bg.jpg' style={{ position: 'absolute', top: 0, left: 0, width: 1280, height: 720, objectFit: 'cover' }} /&gt;&#10;    {/* 左侧压暗，保证白字可读 */}&#10;    &lt;Box style={{ position: 'absolute', top: 0, left: 0, width: 1280, height: 720, background: 'linear-gradient(90deg, rgba(15,16,52,0.95) 0%, rgba(15,16,52,0.88) 40%, rgba(15,16,52,0.44) 70%, rgba(15,16,52,0.62) 100%)' }} /&gt;&#10;    {/* 右下角压暗，覆盖底图水印 */}&#10;    &lt;Box style={{ position: 'absolute', bottom: 0, right: 0, width: 560, height: 280, background: 'linear-gradient(315deg, rgba(8,10,32,1) 0%, rgba(8,10,32,0.9) 24%, rgba(8,10,32,0) 64%)' }} /&gt;&#10;&#10;    {/* 内容层 */}&#10;    &lt;Box style={{ position: 'relative', width: '100%', height: '100%', padding: '64px 80px', flexDirection: 'column', justifyContent: 'space-between' }}&gt;&#10;        {/* 顶部 eyebrow */}&#10;        &lt;Box style={{ flexDirection: 'row', alignItems: 'center', gap: 12 }}&gt;&#10;            &lt;Box style={{ width: 40, height: 4, background: '#2AA7CF' }} /&gt;&#10;            &lt;Text style={{ fontSize: 17, color: '#7FD3EC', letterSpacing: 2.4, fontWeight: 'bold' }}&gt;&#10;                AQUALIFE / ELKEN · 前端系统功能讲解&#10;            &lt;/Text&gt;&#10;        &lt;/Box&gt;&#10;&#10;        {/* 主标题区 */}&#10;        &lt;Box style={{ flexDirection: 'column' }}&gt;&#10;            &lt;Text style={{ fontSize: 68, fontWeight: 'bold', color: '#FFFFFF', lineHeight: 1.15, letterSpacing: -1.5 }}&gt;&#10;                三条链路，一次讲清&#10;            &lt;/Text&gt;&#10;            &lt;Text style={{ fontSize: 24, color: '#B9C6E4', lineHeight: 1.5, marginTop: 18 }}&gt;&#10;                下单流程 · 会员注册 · 我的账户与奖金后台&#10;            &lt;/Text&gt;&#10;            &lt;Box style={{ flexDirection: 'row', gap: 16, marginTop: 34 }}&gt;&#10;                {[&#10;                    { no: '01', cn: '下单流程', en: 'Order flow', desc: '加购、结算、支付、订单落库' },&#10;                    { no: '02', cn: '会员注册', en: 'Member signup', desc: '七分区表单、ID 规则、推荐关系' },&#10;                    { no: '03', cn: '账户与奖金', en: 'Bonus &amp; account', desc: '双 KPI、九类奖金、资金闭环' },&#10;                ].map(function (it, i) {&#10;                    return (&#10;                        &lt;Box key={i} style={{ width: 300, padding: '16px 18px', background: 'rgba(255,255,255,0.07)', borderLeft: '3px solid #2AA7CF', borderRadius: 6, flexDirection: 'column' }}&gt;&#10;                            &lt;Text style={{ fontSize: 14, color: '#7FD3EC', letterSpacing: 1.6, fontWeight: 'bold' }}&gt;{it.no}&lt;/Text&gt;&#10;                            &lt;Text style={{ fontSize: 21, color: '#FFFFFF', fontWeight: 'bold', marginTop: 6 }}&gt;{it.cn}&lt;/Text&gt;&#10;                            &lt;Text style={{ fontSize: 15, color: '#93A4C9', marginTop: 4, lineHeight: 1.4 }}&gt;{it.desc}&lt;/Text&gt;&#10;                        &lt;/Box&gt;&#10;                    );&#10;                })}&#10;            &lt;/Box&gt;&#10;        &lt;/Box&gt;&#10;&#10;        {/* 底部落款（右侧盖住底图水印） */}&#10;        &lt;Box style={{ flexDirection: 'row', justifyContent: 'space-between', alignItems: 'flex-end' }}&gt;&#10;            &lt;Text style={{ fontSize: 16, color: '#8A9BC0' }}&gt;&#10;                基于当前代码实现逐条核对 · 全场演示可跟随操作&#10;            &lt;/Text&gt;&#10;            &lt;Box style={{ padding: '10px 18px', background: 'rgba(8,10,32,0.92)', border: '1px solid rgba(127,211,236,0.28)', borderRadius: 6, flexDirection: 'row', alignItems: 'center', gap: 12 }}&gt;&#10;                &lt;Box style={{ width: 8, height: 8, background: '#F287B7', borderRadius: 4 }} /&gt;&#10;                &lt;Text style={{ fontSize: 16, color: '#D6E2F5' }}&gt;2026-09-14 · 内部讲解会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034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034">
                  <a:alpha val="95000"/>
                </a:srgbClr>
              </a:gs>
              <a:gs pos="40000">
                <a:srgbClr val="0F1034">
                  <a:alpha val="88000"/>
                </a:srgbClr>
              </a:gs>
              <a:gs pos="70000">
                <a:srgbClr val="0F1034">
                  <a:alpha val="44000"/>
                </a:srgbClr>
              </a:gs>
              <a:gs pos="100000">
                <a:srgbClr val="0F1034">
                  <a:alpha val="62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858000" y="4191000"/>
            <a:ext cx="5334000" cy="2667000"/>
          </a:xfrm>
          <a:prstGeom prst="rect">
            <a:avLst/>
          </a:prstGeom>
          <a:gradFill>
            <a:gsLst>
              <a:gs pos="0">
                <a:srgbClr val="080A20">
                  <a:alpha val="100000"/>
                </a:srgbClr>
              </a:gs>
              <a:gs pos="24000">
                <a:srgbClr val="080A20">
                  <a:alpha val="90000"/>
                </a:srgbClr>
              </a:gs>
              <a:gs pos="64000">
                <a:srgbClr val="080A20">
                  <a:alpha val="0"/>
                </a:srgbClr>
              </a:gs>
            </a:gsLst>
            <a:lin ang="13500000" scaled="1"/>
          </a:gra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762000" y="695325"/>
            <a:ext cx="381000" cy="38100"/>
          </a:xfrm>
          <a:prstGeom prst="rect">
            <a:avLst/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257300" y="609600"/>
            <a:ext cx="3629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180">
                <a:solidFill>
                  <a:srgbClr val="7FD3EC"/>
                </a:solidFill>
                <a:latin typeface="Inter"/>
                <a:ea typeface="Inter"/>
              </a:rPr>
              <a:t>AQUALIFE / ELKEN · </a:t>
            </a:r>
            <a:r>
              <a:rPr lang="zh-CN" sz="1275" b="1" spc="180">
                <a:solidFill>
                  <a:srgbClr val="7FD3EC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1905000"/>
            <a:ext cx="10668000" cy="8953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100" b="1" spc="-112">
                <a:solidFill>
                  <a:srgbClr val="FFFFFF"/>
                </a:solidFill>
                <a:latin typeface="Inter"/>
                <a:ea typeface="Inter"/>
              </a:rPr>
              <a:t>三条链路，一次讲清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2971800"/>
            <a:ext cx="106680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>
                <a:solidFill>
                  <a:srgbClr val="B9C6E4"/>
                </a:solidFill>
                <a:latin typeface="Inter"/>
                <a:ea typeface="Inter"/>
              </a:rPr>
              <a:t>下单流程</a:t>
            </a:r>
            <a:r>
              <a:rPr lang="en-US" sz="1800">
                <a:solidFill>
                  <a:srgbClr val="B9C6E4"/>
                </a:solidFill>
                <a:latin typeface="Inter"/>
                <a:ea typeface="Inter"/>
              </a:rPr>
              <a:t> · </a:t>
            </a:r>
            <a:r>
              <a:rPr lang="zh-CN" sz="1800">
                <a:solidFill>
                  <a:srgbClr val="B9C6E4"/>
                </a:solidFill>
                <a:latin typeface="Inter"/>
                <a:ea typeface="Inter"/>
              </a:rPr>
              <a:t>会员注册</a:t>
            </a:r>
            <a:r>
              <a:rPr lang="en-US" sz="1800">
                <a:solidFill>
                  <a:srgbClr val="B9C6E4"/>
                </a:solidFill>
                <a:latin typeface="Inter"/>
                <a:ea typeface="Inter"/>
              </a:rPr>
              <a:t> · </a:t>
            </a:r>
            <a:r>
              <a:rPr lang="zh-CN" sz="1800">
                <a:solidFill>
                  <a:srgbClr val="B9C6E4"/>
                </a:solidFill>
                <a:latin typeface="Inter"/>
                <a:ea typeface="Inter"/>
              </a:rPr>
              <a:t>我的账户与奖金后台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790575" y="3714750"/>
            <a:ext cx="2828925" cy="1057275"/>
          </a:xfrm>
          <a:prstGeom prst="roundRect">
            <a:avLst>
              <a:gd name="adj" fmla="val 540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790575" y="3714750"/>
            <a:ext cx="2828925" cy="1057275"/>
          </a:xfrm>
          <a:custGeom>
            <a:pathLst>
              <a:path w="297" h="111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108"/>
                </a:lnTo>
                <a:cubicBezTo>
                  <a:pt x="3" y="109"/>
                  <a:pt x="4" y="111"/>
                  <a:pt x="5" y="111"/>
                </a:cubicBezTo>
                <a:cubicBezTo>
                  <a:pt x="2" y="111"/>
                  <a:pt x="0" y="108"/>
                  <a:pt x="0" y="105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962025" y="3867150"/>
            <a:ext cx="2486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20">
                <a:solidFill>
                  <a:srgbClr val="7FD3EC"/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962025" y="4086225"/>
            <a:ext cx="24860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Inter"/>
                <a:ea typeface="Inter"/>
              </a:rPr>
              <a:t>下单流程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962025" y="4371975"/>
            <a:ext cx="24860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93A4C9"/>
                </a:solidFill>
                <a:latin typeface="Inter"/>
                <a:ea typeface="Inter"/>
              </a:rPr>
              <a:t>加购、结算、支付、订单落库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3800475" y="3714750"/>
            <a:ext cx="2828925" cy="1057275"/>
          </a:xfrm>
          <a:prstGeom prst="roundRect">
            <a:avLst>
              <a:gd name="adj" fmla="val 540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3800475" y="3714750"/>
            <a:ext cx="2828925" cy="1057275"/>
          </a:xfrm>
          <a:custGeom>
            <a:pathLst>
              <a:path w="297" h="111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108"/>
                </a:lnTo>
                <a:cubicBezTo>
                  <a:pt x="3" y="109"/>
                  <a:pt x="4" y="111"/>
                  <a:pt x="5" y="111"/>
                </a:cubicBezTo>
                <a:cubicBezTo>
                  <a:pt x="2" y="111"/>
                  <a:pt x="0" y="108"/>
                  <a:pt x="0" y="105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3971925" y="3867150"/>
            <a:ext cx="2486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20">
                <a:solidFill>
                  <a:srgbClr val="7FD3EC"/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971925" y="4086225"/>
            <a:ext cx="24860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Inter"/>
                <a:ea typeface="Inter"/>
              </a:rPr>
              <a:t>会员注册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3971925" y="4371975"/>
            <a:ext cx="24860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93A4C9"/>
                </a:solidFill>
                <a:latin typeface="Inter"/>
                <a:ea typeface="Inter"/>
              </a:rPr>
              <a:t>七分区表单、</a:t>
            </a:r>
            <a:r>
              <a:rPr lang="en-US" sz="1125">
                <a:solidFill>
                  <a:srgbClr val="93A4C9"/>
                </a:solidFill>
                <a:latin typeface="Inter"/>
                <a:ea typeface="Inter"/>
              </a:rPr>
              <a:t>ID </a:t>
            </a:r>
            <a:r>
              <a:rPr lang="zh-CN" sz="1125">
                <a:solidFill>
                  <a:srgbClr val="93A4C9"/>
                </a:solidFill>
                <a:latin typeface="Inter"/>
                <a:ea typeface="Inter"/>
              </a:rPr>
              <a:t>规则、推荐关系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810375" y="3714750"/>
            <a:ext cx="2828925" cy="1057275"/>
          </a:xfrm>
          <a:prstGeom prst="roundRect">
            <a:avLst>
              <a:gd name="adj" fmla="val 540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6810375" y="3714750"/>
            <a:ext cx="2828925" cy="1057275"/>
          </a:xfrm>
          <a:custGeom>
            <a:pathLst>
              <a:path w="297" h="111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108"/>
                </a:lnTo>
                <a:cubicBezTo>
                  <a:pt x="3" y="109"/>
                  <a:pt x="4" y="111"/>
                  <a:pt x="5" y="111"/>
                </a:cubicBezTo>
                <a:cubicBezTo>
                  <a:pt x="2" y="111"/>
                  <a:pt x="0" y="108"/>
                  <a:pt x="0" y="105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981825" y="3867150"/>
            <a:ext cx="2486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20">
                <a:solidFill>
                  <a:srgbClr val="7FD3EC"/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981825" y="4086225"/>
            <a:ext cx="24860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Inter"/>
                <a:ea typeface="Inter"/>
              </a:rPr>
              <a:t>账户与奖金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981825" y="4371975"/>
            <a:ext cx="24860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93A4C9"/>
                </a:solidFill>
                <a:latin typeface="Inter"/>
                <a:ea typeface="Inter"/>
              </a:rPr>
              <a:t>双</a:t>
            </a:r>
            <a:r>
              <a:rPr lang="en-US" sz="1125">
                <a:solidFill>
                  <a:srgbClr val="93A4C9"/>
                </a:solidFill>
                <a:latin typeface="Inter"/>
                <a:ea typeface="Inter"/>
              </a:rPr>
              <a:t> KPI</a:t>
            </a:r>
            <a:r>
              <a:rPr lang="zh-CN" sz="1125">
                <a:solidFill>
                  <a:srgbClr val="93A4C9"/>
                </a:solidFill>
                <a:latin typeface="Inter"/>
                <a:ea typeface="Inter"/>
              </a:rPr>
              <a:t>、九类奖金、资金闭环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62000" y="6057900"/>
            <a:ext cx="3381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BC0"/>
                </a:solidFill>
                <a:latin typeface="Inter"/>
                <a:ea typeface="Inter"/>
              </a:rPr>
              <a:t>基于当前代码实现逐条核对</a:t>
            </a:r>
            <a:r>
              <a:rPr lang="en-US" sz="1200">
                <a:solidFill>
                  <a:srgbClr val="8A9BC0"/>
                </a:solidFill>
                <a:latin typeface="Inter"/>
                <a:ea typeface="Inter"/>
              </a:rPr>
              <a:t> · </a:t>
            </a:r>
            <a:r>
              <a:rPr lang="zh-CN" sz="1200">
                <a:solidFill>
                  <a:srgbClr val="8A9BC0"/>
                </a:solidFill>
                <a:latin typeface="Inter"/>
                <a:ea typeface="Inter"/>
              </a:rPr>
              <a:t>全场演示可跟随操作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9067800" y="5867400"/>
            <a:ext cx="2362200" cy="381000"/>
          </a:xfrm>
          <a:prstGeom prst="roundRect">
            <a:avLst>
              <a:gd name="adj" fmla="val 15000"/>
            </a:avLst>
          </a:prstGeom>
          <a:solidFill>
            <a:srgbClr val="080A20">
              <a:alpha val="92000"/>
            </a:srgbClr>
          </a:solidFill>
          <a:ln w="12700">
            <a:solidFill>
              <a:srgbClr val="7FD3EC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9239250" y="6019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9429750" y="5962650"/>
            <a:ext cx="182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D6E2F5"/>
                </a:solidFill>
                <a:latin typeface="Inter"/>
                <a:ea typeface="Inter"/>
              </a:rPr>
              <a:t>2026-09-14 · </a:t>
            </a: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内部讲解会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98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今天讲什么&lt;/Text&gt;&#10;        &lt;Text style={{ fontSize: 16, color: '#5C646A', lineHeight: 1.4, marginTop: 6 }}&gt;&#10;            三个章节 + 一条演示动线，每一章都对应客户侧的一段真实操作&#10;        &lt;/Text&gt;&#10;    &lt;/Box&gt;&#10;&#10;    {/* ===== B 区 内容区 ===== */}&#10;    &lt;Box style={{ height: 540, flexDirection: 'row', gap: 28 }}&gt;&#10;        {/* 左侧窄标题栏 */}&#10;        &lt;Box style={{ width: 330, background: '#202259', borderRadius: 10, padding: '28px 26px', flexDirection: 'column', justifyContent: 'space-between' }}&gt;&#10;            &lt;Box style={{ flexDirection: 'column' }}&gt;&#10;                &lt;Text style={{ fontSize: 15, color: '#7FD3EC', letterSpacing: 2.2, fontWeight: 'bold' }}&gt;AGENDA&lt;/Text&gt;&#10;                &lt;Text style={{ fontSize: 40, fontWeight: 'bold', color: '#FFFFFF', lineHeight: 1.15, marginTop: 14 }}&gt;&#10;                    讲解&#10;                    &lt;br /&gt;&#10;                    路线图&#10;                &lt;/Text&gt;&#10;                &lt;Text style={{ fontSize: 17, color: '#B9C6E4', lineHeight: 1.6, marginTop: 18 }}&gt;&#10;                    不讲概念、只讲实现。每一条结论都能在页面上点出来，讲完你可以自己复现一遍。&#10;                &lt;/Text&gt;&#10;            &lt;/Box&gt;&#10;            &lt;Box style={{ flexDirection: 'row', alignItems: 'center', gap: 10, marginTop: 'auto', paddingTop: 18, borderTop: '1px solid rgba(127,211,236,0.3)' }}&gt;&#10;                &lt;FAIcon name='clock' style={{ fill: '#7FD3EC', width: 18, height: 18 }} /&gt;&#10;                &lt;Text style={{ fontSize: 15, color: '#B9C6E4' }}&gt;建议节奏：每章 15 分钟 + 现场演示&lt;/Text&gt;&#10;            &lt;/Box&gt;&#10;        &lt;/Box&gt;&#10;&#10;        {/* 右侧条目列表 */}&#10;        &lt;Box style={{ flex: 1, flexDirection: 'column', gap: 14 }}&gt;&#10;            {[&#10;                {&#10;                    no: '01',&#10;                    cn: '下单流程',&#10;                    en: 'Order flow',&#10;                    pages: 'P05 – P13',&#10;                    desc: '从商品页加购一路走到订单落库：六个环节、三格步骤条、五种支付方式，以及最容易被讲错的 BV 归属规则。这一章决定客户能不能顺利把单下下来。',&#10;                },&#10;                {&#10;                    no: '02',&#10;                    cn: '会员注册与登录',&#10;                    en: 'Signup &amp; sign-in',&#10;                    pages: 'P14 – P17',&#10;                    desc: '一页七分区的注册长表单、Member ID 的产生与校验位置、推荐关系是怎么绑上的。这一章决定会员是从哪条路径进来的。',&#10;                },&#10;                {&#10;                    no: '03',&#10;                    cn: '我的账户与奖金后台',&#10;                    en: 'Account &amp; bonus',&#10;                    pages: 'P18 – P24',&#10;                    desc: '账户四个 Tab、奖金双 KPI 的计算口径、九类奖金的周期表、Bonus 与 Ecoin 的资金闭环，以及五条会员业务线。这一章是会员进来之后做什么。',&#10;                },&#10;                {&#10;                    no: '04',&#10;                    cn: '现场演示动线',&#10;                    en: 'Live demo',&#10;                    pages: 'P24',&#10;                    desc: '从注册到奖金看板的完整点击顺序，以及演示前必须做的两项准备，避免现场数据串台。',&#10;                },&#10;            ].map(function (it, i) {&#10;                return (&#10;                    &lt;Box key={i} style={{ flexDirection: 'row', gap: 16, padding: '14px 18px', background: '#F4F6F8', borderLeft: '4px solid ' + (i === 3 ? '#F287B7' : '#2AA7CF'), borderRadius: 8, alignItems: 'flex-start' }}&gt;&#10;                        &lt;Box style={{ width: 46, height: 46, background: i === 3 ? '#F287B7' : '#202259', borderRadius: 8, justifyContent: 'center', alignItems: 'center' }}&gt;&#10;                            &lt;Text style={{ fontSize: 20, fontWeight: 'bold', color: '#FFFFFF' }}&gt;{it.no}&lt;/Text&gt;&#10;                        &lt;/Box&gt;&#10;                        &lt;Box style={{ flex: 1, flexDirection: 'column' }}&gt;&#10;                            &lt;Box style={{ flexDirection: 'row', alignItems: 'baseline', gap: 10 }}&gt;&#10;                                &lt;Text style={{ fontSize: 21, fontWeight: 'bold', color: '#202259' }}&gt;{it.cn}&lt;/Text&gt;&#10;                                &lt;Text style={{ fontSize: 14, color: '#859EB3', letterSpacing: 0.6 }}&gt;{it.en}&lt;/Text&gt;&#10;                                &lt;Text style={{ fontSize: 14, color: '#2AA7CF', fontFamily: 'Menlo, monospace', marginLeft: 'auto' }}&gt;{it.pages}&lt;/Text&gt;&#10;                            &lt;/Box&gt;&#10;                            &lt;Text style={{ fontSize: 17, color: '#3F4A55', lineHeight: 1.5, marginTop: 5 }}&gt;{it.desc}&lt;/Text&gt;&#10;                        &lt;/Box&gt;&#10;                    &lt;/Box&gt;&#10;                );&#10;            })}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02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今天讲什么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三个章节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+ 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一条演示动线，每一章都对应客户侧的一段真实操作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571500" y="1143000"/>
            <a:ext cx="3143250" cy="5143500"/>
          </a:xfrm>
          <a:prstGeom prst="roundRect">
            <a:avLst>
              <a:gd name="adj" fmla="val 303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819150" y="1409700"/>
            <a:ext cx="2647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65">
                <a:solidFill>
                  <a:srgbClr val="7FD3EC"/>
                </a:solidFill>
                <a:latin typeface="Inter"/>
                <a:ea typeface="Inter"/>
              </a:rPr>
              <a:t>AGENDA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819150" y="1714500"/>
            <a:ext cx="2647950" cy="10572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FFFFFF"/>
                </a:solidFill>
                <a:latin typeface="Inter"/>
                <a:ea typeface="Inter"/>
              </a:rPr>
              <a:t>讲解</a:t>
            </a:r>
            <a:endParaRPr/>
          </a:p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FFFFFF"/>
                </a:solidFill>
                <a:latin typeface="Inter"/>
                <a:ea typeface="Inter"/>
              </a:rPr>
              <a:t>路线图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819150" y="2943225"/>
            <a:ext cx="26479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不讲概念、只讲实现。每一条结论都能在页面上点出来，讲完你可以自己复现一遍。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819150" y="5667375"/>
            <a:ext cx="2647950" cy="361950"/>
          </a:xfrm>
          <a:custGeom>
            <a:pathLst>
              <a:path w="278" h="38">
                <a:moveTo>
                  <a:pt x="0" y="0"/>
                </a:moveTo>
                <a:lnTo>
                  <a:pt x="278" y="0"/>
                </a:lnTo>
                <a:lnTo>
                  <a:pt x="278" y="1"/>
                </a:lnTo>
                <a:lnTo>
                  <a:pt x="0" y="1"/>
                </a:lnTo>
                <a:close/>
              </a:path>
            </a:pathLst>
          </a:custGeom>
          <a:solidFill>
            <a:srgbClr val="7FD3EC">
              <a:alpha val="30000"/>
            </a:srgbClr>
          </a:solidFill>
          <a:ln/>
        </p:spPr>
        <p:txBody>
          <a:bodyPr/>
          <a:p/>
        </p:txBody>
      </p:sp>
      <p:pic>
        <p:nvPicPr>
          <p:cNvPr id="5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5848350"/>
            <a:ext cx="171450" cy="171450"/>
          </a:xfrm>
          <a:prstGeom prst="rect">
            <a:avLst/>
          </a:prstGeom>
          <a:ln/>
        </p:spPr>
      </p:pic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1085850" y="584835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6E4"/>
                </a:solidFill>
                <a:latin typeface="Inter"/>
                <a:ea typeface="Inter"/>
              </a:rPr>
              <a:t>建议节奏：每章</a:t>
            </a:r>
            <a:r>
              <a:rPr lang="en-US" sz="1125">
                <a:solidFill>
                  <a:srgbClr val="B9C6E4"/>
                </a:solidFill>
                <a:latin typeface="Inter"/>
                <a:ea typeface="Inter"/>
              </a:rPr>
              <a:t> 15 </a:t>
            </a:r>
            <a:r>
              <a:rPr lang="zh-CN" sz="1125">
                <a:solidFill>
                  <a:srgbClr val="B9C6E4"/>
                </a:solidFill>
                <a:latin typeface="Inter"/>
                <a:ea typeface="Inter"/>
              </a:rPr>
              <a:t>分钟</a:t>
            </a:r>
            <a:r>
              <a:rPr lang="en-US" sz="1125">
                <a:solidFill>
                  <a:srgbClr val="B9C6E4"/>
                </a:solidFill>
                <a:latin typeface="Inter"/>
                <a:ea typeface="Inter"/>
              </a:rPr>
              <a:t> + </a:t>
            </a:r>
            <a:r>
              <a:rPr lang="zh-CN" sz="1125">
                <a:solidFill>
                  <a:srgbClr val="B9C6E4"/>
                </a:solidFill>
                <a:latin typeface="Inter"/>
                <a:ea typeface="Inter"/>
              </a:rPr>
              <a:t>现场演示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4019550" y="1143000"/>
            <a:ext cx="7639050" cy="1152525"/>
          </a:xfrm>
          <a:prstGeom prst="roundRect">
            <a:avLst>
              <a:gd name="adj" fmla="val 661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10" name=""/>
          <p:cNvSpPr/>
          <p:nvPr/>
        </p:nvSpPr>
        <p:spPr>
          <a:xfrm rot="0" flipH="0" flipV="0">
            <a:off x="4019550" y="1143000"/>
            <a:ext cx="7639050" cy="1152525"/>
          </a:xfrm>
          <a:custGeom>
            <a:pathLst>
              <a:path w="802" h="12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17"/>
                </a:lnTo>
                <a:cubicBezTo>
                  <a:pt x="4" y="119"/>
                  <a:pt x="5" y="121"/>
                  <a:pt x="7" y="121"/>
                </a:cubicBezTo>
                <a:cubicBezTo>
                  <a:pt x="3" y="121"/>
                  <a:pt x="0" y="117"/>
                  <a:pt x="0" y="11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511" name=""/>
          <p:cNvSpPr/>
          <p:nvPr/>
        </p:nvSpPr>
        <p:spPr>
          <a:xfrm rot="0" flipH="0" flipV="0">
            <a:off x="4191000" y="12763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4314825" y="1381125"/>
            <a:ext cx="200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4781550" y="1276350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2259"/>
                </a:solidFill>
                <a:latin typeface="Inter"/>
                <a:ea typeface="Inter"/>
              </a:rPr>
              <a:t>下单流程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5676900" y="1276350"/>
            <a:ext cx="7143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45">
                <a:solidFill>
                  <a:srgbClr val="859EB3"/>
                </a:solidFill>
                <a:latin typeface="Inter"/>
                <a:ea typeface="Inter"/>
              </a:rPr>
              <a:t>Order flow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10725150" y="1276350"/>
            <a:ext cx="723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A7CF"/>
                </a:solidFill>
                <a:latin typeface="Menlo"/>
                <a:ea typeface="Menlo"/>
              </a:rPr>
              <a:t>P05 – P13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4781550" y="1571625"/>
            <a:ext cx="6667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从商品页加购一路走到订单落库：六个环节、三格步骤条、五种支付方式，以及最容易被讲错的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归属规则。这一章决定客户能不能顺利把单下下来。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4019550" y="2428875"/>
            <a:ext cx="7639050" cy="1152525"/>
          </a:xfrm>
          <a:prstGeom prst="roundRect">
            <a:avLst>
              <a:gd name="adj" fmla="val 661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18" name=""/>
          <p:cNvSpPr/>
          <p:nvPr/>
        </p:nvSpPr>
        <p:spPr>
          <a:xfrm rot="0" flipH="0" flipV="0">
            <a:off x="4019550" y="2428875"/>
            <a:ext cx="7639050" cy="1152525"/>
          </a:xfrm>
          <a:custGeom>
            <a:pathLst>
              <a:path w="802" h="12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17"/>
                </a:lnTo>
                <a:cubicBezTo>
                  <a:pt x="4" y="119"/>
                  <a:pt x="5" y="121"/>
                  <a:pt x="7" y="121"/>
                </a:cubicBezTo>
                <a:cubicBezTo>
                  <a:pt x="3" y="121"/>
                  <a:pt x="0" y="117"/>
                  <a:pt x="0" y="11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519" name=""/>
          <p:cNvSpPr/>
          <p:nvPr/>
        </p:nvSpPr>
        <p:spPr>
          <a:xfrm rot="0" flipH="0" flipV="0">
            <a:off x="4191000" y="25622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4295775" y="2667000"/>
            <a:ext cx="228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4781550" y="25622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2259"/>
                </a:solidFill>
                <a:latin typeface="Inter"/>
                <a:ea typeface="Inter"/>
              </a:rPr>
              <a:t>会员注册与登录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6276975" y="2562225"/>
            <a:ext cx="1152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45">
                <a:solidFill>
                  <a:srgbClr val="859EB3"/>
                </a:solidFill>
                <a:latin typeface="Inter"/>
                <a:ea typeface="Inter"/>
              </a:rPr>
              <a:t>Signup &amp; sign-in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10725150" y="2562225"/>
            <a:ext cx="723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A7CF"/>
                </a:solidFill>
                <a:latin typeface="Menlo"/>
                <a:ea typeface="Menlo"/>
              </a:rPr>
              <a:t>P14 – P17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4781550" y="2857500"/>
            <a:ext cx="6667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一页七分区的注册长表单、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Member ID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的产生与校验位置、推荐关系是怎么绑上的。这一章决定会员是从哪条路径进来的。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4019550" y="3714750"/>
            <a:ext cx="7639050" cy="1152525"/>
          </a:xfrm>
          <a:prstGeom prst="roundRect">
            <a:avLst>
              <a:gd name="adj" fmla="val 661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26" name=""/>
          <p:cNvSpPr/>
          <p:nvPr/>
        </p:nvSpPr>
        <p:spPr>
          <a:xfrm rot="0" flipH="0" flipV="0">
            <a:off x="4019550" y="3714750"/>
            <a:ext cx="7639050" cy="1152525"/>
          </a:xfrm>
          <a:custGeom>
            <a:pathLst>
              <a:path w="802" h="12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17"/>
                </a:lnTo>
                <a:cubicBezTo>
                  <a:pt x="4" y="119"/>
                  <a:pt x="5" y="121"/>
                  <a:pt x="7" y="121"/>
                </a:cubicBezTo>
                <a:cubicBezTo>
                  <a:pt x="3" y="121"/>
                  <a:pt x="0" y="117"/>
                  <a:pt x="0" y="11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527" name=""/>
          <p:cNvSpPr/>
          <p:nvPr/>
        </p:nvSpPr>
        <p:spPr>
          <a:xfrm rot="0" flipH="0" flipV="0">
            <a:off x="4191000" y="38481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4295775" y="3952875"/>
            <a:ext cx="228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4781550" y="3848100"/>
            <a:ext cx="1800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2259"/>
                </a:solidFill>
                <a:latin typeface="Inter"/>
                <a:ea typeface="Inter"/>
              </a:rPr>
              <a:t>我的账户与奖金后台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6677025" y="3848100"/>
            <a:ext cx="1152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45">
                <a:solidFill>
                  <a:srgbClr val="859EB3"/>
                </a:solidFill>
                <a:latin typeface="Inter"/>
                <a:ea typeface="Inter"/>
              </a:rPr>
              <a:t>Account &amp; bonus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10725150" y="3848100"/>
            <a:ext cx="723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A7CF"/>
                </a:solidFill>
                <a:latin typeface="Menlo"/>
                <a:ea typeface="Menlo"/>
              </a:rPr>
              <a:t>P18 – P24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4781550" y="4143375"/>
            <a:ext cx="6667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账户四个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Tab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、奖金双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KPI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的计算口径、九类奖金的周期表、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Bonus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与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Ecoin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的资金闭环，以及五条会员业务线。这一章是会员进来之后做什么。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4019550" y="5000625"/>
            <a:ext cx="7639050" cy="857250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34" name=""/>
          <p:cNvSpPr/>
          <p:nvPr/>
        </p:nvSpPr>
        <p:spPr>
          <a:xfrm rot="0" flipH="0" flipV="0">
            <a:off x="4019550" y="5000625"/>
            <a:ext cx="7639050" cy="857250"/>
          </a:xfrm>
          <a:custGeom>
            <a:pathLst>
              <a:path w="802" h="9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6"/>
                </a:lnTo>
                <a:cubicBezTo>
                  <a:pt x="4" y="88"/>
                  <a:pt x="5" y="90"/>
                  <a:pt x="7" y="90"/>
                </a:cubicBezTo>
                <a:cubicBezTo>
                  <a:pt x="3" y="90"/>
                  <a:pt x="0" y="86"/>
                  <a:pt x="0" y="8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535" name=""/>
          <p:cNvSpPr/>
          <p:nvPr/>
        </p:nvSpPr>
        <p:spPr>
          <a:xfrm rot="0" flipH="0" flipV="0">
            <a:off x="4191000" y="513397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4295775" y="5238750"/>
            <a:ext cx="228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Inter"/>
                <a:ea typeface="Inter"/>
              </a:rPr>
              <a:t>04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4781550" y="513397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2259"/>
                </a:solidFill>
                <a:latin typeface="Inter"/>
                <a:ea typeface="Inter"/>
              </a:rPr>
              <a:t>现场演示动线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076950" y="5133975"/>
            <a:ext cx="6953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45">
                <a:solidFill>
                  <a:srgbClr val="859EB3"/>
                </a:solidFill>
                <a:latin typeface="Inter"/>
                <a:ea typeface="Inter"/>
              </a:rPr>
              <a:t>Live demo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11201400" y="5133975"/>
            <a:ext cx="247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A7CF"/>
                </a:solidFill>
                <a:latin typeface="Menlo"/>
                <a:ea typeface="Menlo"/>
              </a:rPr>
              <a:t>P24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4781550" y="5429250"/>
            <a:ext cx="6667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从注册到奖金看板的完整点击顺序，以及演示前必须做的两项准备，避免现场数据串台。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11115675" y="640080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02 / 25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63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先看全局：这是一个纯前端系统&lt;/Text&gt;&#10;        &lt;Text style={{ fontSize: 16, color: '#5C646A', lineHeight: 1.4, marginTop: 6 }}&gt;&#10;            理解这一点，后面所有&quot;数据从哪来、存到哪去&quot;的问题都不用再问&#10;        &lt;/Text&gt;&#10;    &lt;/Box&gt;&#10;&#10;    {/* ===== B 区 内容区（非对称双栏 65:35） ===== */}&#10;    &lt;Box style={{ height: 540, flexDirection: 'row', gap: 28 }}&gt;&#10;        {/* 左栏 */}&#10;        &lt;Box style={{ flex: 1, flexDirection: 'column', justifyContent: 'space-between' }}&gt;&#10;            &lt;Box style={{ flexDirection: 'row', gap: 18, padding: '20px 22px', background: 'rgba(32,34,89,0.06)', borderLeft: '5px solid #202259', borderRadius: 8, alignItems: 'center' }}&gt;&#10;                &lt;Text style={{ fontSize: 54, fontWeight: 'bold', color: '#202259', lineHeight: 1, letterSpacing: -2 }}&gt;100%&lt;/Text&gt;&#10;                &lt;Box style={{ flex: 1, flexDirection: 'column' }}&gt;&#10;                    &lt;Text style={{ fontSize: 21, fontWeight: 'bold', color: '#202259' }}&gt;数据全部落在浏览器里&lt;/Text&gt;&#10;                    &lt;Text style={{ fontSize: 17, color: '#3F4A55', lineHeight: 1.5, marginTop: 4 }}&gt;&#10;                        没有后端服务、没有数据库、没有接口调用。页面之间靠 localStorage 传数据，所以&quot;下单成功&quot;只是本地写了一条记录。&#10;                    &lt;/Text&gt;&#10;                &lt;/Box&gt;&#10;            &lt;/Box&gt;&#10;&#10;            &lt;Box style={{ flexDirection: 'column', gap: 12 }}&gt;&#10;                &lt;Text style={{ fontSize: 17, fontWeight: 'bold', color: '#5C646A', letterSpacing: 0.5 }}&gt;数据分三个桶存放&lt;/Text&gt;&#10;                &lt;Box style={{ flexDirection: 'row', gap: 14 }}&gt;&#10;                    {[&#10;                        { icon: 'shopping-cart', title: '交易桶', desc: '购物车与订单。加购、结算、下单都写这里，订单号 AQ- 开头。' },&#10;                        { icon: 'id-card', title: '身份桶', desc: '登录态与会员主档。会员 ID、等级、推荐人、收货地址都在这一桶。' },&#10;                        { icon: 'coins', title: '资金桶', desc: 'BV 台账与 Ecoin 台账。奖金累计、充值、转账产生的流水记在这里。' },&#10;                    ].map(function (it, i) {&#10;                        return (&#10;                            &lt;Box key={i} style={{ flex: 1, padding: '18px 18px', background: '#F4F6F8', borderRadius: 8, flexDirection: 'column', minHeight: 210 }}&gt;&#10;                                &lt;Box style={{ width: 44, height: 44, borderRadius: 10, background: '#FFFFFF', justifyContent: 'center', alignItems: 'center', marginBottom: 12 }}&gt;&#10;                                    &lt;FAIcon name={it.icon} style={{ fill: '#2AA7CF', width: 22, height: 22 }} /&gt;&#10;                                &lt;/Box&gt;&#10;                                &lt;Text style={{ fontSize: 21, fontWeight: 'bold', color: '#202259' }}&gt;{it.title}&lt;/Text&gt;&#10;                                &lt;Text style={{ fontSize: 17, color: '#3F4A55', lineHeight: 1.5, marginTop: 8 }}&gt;{it.desc}&lt;/Text&gt;&#10;                            &lt;/Box&gt;&#10;                        );&#10;                    })}&#10;                &lt;/Box&gt;&#10;            &lt;/Box&gt;&#10;&#10;            &lt;Box style={{ flexDirection: 'row', gap: 14, padding: '16px 20px', background: 'rgba(242,135,183,0.14)', borderRadius: 8, alignItems: 'center', marginTop: 'auto' }}&gt;&#10;                &lt;FAIcon name='exclamation-circle' style={{ fill: '#B3528A', width: 22, height: 22 }} /&gt;&#10;                &lt;Text style={{ fontSize: 17, color: '#7A2F5C', lineHeight: 1.5 }}&gt;&#10;                    由此推出一条必须提前说明的结论：&lt;span style={{ fontWeight: 'bold' }}&gt;换设备、换浏览器或清缓存，数据不会跟着走&lt;/span&gt;。订单详情页已经内置了这句提示文案。&#10;                &lt;/Text&gt;&#10;            &lt;/Box&gt;&#10;        &lt;/Box&gt;&#10;&#10;        {/* 右栏：键位清单 */}&#10;        &lt;Box style={{ width: 372, flexDirection: 'column', justifyContent: 'space-between', padding: '22px 22px', background: '#202259', borderRadius: 10 }}&gt;&#10;            &lt;Box style={{ flexDirection: 'column' }}&gt;&#10;                &lt;Text style={{ fontSize: 15, color: '#7FD3EC', letterSpacing: 2, fontWeight: 'bold' }}&gt;STORAGE KEYS&lt;/Text&gt;&#10;                &lt;Text style={{ fontSize: 24, fontWeight: 'bold', color: '#FFFFFF', marginTop: 10 }}&gt;六个核心键位&lt;/Text&gt;&#10;                &lt;Text style={{ fontSize: 16, color: '#B9C6E4', lineHeight: 1.5, marginTop: 8 }}&gt;&#10;                    讲清楚这六行，后面每一处数据来源都能对得上号。&#10;                &lt;/Text&gt;&#10;            &lt;/Box&gt;&#10;&#10;            &lt;Box style={{ flexDirection: 'column', gap: 12 }}&gt;&#10;                {[&#10;                    { k: 'al.orders', v: '订单数组，新单插到最前' },&#10;                    { k: 'al.cart', v: '购物车，按商品 ID 合并' },&#10;                    { k: 'al.auth.user', v: '登录态，登录即写入' },&#10;                    { k: 'al.memberData', v: '会员主档，等级与推荐人' },&#10;                    { k: 'al.bvCredits', v: 'BV 奖金台账，含推荐返佣' },&#10;                    { k: 'al.ecoin', v: 'Ecoin 台账，充值转账流水' },&#10;                ].map(function (it, i) {&#10;                    return (&#10;                        &lt;Box key={i} style={{ flexDirection: 'row', alignItems: 'center', gap: 12, paddingBottom: 10, borderBottom: i === 5 ? 'none' : '1px solid rgba(127,211,236,0.22)' }}&gt;&#10;                            &lt;Text style={{ fontSize: 17, color: '#7FD3EC', fontFamily: 'Menlo, ui-monospace, monospace', width: 148 }}&gt;{it.k}&lt;/Text&gt;&#10;                            &lt;Text style={{ fontSize: 16, color: '#D6E2F5', flex: 1 }}&gt;{it.v}&lt;/Text&gt;&#10;                        &lt;/Box&gt;&#10;                    );&#10;                })}&#10;            &lt;/Box&gt;&#10;&#10;            &lt;Box style={{ padding: '12px 14px', background: 'rgba(42,167,207,0.16)', borderRadius: 6 }}&gt;&#10;                &lt;Text style={{ fontSize: 16, color: '#CFE9F4', lineHeight: 1.45 }}&gt;&#10;                    额度：单个域下 localStorage 约 5MB，当前数据量远未触及上限。&#10;                &lt;/Text&gt;&#10;            &lt;/Box&gt;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03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先看全局：这是一个纯前端系统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理解这一点，后面所有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数据从哪来、存到哪去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的问题都不用再问</a:t>
            </a:r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619125" y="1143000"/>
            <a:ext cx="7239000" cy="1257300"/>
          </a:xfrm>
          <a:prstGeom prst="roundRect">
            <a:avLst>
              <a:gd name="adj" fmla="val 6061"/>
            </a:avLst>
          </a:prstGeom>
          <a:solidFill>
            <a:srgbClr val="202259">
              <a:alpha val="6000"/>
            </a:srgbClr>
          </a:solidFill>
          <a:ln/>
        </p:spPr>
        <p:txBody>
          <a:bodyPr/>
          <a:p/>
        </p:txBody>
      </p:sp>
      <p:sp>
        <p:nvSpPr>
          <p:cNvPr id="768" name=""/>
          <p:cNvSpPr/>
          <p:nvPr/>
        </p:nvSpPr>
        <p:spPr>
          <a:xfrm rot="0" flipH="0" flipV="0">
            <a:off x="619125" y="1143000"/>
            <a:ext cx="7239000" cy="1257300"/>
          </a:xfrm>
          <a:custGeom>
            <a:pathLst>
              <a:path w="760" h="132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29"/>
                </a:lnTo>
                <a:cubicBezTo>
                  <a:pt x="5" y="131"/>
                  <a:pt x="6" y="132"/>
                  <a:pt x="8" y="132"/>
                </a:cubicBezTo>
                <a:cubicBezTo>
                  <a:pt x="3" y="132"/>
                  <a:pt x="0" y="128"/>
                  <a:pt x="0" y="12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828675" y="1466850"/>
            <a:ext cx="1266825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 spc="-150">
                <a:solidFill>
                  <a:srgbClr val="202259"/>
                </a:solidFill>
                <a:latin typeface="Inter"/>
                <a:ea typeface="Inter"/>
              </a:rPr>
              <a:t>100%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2266950" y="1333500"/>
            <a:ext cx="5334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2259"/>
                </a:solidFill>
                <a:latin typeface="Inter"/>
                <a:ea typeface="Inter"/>
              </a:rPr>
              <a:t>数据全部落在浏览器里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2266950" y="1619250"/>
            <a:ext cx="5334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没有后端服务、没有数据库、没有接口调用。页面之间靠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localStorage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传数据，所以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下单成功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只是本地写了一条记录。</a:t>
            </a:r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571500" y="2400300"/>
            <a:ext cx="723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38">
                <a:solidFill>
                  <a:srgbClr val="5C646A"/>
                </a:solidFill>
                <a:latin typeface="Inter"/>
                <a:ea typeface="Inter"/>
              </a:rPr>
              <a:t>数据分三个桶存放</a:t>
            </a:r>
            <a:endParaRPr/>
          </a:p>
        </p:txBody>
      </p:sp>
      <p:sp>
        <p:nvSpPr>
          <p:cNvPr id="773" name=""/>
          <p:cNvSpPr/>
          <p:nvPr/>
        </p:nvSpPr>
        <p:spPr>
          <a:xfrm rot="0" flipH="0" flipV="0">
            <a:off x="571500" y="2714625"/>
            <a:ext cx="2324100" cy="200025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74" name=""/>
          <p:cNvSpPr/>
          <p:nvPr/>
        </p:nvSpPr>
        <p:spPr>
          <a:xfrm rot="0" flipH="0" flipV="0">
            <a:off x="742950" y="28860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47725" y="2990850"/>
            <a:ext cx="209550" cy="209550"/>
          </a:xfrm>
          <a:prstGeom prst="rect">
            <a:avLst/>
          </a:prstGeom>
          <a:ln/>
        </p:spPr>
      </p:pic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742950" y="3419475"/>
            <a:ext cx="1981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2259"/>
                </a:solidFill>
                <a:latin typeface="Inter"/>
                <a:ea typeface="Inter"/>
              </a:rPr>
              <a:t>交易桶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742950" y="3743325"/>
            <a:ext cx="19812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购物车与订单。加购、结算、下单都写这里，订单号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AQ-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开头。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3028950" y="2714625"/>
            <a:ext cx="2324100" cy="200025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79" name=""/>
          <p:cNvSpPr/>
          <p:nvPr/>
        </p:nvSpPr>
        <p:spPr>
          <a:xfrm rot="0" flipH="0" flipV="0">
            <a:off x="3200400" y="28860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305175" y="2990850"/>
            <a:ext cx="209550" cy="209550"/>
          </a:xfrm>
          <a:prstGeom prst="rect">
            <a:avLst/>
          </a:prstGeom>
          <a:ln/>
        </p:spPr>
      </p:pic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3200400" y="3419475"/>
            <a:ext cx="1981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2259"/>
                </a:solidFill>
                <a:latin typeface="Inter"/>
                <a:ea typeface="Inter"/>
              </a:rPr>
              <a:t>身份桶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3200400" y="3743325"/>
            <a:ext cx="19812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登录态与会员主档。会员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ID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、等级、推荐人、收货地址都在这一桶。</a:t>
            </a:r>
            <a:endParaRPr/>
          </a:p>
        </p:txBody>
      </p:sp>
      <p:sp>
        <p:nvSpPr>
          <p:cNvPr id="783" name=""/>
          <p:cNvSpPr/>
          <p:nvPr/>
        </p:nvSpPr>
        <p:spPr>
          <a:xfrm rot="0" flipH="0" flipV="0">
            <a:off x="5486400" y="2714625"/>
            <a:ext cx="2324100" cy="200025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84" name=""/>
          <p:cNvSpPr/>
          <p:nvPr/>
        </p:nvSpPr>
        <p:spPr>
          <a:xfrm rot="0" flipH="0" flipV="0">
            <a:off x="5657850" y="28860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762625" y="2990850"/>
            <a:ext cx="209550" cy="209550"/>
          </a:xfrm>
          <a:prstGeom prst="rect">
            <a:avLst/>
          </a:prstGeom>
          <a:ln/>
        </p:spPr>
      </p:pic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5657850" y="3419475"/>
            <a:ext cx="1981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2259"/>
                </a:solidFill>
                <a:latin typeface="Inter"/>
                <a:ea typeface="Inter"/>
              </a:rPr>
              <a:t>资金桶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5657850" y="3743325"/>
            <a:ext cx="19812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BV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台账与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Ecoin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台账。奖金累计、充值、转账产生的流水记在这里。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571500" y="5391150"/>
            <a:ext cx="7239000" cy="895350"/>
          </a:xfrm>
          <a:prstGeom prst="roundRect">
            <a:avLst>
              <a:gd name="adj" fmla="val 8511"/>
            </a:avLst>
          </a:prstGeom>
          <a:solidFill>
            <a:srgbClr val="F287B7">
              <a:alpha val="14000"/>
            </a:srgbClr>
          </a:solidFill>
          <a:ln/>
        </p:spPr>
        <p:txBody>
          <a:bodyPr/>
          <a:p/>
        </p:txBody>
      </p:sp>
      <p:pic>
        <p:nvPicPr>
          <p:cNvPr id="7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62000" y="5734050"/>
            <a:ext cx="209550" cy="209550"/>
          </a:xfrm>
          <a:prstGeom prst="rect">
            <a:avLst/>
          </a:prstGeom>
          <a:ln/>
        </p:spPr>
      </p:pic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1095375" y="5543550"/>
            <a:ext cx="65246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7A2F5C"/>
                </a:solidFill>
                <a:latin typeface="Inter"/>
                <a:ea typeface="Inter"/>
              </a:rPr>
              <a:t>由此推出一条必须提前说明的结论：</a:t>
            </a:r>
            <a:r>
              <a:rPr lang="zh-CN" sz="1275" b="1">
                <a:solidFill>
                  <a:srgbClr val="7A2F5C"/>
                </a:solidFill>
                <a:latin typeface="Inter"/>
                <a:ea typeface="Inter"/>
              </a:rPr>
              <a:t>换设备、换浏览器或清缓存，数据不会跟着走</a:t>
            </a:r>
            <a:r>
              <a:rPr lang="zh-CN" sz="1275">
                <a:solidFill>
                  <a:srgbClr val="7A2F5C"/>
                </a:solidFill>
                <a:latin typeface="Inter"/>
                <a:ea typeface="Inter"/>
              </a:rPr>
              <a:t>。订单详情页已经内置了这句提示文案。</a:t>
            </a:r>
            <a:endParaRPr/>
          </a:p>
        </p:txBody>
      </p:sp>
      <p:sp>
        <p:nvSpPr>
          <p:cNvPr id="791" name=""/>
          <p:cNvSpPr/>
          <p:nvPr/>
        </p:nvSpPr>
        <p:spPr>
          <a:xfrm rot="0" flipH="0" flipV="0">
            <a:off x="8077200" y="1143000"/>
            <a:ext cx="3543300" cy="5600700"/>
          </a:xfrm>
          <a:prstGeom prst="roundRect">
            <a:avLst>
              <a:gd name="adj" fmla="val 2688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8286750" y="1352550"/>
            <a:ext cx="312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STORAGE KEYS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8286750" y="1619250"/>
            <a:ext cx="3124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Inter"/>
                <a:ea typeface="Inter"/>
              </a:rPr>
              <a:t>六个核心键位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8286750" y="1971675"/>
            <a:ext cx="3124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讲清楚这六行，后面每一处数据来源都能对得上号。</a:t>
            </a:r>
            <a:endParaRPr/>
          </a:p>
        </p:txBody>
      </p:sp>
      <p:sp>
        <p:nvSpPr>
          <p:cNvPr id="795" name=""/>
          <p:cNvSpPr/>
          <p:nvPr/>
        </p:nvSpPr>
        <p:spPr>
          <a:xfrm rot="0" flipH="0" flipV="0">
            <a:off x="8286750" y="2524125"/>
            <a:ext cx="3124200" cy="485775"/>
          </a:xfrm>
          <a:custGeom>
            <a:pathLst>
              <a:path w="328" h="51">
                <a:moveTo>
                  <a:pt x="0" y="50"/>
                </a:moveTo>
                <a:lnTo>
                  <a:pt x="328" y="50"/>
                </a:lnTo>
                <a:lnTo>
                  <a:pt x="328" y="51"/>
                </a:lnTo>
                <a:lnTo>
                  <a:pt x="0" y="51"/>
                </a:lnTo>
                <a:close/>
              </a:path>
            </a:pathLst>
          </a:custGeom>
          <a:solidFill>
            <a:srgbClr val="7FD3EC">
              <a:alpha val="22000"/>
            </a:srgbClr>
          </a:solidFill>
          <a:ln/>
        </p:spPr>
        <p:txBody>
          <a:bodyPr/>
          <a:p/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8286750" y="2609850"/>
            <a:ext cx="1409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7FD3EC"/>
                </a:solidFill>
                <a:latin typeface="Menlo"/>
                <a:ea typeface="Menlo"/>
              </a:rPr>
              <a:t>al.orders</a:t>
            </a:r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9810750" y="2524125"/>
            <a:ext cx="1600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订单数组，新单插到最前</a:t>
            </a:r>
            <a:endParaRPr/>
          </a:p>
        </p:txBody>
      </p:sp>
      <p:sp>
        <p:nvSpPr>
          <p:cNvPr id="798" name=""/>
          <p:cNvSpPr/>
          <p:nvPr/>
        </p:nvSpPr>
        <p:spPr>
          <a:xfrm rot="0" flipH="0" flipV="0">
            <a:off x="8286750" y="3114675"/>
            <a:ext cx="3124200" cy="485775"/>
          </a:xfrm>
          <a:custGeom>
            <a:pathLst>
              <a:path w="328" h="51">
                <a:moveTo>
                  <a:pt x="0" y="50"/>
                </a:moveTo>
                <a:lnTo>
                  <a:pt x="328" y="50"/>
                </a:lnTo>
                <a:lnTo>
                  <a:pt x="328" y="51"/>
                </a:lnTo>
                <a:lnTo>
                  <a:pt x="0" y="51"/>
                </a:lnTo>
                <a:close/>
              </a:path>
            </a:pathLst>
          </a:custGeom>
          <a:solidFill>
            <a:srgbClr val="7FD3EC">
              <a:alpha val="22000"/>
            </a:srgbClr>
          </a:solidFill>
          <a:ln/>
        </p:spPr>
        <p:txBody>
          <a:bodyPr/>
          <a:p/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8286750" y="3200400"/>
            <a:ext cx="1409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7FD3EC"/>
                </a:solidFill>
                <a:latin typeface="Menlo"/>
                <a:ea typeface="Menlo"/>
              </a:rPr>
              <a:t>al.cart</a:t>
            </a:r>
            <a:endParaRPr/>
          </a:p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9810750" y="3114675"/>
            <a:ext cx="1600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购物车，按商品</a:t>
            </a:r>
            <a:r>
              <a:rPr lang="en-US" sz="1200">
                <a:solidFill>
                  <a:srgbClr val="D6E2F5"/>
                </a:solidFill>
                <a:latin typeface="Inter"/>
                <a:ea typeface="Inter"/>
              </a:rPr>
              <a:t> ID </a:t>
            </a: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合并</a:t>
            </a:r>
            <a:endParaRPr/>
          </a:p>
        </p:txBody>
      </p:sp>
      <p:sp>
        <p:nvSpPr>
          <p:cNvPr id="801" name=""/>
          <p:cNvSpPr/>
          <p:nvPr/>
        </p:nvSpPr>
        <p:spPr>
          <a:xfrm rot="0" flipH="0" flipV="0">
            <a:off x="8286750" y="3705225"/>
            <a:ext cx="3124200" cy="314325"/>
          </a:xfrm>
          <a:custGeom>
            <a:pathLst>
              <a:path w="328" h="33">
                <a:moveTo>
                  <a:pt x="0" y="32"/>
                </a:moveTo>
                <a:lnTo>
                  <a:pt x="328" y="32"/>
                </a:lnTo>
                <a:lnTo>
                  <a:pt x="328" y="33"/>
                </a:lnTo>
                <a:lnTo>
                  <a:pt x="0" y="33"/>
                </a:lnTo>
                <a:close/>
              </a:path>
            </a:pathLst>
          </a:custGeom>
          <a:solidFill>
            <a:srgbClr val="7FD3EC">
              <a:alpha val="22000"/>
            </a:srgbClr>
          </a:solidFill>
          <a:ln/>
        </p:spPr>
        <p:txBody>
          <a:bodyPr/>
          <a:p/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8286750" y="3705225"/>
            <a:ext cx="1409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7FD3EC"/>
                </a:solidFill>
                <a:latin typeface="Menlo"/>
                <a:ea typeface="Menlo"/>
              </a:rPr>
              <a:t>al.auth.user</a:t>
            </a:r>
            <a:endParaRPr/>
          </a:p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9810750" y="37147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登录态，登录即写入</a:t>
            </a:r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8286750" y="4124325"/>
            <a:ext cx="3124200" cy="485775"/>
          </a:xfrm>
          <a:custGeom>
            <a:pathLst>
              <a:path w="328" h="51">
                <a:moveTo>
                  <a:pt x="0" y="50"/>
                </a:moveTo>
                <a:lnTo>
                  <a:pt x="328" y="50"/>
                </a:lnTo>
                <a:lnTo>
                  <a:pt x="328" y="51"/>
                </a:lnTo>
                <a:lnTo>
                  <a:pt x="0" y="51"/>
                </a:lnTo>
                <a:close/>
              </a:path>
            </a:pathLst>
          </a:custGeom>
          <a:solidFill>
            <a:srgbClr val="7FD3EC">
              <a:alpha val="22000"/>
            </a:srgbClr>
          </a:solidFill>
          <a:ln/>
        </p:spPr>
        <p:txBody>
          <a:bodyPr/>
          <a:p/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8286750" y="4210050"/>
            <a:ext cx="1409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7FD3EC"/>
                </a:solidFill>
                <a:latin typeface="Menlo"/>
                <a:ea typeface="Menlo"/>
              </a:rPr>
              <a:t>al.memberData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9810750" y="4124325"/>
            <a:ext cx="1600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会员主档，等级与推荐人</a:t>
            </a:r>
            <a:endParaRPr/>
          </a:p>
        </p:txBody>
      </p:sp>
      <p:sp>
        <p:nvSpPr>
          <p:cNvPr id="807" name=""/>
          <p:cNvSpPr/>
          <p:nvPr/>
        </p:nvSpPr>
        <p:spPr>
          <a:xfrm rot="0" flipH="0" flipV="0">
            <a:off x="8286750" y="4714875"/>
            <a:ext cx="3124200" cy="485775"/>
          </a:xfrm>
          <a:custGeom>
            <a:pathLst>
              <a:path w="328" h="51">
                <a:moveTo>
                  <a:pt x="0" y="50"/>
                </a:moveTo>
                <a:lnTo>
                  <a:pt x="328" y="50"/>
                </a:lnTo>
                <a:lnTo>
                  <a:pt x="328" y="51"/>
                </a:lnTo>
                <a:lnTo>
                  <a:pt x="0" y="51"/>
                </a:lnTo>
                <a:close/>
              </a:path>
            </a:pathLst>
          </a:custGeom>
          <a:solidFill>
            <a:srgbClr val="7FD3EC">
              <a:alpha val="22000"/>
            </a:srgbClr>
          </a:solidFill>
          <a:ln/>
        </p:spPr>
        <p:txBody>
          <a:bodyPr/>
          <a:p/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8286750" y="4800600"/>
            <a:ext cx="1409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7FD3EC"/>
                </a:solidFill>
                <a:latin typeface="Menlo"/>
                <a:ea typeface="Menlo"/>
              </a:rPr>
              <a:t>al.bvCredits</a:t>
            </a:r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9810750" y="4714875"/>
            <a:ext cx="1600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200">
                <a:solidFill>
                  <a:srgbClr val="D6E2F5"/>
                </a:solidFill>
                <a:latin typeface="Inter"/>
                <a:ea typeface="Inter"/>
              </a:rPr>
              <a:t>BV </a:t>
            </a: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奖金台账，含推荐返佣</a:t>
            </a:r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8286750" y="5391150"/>
            <a:ext cx="1409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7FD3EC"/>
                </a:solidFill>
                <a:latin typeface="Menlo"/>
                <a:ea typeface="Menlo"/>
              </a:rPr>
              <a:t>al.ecoin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9810750" y="5305425"/>
            <a:ext cx="1600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200">
                <a:solidFill>
                  <a:srgbClr val="D6E2F5"/>
                </a:solidFill>
                <a:latin typeface="Inter"/>
                <a:ea typeface="Inter"/>
              </a:rPr>
              <a:t>Ecoin </a:t>
            </a: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台账，充值转账流水</a:t>
            </a:r>
            <a:endParaRPr/>
          </a:p>
        </p:txBody>
      </p:sp>
      <p:sp>
        <p:nvSpPr>
          <p:cNvPr id="812" name=""/>
          <p:cNvSpPr/>
          <p:nvPr/>
        </p:nvSpPr>
        <p:spPr>
          <a:xfrm rot="0" flipH="0" flipV="0">
            <a:off x="8286750" y="5772150"/>
            <a:ext cx="3124200" cy="762000"/>
          </a:xfrm>
          <a:prstGeom prst="roundRect">
            <a:avLst>
              <a:gd name="adj" fmla="val 7500"/>
            </a:avLst>
          </a:prstGeom>
          <a:solidFill>
            <a:srgbClr val="2AA7CF">
              <a:alpha val="16000"/>
            </a:srgbClr>
          </a:solidFill>
          <a:ln/>
        </p:spPr>
        <p:txBody>
          <a:bodyPr/>
          <a:p/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8420100" y="5886450"/>
            <a:ext cx="2857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额度：单个域下</a:t>
            </a:r>
            <a:r>
              <a:rPr lang="en-US" sz="1200">
                <a:solidFill>
                  <a:srgbClr val="CFE9F4"/>
                </a:solidFill>
                <a:latin typeface="Inter"/>
                <a:ea typeface="Inter"/>
              </a:rPr>
              <a:t> localStorage </a:t>
            </a: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约</a:t>
            </a:r>
            <a:r>
              <a:rPr lang="en-US" sz="1200">
                <a:solidFill>
                  <a:srgbClr val="CFE9F4"/>
                </a:solidFill>
                <a:latin typeface="Inter"/>
                <a:ea typeface="Inter"/>
              </a:rPr>
              <a:t> 5MB</a:t>
            </a: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，当前数据量远未触及上限。</a:t>
            </a:r>
            <a:endParaRPr/>
          </a:p>
        </p:txBody>
      </p:sp>
      <p:sp>
        <p:nvSpPr>
          <p:cNvPr id="814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11115675" y="640080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03 / 25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17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页面地图：从商品到订单&lt;/Text&gt;&#10;        &lt;Text style={{ fontSize: 16, color: '#5C646A', lineHeight: 1.4, marginTop: 6 }}&gt;&#10;            六个页面串成一条主链，订单号是唯一的串场线索&#10;        &lt;/Text&gt;&#10;    &lt;/Box&gt;&#10;&#10;    {/* ===== B 区 内容区（左大图 + 右侧文字） ===== */}&#10;    &lt;Box style={{ height: 540, flexDirection: 'row', gap: 26 }}&gt;&#10;        {/* 左侧主视觉：流程结构图（SVG） */}&#10;        &lt;Box style={{ width: 748, background: '#F4F6F8', borderRadius: 10, padding: 18, justifyContent: 'center' }}&gt;&#10;            &lt;svg width={712} height={492} viewBox='0 0 712 492'&gt;&#10;                {/* 主链连接线 */}&#10;                &lt;line x1='132' y1='64' x2='132' y2='90' stroke='#2AA7CF' strokeWidth='3' /&gt;&#10;                &lt;line x1='132' y1='154' x2='132' y2='180' stroke='#2AA7CF' strokeWidth='3' /&gt;&#10;                &lt;line x1='132' y1='244' x2='132' y2='270' stroke='#2AA7CF' strokeWidth='3' /&gt;&#10;                &lt;line x1='132' y1='334' x2='132' y2='360' stroke='#2AA7CF' strokeWidth='3' /&gt;&#10;&#10;                {/* 节点 1 */}&#10;                &lt;rect x='0' y='0' width='264' height='64' rx='8' fill='#202259' /&gt;&#10;                &lt;text x='18' y='27' fill='#FFFFFF' fontSize='17' fontWeight='bold' fontFamily='Inter, PingFang SC, sans-serif'&gt;products.html&lt;/text&gt;&#10;                &lt;text x='18' y='48' fill='#7FD3EC' fontSize='14' fontFamily='Inter, PingFang SC, sans-serif'&gt;商品列表与详情 · Add to Cart&lt;/text&gt;&#10;&#10;                {/* 节点 2 */}&#10;                &lt;rect x='0' y='90' width='264' height='64' rx='8' fill='#202259' /&gt;&#10;                &lt;text x='18' y='117' fill='#FFFFFF' fontSize='17' fontWeight='bold' fontFamily='Inter, PingFang SC, sans-serif'&gt;cart.html&lt;/text&gt;&#10;                &lt;text x='18' y='138' fill='#7FD3EC' fontSize='14' fontFamily='Inter, PingFang SC, sans-serif'&gt;购物车 · Proceed to checkout&lt;/text&gt;&#10;&#10;                {/* 节点 3 */}&#10;                &lt;rect x='0' y='180' width='264' height='64' rx='8' fill='#152964' stroke='#F287B7' strokeWidth='2' /&gt;&#10;                &lt;text x='18' y='207' fill='#FFFFFF' fontSize='17' fontWeight='bold' fontFamily='Inter, PingFang SC, sans-serif'&gt;checkout.html&lt;/text&gt;&#10;                &lt;text x='18' y='228' fill='#F7BEDC' fontSize='14' fontFamily='Inter, PingFang SC, sans-serif'&gt;结算 · 配送 / 支付 / 摘要&lt;/text&gt;&#10;&#10;                {/* 节点 4 */}&#10;                &lt;rect x='0' y='270' width='264' height='64' rx='8' fill='#202259' /&gt;&#10;                &lt;text x='18' y='297' fill='#FFFFFF' fontSize='17' fontWeight='bold' fontFamily='Inter, PingFang SC, sans-serif'&gt;shipping.html&lt;/text&gt;&#10;                &lt;text x='18' y='318' fill='#7FD3EC' fontSize='14' fontFamily='Inter, PingFang SC, sans-serif'&gt;下单落地页 · Awaiting delivery&lt;/text&gt;&#10;&#10;                {/* 节点 5 */}&#10;                &lt;rect x='0' y='360' width='264' height='64' rx='8' fill='#202259' /&gt;&#10;                &lt;text x='18' y='387' fill='#FFFFFF' fontSize='17' fontWeight='bold' fontFamily='Inter, PingFang SC, sans-serif'&gt;order.html&lt;/text&gt;&#10;                &lt;text x='18' y='408' fill='#7FD3EC' fontSize='14' fontFamily='Inter, PingFang SC, sans-serif'&gt;订单详情 · ?order=AQ-XXXXXX&lt;/text&gt;&#10;&#10;                {/* 右侧 account 节点 */}&#10;                &lt;rect x='408' y='180' width='304' height='64' rx='8' fill='#FFFFFF' stroke='#202259' strokeWidth='2' /&gt;&#10;                &lt;text x='426' y='207' fill='#202259' fontSize='17' fontWeight='bold' fontFamily='Inter, PingFang SC, sans-serif'&gt;account.html&lt;/text&gt;&#10;                &lt;text x='426' y='228' fill='#5C646A' fontSize='14' fontFamily='Inter, PingFang SC, sans-serif'&gt;我的账户 · My orders 列表&lt;/text&gt;&#10;&#10;                {/* checkout -&gt; account 虚线 */}&#10;                &lt;line x1='264' y1='212' x2='408' y2='212' stroke='#859EB3' strokeWidth='2' strokeDasharray='6 5' /&gt;&#10;&#10;                {/* 订单号串联标注 */}&#10;                &lt;line x1='132' y1='424' x2='132' y2='460' stroke='#F287B7' strokeWidth='3' /&gt;&#10;                &lt;line x1='132' y1='460' x2='620' y2='460' stroke='#F287B7' strokeWidth='3' /&gt;&#10;                &lt;circle cx='620' cy='460' r='5' fill='#F287B7' /&gt;&#10;                &lt;text x='352' y='452' fill='#B3528A' fontSize='15' fontWeight='bold' fontFamily='Inter, PingFang SC, sans-serif'&gt;订单号串起全链&lt;/text&gt;&#10;&#10;                {/* account -&gt; order 关联 */}&#10;                &lt;line x1='560' y1='244' x2='560' y2='392' stroke='#859EB3' strokeWidth='2' strokeDasharray='6 5' /&gt;&#10;                &lt;line x1='560' y1='392' x2='264' y2='392' stroke='#859EB3' strokeWidth='2' strokeDasharray='6 5' /&gt;&#10;                &lt;text x='330' y='384' fill='#5C646A' fontSize='14' fontFamily='Inter, PingFang SC, sans-serif'&gt;点订单号跳转&lt;/text&gt;&#10;&#10;                {/* 入口模式标注 */}&#10;                &lt;text x='300' y='124' fill='#5C646A' fontSize='14' fontFamily='Inter, PingFang SC, sans-serif'&gt;?cart=1 购物车模式&lt;/text&gt;&#10;                &lt;text x='300' y='146' fill='#5C646A' fontSize='14' fontFamily='Inter, PingFang SC, sans-serif'&gt;?id= 单品直购模式&lt;/text&gt;&#10;                &lt;line x1='266' y1='118' x2='296' y2='118' stroke='#2AA7CF' strokeWidth='2' /&gt;&#10;                &lt;line x1='266' y1='140' x2='296' y2='140' stroke='#2AA7CF' strokeWidth='2' /&gt;&#10;            &lt;/svg&gt;&#10;        &lt;/Box&gt;&#10;&#10;        {/* 右侧文字 */}&#10;        &lt;Box style={{ flex: 1, flexDirection: 'column', justifyContent: 'space-between' }}&gt;&#10;            &lt;Box style={{ flexDirection: 'column' }}&gt;&#10;                &lt;Text style={{ fontSize: 15, color: '#2AA7CF', letterSpacing: 2, fontWeight: 'bold' }}&gt;HOW TO READ&lt;/Text&gt;&#10;                &lt;Text style={{ fontSize: 23, fontWeight: 'bold', color: '#202259', marginTop: 10, lineHeight: 1.35 }}&gt;&#10;                    三种进入结算页的方式，实际只跑通一种&#10;                &lt;/Text&gt;&#10;                &lt;Box style={{ flexDirection: 'column', gap: 14, marginTop: 18 }}&gt;&#10;                    &lt;Box style={{ flexDirection: 'row', gap: 12, alignItems: 'flex-start' }}&gt;&#10;                        &lt;Box style={{ width: 26, height: 26, borderRadius: 13, background: '#2AA7CF', justifyContent: 'center', alignItems: 'center' }}&gt;&#10;                            &lt;Text style={{ fontSize: 15, fontWeight: 'bold', color: '#FFFFFF' }}&gt;1&lt;/Text&gt;&#10;                        &lt;/Box&gt;&#10;                        &lt;Text style={{ fontSize: 17, color: '#3F4A55', lineHeight: 1.5, flex: 1 }}&gt;&#10;                            &lt;span style={{ fontWeight: 'bold', color: '#202259' }}&gt;购物车模式（?cart=1）&lt;/span&gt;：全站唯一在用的入口，购物车页按钮和商品详情页 Buy Now 都指向它。&#10;                        &lt;/Text&gt;&#10;                    &lt;/Box&gt;&#10;                    &lt;Box style={{ flexDirection: 'row', gap: 12, alignItems: 'flex-start' }}&gt;&#10;                        &lt;Box style={{ width: 26, height: 26, borderRadius: 13, background: '#859EB3', justifyContent: 'center', alignItems: 'center' }}&gt;&#10;                            &lt;Text style={{ fontSize: 15, fontWeight: 'bold', color: '#FFFFFF' }}&gt;2&lt;/Text&gt;&#10;                        &lt;/Box&gt;&#10;                        &lt;Text style={{ fontSize: 17, color: '#3F4A55', lineHeight: 1.5, flex: 1 }}&gt;&#10;                            &lt;span style={{ fontWeight: 'bold', color: '#202259' }}&gt;单品直购模式（?id=）&lt;/span&gt;：代码已实现，但站内没有任何按钮链到它，属于预留路径，目前只能手工拼 URL 打开。&#10;                        &lt;/Text&gt;&#10;                    &lt;/Box&gt;&#10;                    &lt;Box style={{ flexDirection: 'row', gap: 12, alignItems: 'flex-start' }}&gt;&#10;                        &lt;Box style={{ width: 26, height: 26, borderRadius: 13, background: '#F287B7', justifyContent: 'center', alignItems: 'center' }}&gt;&#10;                            &lt;Text style={{ fontSize: 15, fontWeight: 'bold', color: '#FFFFFF' }}&gt;3&lt;/Text&gt;&#10;                        &lt;/Box&gt;&#10;                        &lt;Text style={{ fontSize: 17, color: '#3F4A55', lineHeight: 1.5, flex: 1 }}&gt;&#10;                            &lt;span style={{ fontWeight: 'bold', color: '#202259' }}&gt;下单之后的落地页是 shipping.html&lt;/span&gt;，不是&quot;成功页&quot;。它负责展示待发货状态，真正的订单信息在 order.html。&#10;                        &lt;/Text&gt;&#10;                    &lt;/Box&gt;&#10;                &lt;/Box&gt;&#10;            &lt;/Box&gt;&#10;&#10;            &lt;Box style={{ padding: '16px 18px', background: 'rgba(32,34,89,0.06)', borderRadius: 8, flexDirection: 'row', gap: 12, alignItems: 'center', marginTop: 'auto' }}&gt;&#10;                &lt;FAIcon name='lightbulb' style={{ fill: '#202259', width: 22, height: 22 }} /&gt;&#10;                &lt;Text style={{ fontSize: 17, color: '#202259', lineHeight: 1.5 }}&gt;&#10;                    演示时就按这条链走一遍，六个页面一条线，负责人很容易建立地图感。&#10;                &lt;/Text&gt;&#10;            &lt;/Box&gt;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04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页面地图：从商品到订单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六个页面串成一条主链，订单号是唯一的串场线索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571500" y="1143000"/>
            <a:ext cx="7124700" cy="5143500"/>
          </a:xfrm>
          <a:prstGeom prst="roundRect">
            <a:avLst>
              <a:gd name="adj" fmla="val 1852"/>
            </a:avLst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8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2950" y="1371600"/>
            <a:ext cx="6781800" cy="4686300"/>
          </a:xfrm>
          <a:prstGeom prst="rect">
            <a:avLst/>
          </a:prstGeom>
          <a:ln/>
        </p:spPr>
      </p:pic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7943850" y="1143000"/>
            <a:ext cx="3676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AA7CF"/>
                </a:solidFill>
                <a:latin typeface="Inter"/>
                <a:ea typeface="Inter"/>
              </a:rPr>
              <a:t>HOW TO READ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7943850" y="1409700"/>
            <a:ext cx="36766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725" b="1">
                <a:solidFill>
                  <a:srgbClr val="202259"/>
                </a:solidFill>
                <a:latin typeface="Inter"/>
                <a:ea typeface="Inter"/>
              </a:rPr>
              <a:t>三种进入结算页的方式，实际只跑通一种</a:t>
            </a:r>
            <a:endParaRPr/>
          </a:p>
        </p:txBody>
      </p:sp>
      <p:sp>
        <p:nvSpPr>
          <p:cNvPr id="825" name=""/>
          <p:cNvSpPr/>
          <p:nvPr/>
        </p:nvSpPr>
        <p:spPr>
          <a:xfrm rot="0" flipH="0" flipV="0">
            <a:off x="7943850" y="22955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8039100" y="2333625"/>
            <a:ext cx="66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8305800" y="2295525"/>
            <a:ext cx="33147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购物车模式（</a:t>
            </a: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?cart=1</a:t>
            </a: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）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：全站唯一在用的入口，购物车页按钮和商品详情页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Buy Now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都指向它。</a:t>
            </a:r>
            <a:endParaRPr/>
          </a:p>
        </p:txBody>
      </p:sp>
      <p:sp>
        <p:nvSpPr>
          <p:cNvPr id="828" name=""/>
          <p:cNvSpPr/>
          <p:nvPr/>
        </p:nvSpPr>
        <p:spPr>
          <a:xfrm rot="0" flipH="0" flipV="0">
            <a:off x="7943850" y="33051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859EB3"/>
          </a:solidFill>
          <a:ln/>
        </p:spPr>
        <p:txBody>
          <a:bodyPr/>
          <a:p/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8029575" y="334327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2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8305800" y="3305175"/>
            <a:ext cx="33147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单品直购模式（</a:t>
            </a: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?id=</a:t>
            </a: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）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：代码已实现，但站内没有任何按钮链到它，属于预留路径，目前只能手工拼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URL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打开。</a:t>
            </a:r>
            <a:endParaRPr/>
          </a:p>
        </p:txBody>
      </p:sp>
      <p:sp>
        <p:nvSpPr>
          <p:cNvPr id="831" name=""/>
          <p:cNvSpPr/>
          <p:nvPr/>
        </p:nvSpPr>
        <p:spPr>
          <a:xfrm rot="0" flipH="0" flipV="0">
            <a:off x="7943850" y="43148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8029575" y="435292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8305800" y="4314825"/>
            <a:ext cx="33147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下单之后的落地页是</a:t>
            </a: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 shipping.html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，不是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成功页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。它负责展示待发货状态，真正的订单信息在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order.html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834" name=""/>
          <p:cNvSpPr/>
          <p:nvPr/>
        </p:nvSpPr>
        <p:spPr>
          <a:xfrm rot="0" flipH="0" flipV="0">
            <a:off x="7943850" y="5391150"/>
            <a:ext cx="3676650" cy="895350"/>
          </a:xfrm>
          <a:prstGeom prst="roundRect">
            <a:avLst>
              <a:gd name="adj" fmla="val 8511"/>
            </a:avLst>
          </a:prstGeom>
          <a:solidFill>
            <a:srgbClr val="202259">
              <a:alpha val="6000"/>
            </a:srgbClr>
          </a:solidFill>
          <a:ln/>
        </p:spPr>
        <p:txBody>
          <a:bodyPr/>
          <a:p/>
        </p:txBody>
      </p:sp>
      <p:pic>
        <p:nvPicPr>
          <p:cNvPr id="8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15300" y="5734050"/>
            <a:ext cx="209550" cy="209550"/>
          </a:xfrm>
          <a:prstGeom prst="rect">
            <a:avLst/>
          </a:prstGeom>
          <a:ln/>
        </p:spPr>
      </p:pic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8420100" y="5543550"/>
            <a:ext cx="30289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202259"/>
                </a:solidFill>
                <a:latin typeface="Inter"/>
                <a:ea typeface="Inter"/>
              </a:rPr>
              <a:t>演示时就按这条链走一遍，六个页面一条线，负责人很容易建立地图感。</a:t>
            </a:r>
            <a:endParaRPr/>
          </a:p>
        </p:txBody>
      </p:sp>
      <p:sp>
        <p:nvSpPr>
          <p:cNvPr id="837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11115675" y="640080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04 / 25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0" name="" descr="&lt;Slide style={{ width: 1280, height: 720, position: 'relative', fontFamily: 'Inter, PingFang SC, Helvetica Neue, sans-serif', background: '#0F1034' }}&gt;&#10;    &lt;Image src='resources/images/section_flow.jpg' style={{ position: 'absolute', top: 0, left: 0, width: 1280, height: 720, objectFit: 'cover' }} /&gt;&#10;    &lt;Box style={{ position: 'absolute', top: 0, left: 0, width: 1280, height: 720, background: 'linear-gradient(90deg, rgba(15,16,52,0.94) 0%, rgba(15,16,52,0.82) 46%, rgba(15,16,52,0.4) 76%, rgba(15,16,52,0.72) 100%)' }} /&gt;&#10;    &lt;Box style={{ position: 'absolute', bottom: 0, right: 0, width: 520, height: 240, background: 'linear-gradient(315deg, rgba(8,10,32,1) 0%, rgba(8,10,32,0.9) 24%, rgba(8,10,32,0) 64%)' }} /&gt;&#10;&#10;    &lt;Box style={{ position: 'relative', width: '100%', height: '100%', padding: '72px 80px', flexDirection: 'column', justifyContent: 'center' }}&gt;&#10;        &lt;Box style={{ flexDirection: 'row', alignItems: 'center', gap: 16 }}&gt;&#10;            &lt;Text style={{ fontSize: 96, fontWeight: 'bold', color: 'rgba(42,167,207,0.55)', lineHeight: 1, letterSpacing: -3 }}&gt;01&lt;/Text&gt;&#10;            &lt;Box style={{ width: 56, height: 4, background: '#2AA7CF' }} /&gt;&#10;            &lt;Text style={{ fontSize: 17, color: '#7FD3EC', letterSpacing: 3, fontWeight: 'bold' }}&gt;CHAPTER ONE&lt;/Text&gt;&#10;        &lt;/Box&gt;&#10;&#10;        &lt;Text style={{ fontSize: 64, fontWeight: 'bold', color: '#FFFFFF', lineHeight: 1.1, letterSpacing: -1, marginTop: 26 }}&gt;&#10;            下单流程&#10;        &lt;/Text&gt;&#10;        &lt;Text style={{ fontSize: 24, color: '#B9C6E4', lineHeight: 1.5, marginTop: 18, width: 780 }}&gt;&#10;            六个环节、三格步骤条、五种支付方式，以及一条最容易讲错的 BV 归属规则。&#10;        &lt;/Text&gt;&#10;&#10;        &lt;Box style={{ flexDirection: 'row', gap: 14, marginTop: 40 }}&gt;&#10;            {['加购与购物车', '配送与自提', '五种支付方式', '订单落库与状态'].map(function (t, i) {&#10;                return (&#10;                    &lt;Box key={i} style={{ padding: '10px 20px', background: 'rgba(255,255,255,0.08)', border: '1px solid rgba(127,211,236,0.3)', borderRadius: 999, flexDirection: 'row', alignItems: 'center', gap: 9 }}&gt;&#10;                        &lt;Box style={{ width: 6, height: 6, borderRadius: 3, background: '#2AA7CF' }} /&gt;&#10;                        &lt;Text style={{ fontSize: 16, color: '#D6E2F5' }}&gt;{t}&lt;/Text&gt;&#10;                    &lt;/Box&gt;&#10;                );&#10;            })}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034"/>
          </a:solidFill>
          <a:ln/>
        </p:spPr>
        <p:txBody>
          <a:bodyPr/>
          <a:p/>
        </p:txBody>
      </p:sp>
      <p:pic>
        <p:nvPicPr>
          <p:cNvPr id="842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034">
                  <a:alpha val="94000"/>
                </a:srgbClr>
              </a:gs>
              <a:gs pos="46000">
                <a:srgbClr val="0F1034">
                  <a:alpha val="82000"/>
                </a:srgbClr>
              </a:gs>
              <a:gs pos="76000">
                <a:srgbClr val="0F1034">
                  <a:alpha val="40000"/>
                </a:srgbClr>
              </a:gs>
              <a:gs pos="100000">
                <a:srgbClr val="0F1034">
                  <a:alpha val="72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844" name=""/>
          <p:cNvSpPr/>
          <p:nvPr/>
        </p:nvSpPr>
        <p:spPr>
          <a:xfrm rot="0" flipH="0" flipV="0">
            <a:off x="7239000" y="4572000"/>
            <a:ext cx="4953000" cy="2286000"/>
          </a:xfrm>
          <a:prstGeom prst="rect">
            <a:avLst/>
          </a:prstGeom>
          <a:gradFill>
            <a:gsLst>
              <a:gs pos="0">
                <a:srgbClr val="080A20">
                  <a:alpha val="100000"/>
                </a:srgbClr>
              </a:gs>
              <a:gs pos="24000">
                <a:srgbClr val="080A20">
                  <a:alpha val="90000"/>
                </a:srgbClr>
              </a:gs>
              <a:gs pos="64000">
                <a:srgbClr val="080A20">
                  <a:alpha val="0"/>
                </a:srgbClr>
              </a:gs>
            </a:gsLst>
            <a:lin ang="13500000" scaled="1"/>
          </a:gradFill>
          <a:ln/>
        </p:spPr>
        <p:txBody>
          <a:bodyPr/>
          <a:p/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762000" y="1466850"/>
            <a:ext cx="8667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225">
                <a:solidFill>
                  <a:srgbClr val="2AA7CF">
                    <a:alpha val="55000"/>
                  </a:srgbClr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846" name=""/>
          <p:cNvSpPr/>
          <p:nvPr/>
        </p:nvSpPr>
        <p:spPr>
          <a:xfrm rot="0" flipH="0" flipV="0">
            <a:off x="1781175" y="2000250"/>
            <a:ext cx="533400" cy="38100"/>
          </a:xfrm>
          <a:prstGeom prst="rect">
            <a:avLst/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2466975" y="1924050"/>
            <a:ext cx="1495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225">
                <a:solidFill>
                  <a:srgbClr val="7FD3EC"/>
                </a:solidFill>
                <a:latin typeface="Inter"/>
                <a:ea typeface="Inter"/>
              </a:rPr>
              <a:t>CHAPTER ONE</a:t>
            </a:r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762000" y="2819400"/>
            <a:ext cx="1066800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 spc="-75">
                <a:solidFill>
                  <a:srgbClr val="FFFFFF"/>
                </a:solidFill>
                <a:latin typeface="Inter"/>
                <a:ea typeface="Inter"/>
              </a:rPr>
              <a:t>下单流程</a:t>
            </a:r>
            <a:endParaRPr/>
          </a:p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762000" y="3800475"/>
            <a:ext cx="7429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800">
                <a:solidFill>
                  <a:srgbClr val="B9C6E4"/>
                </a:solidFill>
                <a:latin typeface="Inter"/>
                <a:ea typeface="Inter"/>
              </a:rPr>
              <a:t>六个环节、三格步骤条、五种支付方式，以及一条最容易讲错的</a:t>
            </a:r>
            <a:r>
              <a:rPr lang="en-US" sz="1800">
                <a:solidFill>
                  <a:srgbClr val="B9C6E4"/>
                </a:solidFill>
                <a:latin typeface="Inter"/>
                <a:ea typeface="Inter"/>
              </a:rPr>
              <a:t> BV </a:t>
            </a:r>
            <a:r>
              <a:rPr lang="zh-CN" sz="1800">
                <a:solidFill>
                  <a:srgbClr val="B9C6E4"/>
                </a:solidFill>
                <a:latin typeface="Inter"/>
                <a:ea typeface="Inter"/>
              </a:rPr>
              <a:t>归属规则。</a:t>
            </a:r>
            <a:endParaRPr/>
          </a:p>
        </p:txBody>
      </p:sp>
      <p:sp>
        <p:nvSpPr>
          <p:cNvPr id="850" name=""/>
          <p:cNvSpPr/>
          <p:nvPr/>
        </p:nvSpPr>
        <p:spPr>
          <a:xfrm rot="0" flipH="0" flipV="0">
            <a:off x="762000" y="5010150"/>
            <a:ext cx="14382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1" name=""/>
          <p:cNvSpPr/>
          <p:nvPr/>
        </p:nvSpPr>
        <p:spPr>
          <a:xfrm rot="0" flipH="0" flipV="0">
            <a:off x="952500" y="5172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1095375" y="51054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加购与购物车</a:t>
            </a:r>
            <a:endParaRPr/>
          </a:p>
        </p:txBody>
      </p:sp>
      <p:sp>
        <p:nvSpPr>
          <p:cNvPr id="853" name=""/>
          <p:cNvSpPr/>
          <p:nvPr/>
        </p:nvSpPr>
        <p:spPr>
          <a:xfrm rot="0" flipH="0" flipV="0">
            <a:off x="2333625" y="5010150"/>
            <a:ext cx="12858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4" name=""/>
          <p:cNvSpPr/>
          <p:nvPr/>
        </p:nvSpPr>
        <p:spPr>
          <a:xfrm rot="0" flipH="0" flipV="0">
            <a:off x="2524125" y="5172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2667000" y="51054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配送与自提</a:t>
            </a:r>
            <a:endParaRPr/>
          </a:p>
        </p:txBody>
      </p:sp>
      <p:sp>
        <p:nvSpPr>
          <p:cNvPr id="856" name=""/>
          <p:cNvSpPr/>
          <p:nvPr/>
        </p:nvSpPr>
        <p:spPr>
          <a:xfrm rot="0" flipH="0" flipV="0">
            <a:off x="3752850" y="5010150"/>
            <a:ext cx="14382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7" name=""/>
          <p:cNvSpPr/>
          <p:nvPr/>
        </p:nvSpPr>
        <p:spPr>
          <a:xfrm rot="0" flipH="0" flipV="0">
            <a:off x="3943350" y="5172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4086225" y="51054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五种支付方式</a:t>
            </a:r>
            <a:endParaRPr/>
          </a:p>
        </p:txBody>
      </p:sp>
      <p:sp>
        <p:nvSpPr>
          <p:cNvPr id="859" name=""/>
          <p:cNvSpPr/>
          <p:nvPr/>
        </p:nvSpPr>
        <p:spPr>
          <a:xfrm rot="0" flipH="0" flipV="0">
            <a:off x="5324475" y="5010150"/>
            <a:ext cx="15906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60" name=""/>
          <p:cNvSpPr/>
          <p:nvPr/>
        </p:nvSpPr>
        <p:spPr>
          <a:xfrm rot="0" flipH="0" flipV="0">
            <a:off x="5514975" y="5172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5657850" y="510540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订单落库与状态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62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下单六步：用户实际点了什么&lt;/Text&gt;&#10;        &lt;Text style={{ fontSize: 16, color: '#5C646A', lineHeight: 1.4, marginTop: 6 }}&gt;&#10;            按真实点击顺序排列，括号里是界面上的英文按钮原文&#10;        &lt;/Text&gt;&#10;    &lt;/Box&gt;&#10;&#10;    {/* ===== B 区 内容区（非对称双栏 60:40） ===== */}&#10;    &lt;Box style={{ height: 540, flexDirection: 'row', gap: 26 }}&gt;&#10;        {/* 左侧竖向流程 SVG */}&#10;        &lt;Box style={{ width: 700, background: '#F4F6F8', borderRadius: 10, padding: 16, justifyContent: 'center' }}&gt;&#10;            &lt;svg width={668} height={500} viewBox='0 0 668 500'&gt;&#10;                {/* 竖向时间轴 */}&#10;                &lt;line x1='32' y1='30' x2='32' y2='470' stroke='#2AA7CF' strokeWidth='2' strokeDasharray='5 5' /&gt;&#10;&#10;                {[&#10;                    { t: '浏览商品，点 Add to Cart', d: 'products.html 卡片与商品详情页都有加购按钮' },&#10;                    { t: '打开购物车，核对数量', d: 'cart.html · 数量范围 1–99，可改可删' },&#10;                    { t: '点 Proceed to checkout 进结算', d: '跳转 checkout.html?cart=1' },&#10;                    { t: '选配送方式，填联系人', d: 'Door delivery 或 Self-pickup，再填电话邮箱' },&#10;                    { t: '选支付方式', d: 'COD / Card / USSD / Bank transfer / Account Balance' },&#10;                    { t: '勾同意项，点 Place order 下单', d: '写库后跳 shipping.html?order=AQ-XXXXXX' },&#10;                ].map(function (it, i) {&#10;                    var y = i * 80;&#10;                    return (&#10;                        &lt;g key={i}&gt;&#10;                            &lt;circle cx='32' cy={y + 30} r='20' fill={i === 5 ? '#F287B7' : '#202259'} /&gt;&#10;                            &lt;text x='32' y={y + 36} fill='#FFFFFF' fontSize='17' fontWeight='bold' textAnchor='middle' fontFamily='Inter, PingFang SC, sans-serif'&gt;{i + 1}&lt;/text&gt;&#10;                            &lt;rect x='70' y={y} width='586' height='62' rx='8' fill={i === 5 ? 'rgba(242,135,183,0.14)' : '#FFFFFF'} stroke={i === 5 ? '#F287B7' : '#E3E6E8'} strokeWidth='1.5' /&gt;&#10;                            &lt;text x='88' y={y + 27} fill='#202259' fontSize='18' fontWeight='bold' fontFamily='Inter, PingFang SC, sans-serif'&gt;{it.t}&lt;/text&gt;&#10;                            &lt;text x='88' y={y + 49} fill='#5C646A' fontSize='15' fontFamily='Inter, PingFang SC, sans-serif'&gt;{it.d}&lt;/text&gt;&#10;                        &lt;/g&gt;&#10;                    );&#10;                })}&#10;            &lt;/svg&gt;&#10;        &lt;/Box&gt;&#10;&#10;        {/* 右侧要点 */}&#10;        &lt;Box style={{ flex: 1, flexDirection: 'column', justifyContent: 'space-between' }}&gt;&#10;            &lt;Box style={{ flexDirection: 'column' }}&gt;&#10;                &lt;Text style={{ fontSize: 15, color: '#2AA7CF', letterSpacing: 2, fontWeight: 'bold' }}&gt;KEY POINTS&lt;/Text&gt;&#10;                &lt;Text style={{ fontSize: 23, fontWeight: 'bold', color: '#202259', marginTop: 10, lineHeight: 1.35 }}&gt;&#10;                    三个容易被问到的细节&#10;                &lt;/Text&gt;&#10;&#10;                &lt;Box style={{ flexDirection: 'column', gap: 14, marginTop: 18 }}&gt;&#10;                    {[&#10;                        { n: '01', t: 'Buy Now 会跳过购物车', d: '商品详情页的 Buy Now 直接进 checkout?cart=1，它先把商品写进购物车再跳转，所以购物车里的东西也会一起被结算。' },&#10;                        { n: '02', t: '步骤条只有 3 格，表单在一页', d: '步骤条显示 Confirm your order / Payment method / Shipping pickup 三格，但所有区块其实是同页垂直铺开的，点支付方式只切换显示面板。' },&#10;                        { n: '03', t: '下单按钮不是随时可点', d: '两项同意勾选、配送信息填全、邮箱合法、卡信息通过校验、余额充足 —— 五类条件全部满足按钮才放行。' },&#10;                    ].map(function (it, i) {&#10;                        return (&#10;                            &lt;Box key={i} style={{ flexDirection: 'row', gap: 12, alignItems: 'flex-start' }}&gt;&#10;                                &lt;Text style={{ fontSize: 17, fontWeight: 'bold', color: '#2AA7CF', fontFamily: 'Menlo, ui-monospace, monospace' }}&gt;{it.n}&lt;/Text&gt;&#10;                                &lt;Box style={{ flex: 1, flexDirection: 'column' }}&gt;&#10;                                    &lt;Text style={{ fontSize: 19, fontWeight: 'bold', color: '#202259', lineHeight: 1.35 }}&gt;{it.t}&lt;/Text&gt;&#10;                                    &lt;Text style={{ fontSize: 17, color: '#3F4A55', lineHeight: 1.5, marginTop: 5 }}&gt;{it.d}&lt;/Text&gt;&#10;                                &lt;/Box&gt;&#10;                            &lt;/Box&gt;&#10;                        );&#10;                    })}&#10;                &lt;/Box&gt;&#10;            &lt;/Box&gt;&#10;&#10;            &lt;Box style={{ padding: '16px 18px', background: '#202259', borderRadius: 8, flexDirection: 'row', gap: 12, alignItems: 'center', marginTop: 'auto' }}&gt;&#10;                &lt;FAIcon name='route' style={{ fill: '#7FD3EC', width: 22, height: 22 }} /&gt;&#10;                &lt;Text style={{ fontSize: 17, color: '#D6E2F5', lineHeight: 1.5 }}&gt;&#10;                    从第 1 步到第 6 步，用户只需要点 6 次，全程不跳外部页面。&#10;                &lt;/Text&gt;&#10;            &lt;/Box&gt;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06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下单六步：用户实际点了什么</a:t>
            </a:r>
            <a:endParaRPr/>
          </a:p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按真实点击顺序排列，括号里是界面上的英文按钮原文</a:t>
            </a:r>
            <a:endParaRPr/>
          </a:p>
        </p:txBody>
      </p:sp>
      <p:sp>
        <p:nvSpPr>
          <p:cNvPr id="866" name=""/>
          <p:cNvSpPr/>
          <p:nvPr/>
        </p:nvSpPr>
        <p:spPr>
          <a:xfrm rot="0" flipH="0" flipV="0">
            <a:off x="571500" y="1143000"/>
            <a:ext cx="6667500" cy="5143500"/>
          </a:xfrm>
          <a:prstGeom prst="roundRect">
            <a:avLst>
              <a:gd name="adj" fmla="val 1852"/>
            </a:avLst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8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" y="1333500"/>
            <a:ext cx="6362700" cy="4762500"/>
          </a:xfrm>
          <a:prstGeom prst="rect">
            <a:avLst/>
          </a:prstGeom>
          <a:ln/>
        </p:spPr>
      </p:pic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7486650" y="1143000"/>
            <a:ext cx="413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AA7CF"/>
                </a:solidFill>
                <a:latin typeface="Inter"/>
                <a:ea typeface="Inter"/>
              </a:rPr>
              <a:t>KEY POINTS</a:t>
            </a:r>
            <a:endParaRPr/>
          </a:p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7486650" y="1409700"/>
            <a:ext cx="4133850" cy="3619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725" b="1">
                <a:solidFill>
                  <a:srgbClr val="202259"/>
                </a:solidFill>
                <a:latin typeface="Inter"/>
                <a:ea typeface="Inter"/>
              </a:rPr>
              <a:t>三个容易被问到的细节</a:t>
            </a:r>
            <a:endParaRPr/>
          </a:p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7486650" y="19431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A7CF"/>
                </a:solidFill>
                <a:latin typeface="Menlo"/>
                <a:ea typeface="Menlo"/>
              </a:rPr>
              <a:t>01</a:t>
            </a:r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7800975" y="1943100"/>
            <a:ext cx="3819525" cy="295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Buy Now </a:t>
            </a: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会跳过购物车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7800975" y="2286000"/>
            <a:ext cx="381952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商品详情页的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Buy Now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直接进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checkout?cart=1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，它先把商品写进购物车再跳转，所以购物车里的东西也会一起被结算。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7486650" y="329565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A7CF"/>
                </a:solidFill>
                <a:latin typeface="Menlo"/>
                <a:ea typeface="Menlo"/>
              </a:rPr>
              <a:t>02</a:t>
            </a:r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7800975" y="3295650"/>
            <a:ext cx="3819525" cy="295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步骤条只有</a:t>
            </a: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 3 </a:t>
            </a: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格，表单在一页</a:t>
            </a:r>
            <a:endParaRPr/>
          </a:p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7800975" y="3638550"/>
            <a:ext cx="381952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步骤条显示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Confirm your order / Payment method / Shipping pickup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三格，但所有区块其实是同页垂直铺开的，点支付方式只切换显示面板。</a:t>
            </a:r>
            <a:endParaRPr/>
          </a:p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7486650" y="46482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A7CF"/>
                </a:solidFill>
                <a:latin typeface="Menlo"/>
                <a:ea typeface="Menlo"/>
              </a:rPr>
              <a:t>03</a:t>
            </a:r>
            <a:endParaRPr/>
          </a:p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7800975" y="4648200"/>
            <a:ext cx="3819525" cy="295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下单按钮不是随时可点</a:t>
            </a:r>
            <a:endParaRPr/>
          </a:p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7800975" y="4991100"/>
            <a:ext cx="381952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两项同意勾选、配送信息填全、邮箱合法、卡信息通过校验、余额充足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——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五类条件全部满足按钮才放行。</a:t>
            </a:r>
            <a:endParaRPr/>
          </a:p>
        </p:txBody>
      </p:sp>
      <p:sp>
        <p:nvSpPr>
          <p:cNvPr id="879" name=""/>
          <p:cNvSpPr/>
          <p:nvPr/>
        </p:nvSpPr>
        <p:spPr>
          <a:xfrm rot="0" flipH="0" flipV="0">
            <a:off x="7486650" y="5581650"/>
            <a:ext cx="4133850" cy="895350"/>
          </a:xfrm>
          <a:prstGeom prst="roundRect">
            <a:avLst>
              <a:gd name="adj" fmla="val 8511"/>
            </a:avLst>
          </a:prstGeom>
          <a:solidFill>
            <a:srgbClr val="202259"/>
          </a:solidFill>
          <a:ln/>
        </p:spPr>
        <p:txBody>
          <a:bodyPr/>
          <a:p/>
        </p:txBody>
      </p:sp>
      <p:pic>
        <p:nvPicPr>
          <p:cNvPr id="8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58100" y="5924550"/>
            <a:ext cx="209550" cy="209550"/>
          </a:xfrm>
          <a:prstGeom prst="rect">
            <a:avLst/>
          </a:prstGeom>
          <a:ln/>
        </p:spPr>
      </p:pic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7962900" y="5734050"/>
            <a:ext cx="34861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D6E2F5"/>
                </a:solidFill>
                <a:latin typeface="Inter"/>
                <a:ea typeface="Inter"/>
              </a:rPr>
              <a:t>从第</a:t>
            </a:r>
            <a:r>
              <a:rPr lang="en-US" sz="1275">
                <a:solidFill>
                  <a:srgbClr val="D6E2F5"/>
                </a:solidFill>
                <a:latin typeface="Inter"/>
                <a:ea typeface="Inter"/>
              </a:rPr>
              <a:t> 1 </a:t>
            </a:r>
            <a:r>
              <a:rPr lang="zh-CN" sz="1275">
                <a:solidFill>
                  <a:srgbClr val="D6E2F5"/>
                </a:solidFill>
                <a:latin typeface="Inter"/>
                <a:ea typeface="Inter"/>
              </a:rPr>
              <a:t>步到第</a:t>
            </a:r>
            <a:r>
              <a:rPr lang="en-US" sz="1275">
                <a:solidFill>
                  <a:srgbClr val="D6E2F5"/>
                </a:solidFill>
                <a:latin typeface="Inter"/>
                <a:ea typeface="Inter"/>
              </a:rPr>
              <a:t> 6 </a:t>
            </a:r>
            <a:r>
              <a:rPr lang="zh-CN" sz="1275">
                <a:solidFill>
                  <a:srgbClr val="D6E2F5"/>
                </a:solidFill>
                <a:latin typeface="Inter"/>
                <a:ea typeface="Inter"/>
              </a:rPr>
              <a:t>步，用户只需要点</a:t>
            </a:r>
            <a:r>
              <a:rPr lang="en-US" sz="1275">
                <a:solidFill>
                  <a:srgbClr val="D6E2F5"/>
                </a:solidFill>
                <a:latin typeface="Inter"/>
                <a:ea typeface="Inter"/>
              </a:rPr>
              <a:t> 6 </a:t>
            </a:r>
            <a:r>
              <a:rPr lang="zh-CN" sz="1275">
                <a:solidFill>
                  <a:srgbClr val="D6E2F5"/>
                </a:solidFill>
                <a:latin typeface="Inter"/>
                <a:ea typeface="Inter"/>
              </a:rPr>
              <a:t>次，全程不跳外部页面。</a:t>
            </a:r>
            <a:endParaRPr/>
          </a:p>
        </p:txBody>
      </p:sp>
      <p:sp>
        <p:nvSpPr>
          <p:cNvPr id="882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11115675" y="640080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06 / 25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85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第 1–2 步：加购与购物车&lt;/Text&gt;&#10;        &lt;Text style={{ fontSize: 16, color: '#5C646A', lineHeight: 1.4, marginTop: 6 }}&gt;&#10;            cart.html 是购物车里唯一能改数量的地方，结算页只做核对&#10;        &lt;/Text&gt;&#10;    &lt;/Box&gt;&#10;&#10;    {/* ===== B 区 内容区（上大图 + 下方卡片） ===== */}&#10;    &lt;Box style={{ height: 540, flexDirection: 'column', gap: 18 }}&gt;&#10;        {/* 上方：购物车页结构示意 */}&#10;        &lt;Box style={{ height: 288, background: '#F4F6F8', borderRadius: 10, padding: 16, flexDirection: 'row', gap: 16 }}&gt;&#10;            {/* 左：商品列表 */}&#10;            &lt;Box style={{ flex: 1, flexDirection: 'column' }}&gt;&#10;                &lt;Box style={{ flexDirection: 'row', alignItems: 'center', justifyContent: 'space-between', marginBottom: 10 }}&gt;&#10;                    &lt;Text style={{ fontSize: 18, fontWeight: 'bold', color: '#202259' }}&gt;Your cart&lt;/Text&gt;&#10;                    &lt;Text style={{ fontSize: 15, color: '#5C646A' }}&gt;3 items · 可改数量 / 可删&lt;/Text&gt;&#10;                &lt;/Box&gt;&#10;                {[&#10;                    { n: 'Elken Spirulina', p: '₦52,000 each', q: 3 },&#10;                    { n: 'Calmag', p: '₦38,000 each', q: 2 },&#10;                    { n: 'Bio Pure N200', p: '₦560,000 each', q: 1 },&#10;                ].map(function (it, i) {&#10;                    return (&#10;                        &lt;Box key={i} style={{ flexDirection: 'row', alignItems: 'center', gap: 12, background: '#FFFFFF', borderRadius: 8, padding: '9px 14px', marginBottom: 8, height: 62 }}&gt;&#10;                            &lt;Box style={{ width: 40, height: 40, borderRadius: 6, background: 'rgba(42,167,207,0.16)', justifyContent: 'center', alignItems: 'center' }}&gt;&#10;                                &lt;FAIcon name='flask' style={{ fill: '#2AA7CF', width: 18, height: 18 }} /&gt;&#10;                            &lt;/Box&gt;&#10;                            &lt;Box style={{ flex: 1, flexDirection: 'column' }}&gt;&#10;                                &lt;Text style={{ fontSize: 17, fontWeight: 'bold', color: '#202259' }}&gt;{it.n}&lt;/Text&gt;&#10;                                &lt;Text style={{ fontSize: 14, color: '#5C646A' }}&gt;{it.p}&lt;/Text&gt;&#10;                            &lt;/Box&gt;&#10;                            &lt;Box style={{ flexDirection: 'row', alignItems: 'center', border: '1px solid #D1D8DE', borderRadius: 6, overflow: 'hidden' }}&gt;&#10;                                &lt;Box style={{ width: 26, height: 26, justifyContent: 'center', alignItems: 'center', background: '#F4F6F8' }}&gt;&#10;                                    &lt;Text style={{ fontSize: 15, color: '#202259', fontWeight: 'bold' }}&gt;−&lt;/Text&gt;&#10;                                &lt;/Box&gt;&#10;                                &lt;Box style={{ width: 32, height: 26, justifyContent: 'center', alignItems: 'center' }}&gt;&#10;                                    &lt;Text style={{ fontSize: 15, color: '#202259' }}&gt;{it.q}&lt;/Text&gt;&#10;                                &lt;/Box&gt;&#10;                                &lt;Box style={{ width: 26, height: 26, justifyContent: 'center', alignItems: 'center', background: '#F4F6F8' }}&gt;&#10;                                    &lt;Text style={{ fontSize: 15, color: '#202259', fontWeight: 'bold' }}&gt;+&lt;/Text&gt;&#10;                                &lt;/Box&gt;&#10;                            &lt;/Box&gt;&#10;                            &lt;Text style={{ fontSize: 15, color: '#B3261E', width: 66, textAlign: 'right' }}&gt;Remove&lt;/Text&gt;&#10;                        &lt;/Box&gt;&#10;                    );&#10;                })}&#10;            &lt;/Box&gt;&#10;&#10;            {/* 右：订单汇总 */}&#10;            &lt;Box style={{ width: 300, background: '#FFFFFF', borderRadius: 8, padding: '16px 18px', flexDirection: 'column' }}&gt;&#10;                &lt;Text style={{ fontSize: 15, fontWeight: 'bold', color: '#5C646A', letterSpacing: 1.2, marginBottom: 12 }}&gt;SUMMARY&lt;/Text&gt;&#10;                {[&#10;                    { k: 'Items', v: '6' },&#10;                    { k: 'Subtotal', v: '₦792,000' },&#10;                    { k: 'Shipping', v: 'Calculated at checkout' },&#10;                ].map(function (r, i) {&#10;                    return (&#10;                        &lt;Box key={i} style={{ flexDirection: 'row', justifyContent: 'space-between', alignItems: 'center', marginBottom: 9 }}&gt;&#10;                            &lt;Text style={{ fontSize: 16, color: '#5C646A' }}&gt;{r.k}&lt;/Text&gt;&#10;                            &lt;Text style={{ fontSize: 16, color: '#25292C', fontWeight: i === 2 ? 'normal' : 'bold' }}&gt;{r.v}&lt;/Text&gt;&#10;                        &lt;/Box&gt;&#10;                    );&#10;                })}&#10;                &lt;Box style={{ flexDirection: 'row', justifyContent: 'space-between', alignItems: 'center', paddingTop: 12, borderTop: '1px solid #E3E6E8' }}&gt;&#10;                    &lt;Text style={{ fontSize: 18, fontWeight: 'bold', color: '#202259' }}&gt;Total&lt;/Text&gt;&#10;                    &lt;Text style={{ fontSize: 20, fontWeight: 'bold', color: '#202259' }}&gt;₦792,000&lt;/Text&gt;&#10;                &lt;/Box&gt;&#10;                &lt;Box style={{ marginTop: 'auto', paddingTop: 14 }}&gt;&#10;                    &lt;Box style={{ height: 40, background: '#202259', borderRadius: 8, justifyContent: 'center', alignItems: 'center' }}&gt;&#10;                        &lt;Text style={{ fontSize: 16, fontWeight: 'bold', color: '#FFFFFF' }}&gt;Proceed to checkout&lt;/Text&gt;&#10;                    &lt;/Box&gt;&#10;                &lt;/Box&gt;&#10;            &lt;/Box&gt;&#10;        &lt;/Box&gt;&#10;&#10;        {/* 下方：三张说明卡 */}&#10;        &lt;Box style={{ flex: 1, flexDirection: 'row', gap: 16 }}&gt;&#10;            {[&#10;                { icon: 'plus-circle', t: '加购规则', d: '按商品 ID 合并 —— 同一件商品重复加购只增加数量，不会新增一行。单个商品数量封顶 99，加购后右上角购物车角标实时刷新。' },&#10;                { icon: 'edit', t: '数量与删除', d: '加减按钮和直接输入框都能改数量，范围锁在 1 到 99。Remove 删单条，Clear cart 一次清空；购物车为空时显示空态卡与 Browse products 按钮。' },&#10;                { icon: 'calculator', t: '汇总口径', d: '只算四行：件数、商品小计、运费、总计。运费固定显示 Calculated at checkout，页面不做任何实际运费计算，总计等于小计。' },&#10;            ].map(function (it, i) {&#10;                return (&#10;                    &lt;Box key={i} style={{ flex: 1, background: '#FFFFFF', border: '1px solid #E3E6E8', borderRadius: 10, padding: '18px 18px', flexDirection: 'column' }}&gt;&#10;                        &lt;Box style={{ flexDirection: 'row', alignItems: 'center', gap: 10, marginBottom: 12 }}&gt;&#10;                            &lt;FAIcon name={it.icon} style={{ fill: '#2AA7CF', width: 22, height: 22 }} /&gt;&#10;                            &lt;Text style={{ fontSize: 20, fontWeight: 'bold', color: '#202259' }}&gt;{it.t}&lt;/Text&gt;&#10;                        &lt;/Box&gt;&#10;                        &lt;Text style={{ fontSize: 17, color: '#3F4A55', lineHeight: 1.55 }}&gt;{it.d}&lt;/Text&gt;&#10;                    &lt;/Box&gt;&#10;                );&#10;            })}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07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第</a:t>
            </a:r>
            <a:r>
              <a:rPr lang="en-US" sz="2550" b="1">
                <a:solidFill>
                  <a:srgbClr val="202259"/>
                </a:solidFill>
                <a:latin typeface="Inter"/>
                <a:ea typeface="Inter"/>
              </a:rPr>
              <a:t> 1–2 </a:t>
            </a: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步：加购与购物车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cart.html 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是购物车里唯一能改数量的地方，结算页只做核对</a:t>
            </a:r>
            <a:endParaRPr/>
          </a:p>
        </p:txBody>
      </p:sp>
      <p:sp>
        <p:nvSpPr>
          <p:cNvPr id="889" name=""/>
          <p:cNvSpPr/>
          <p:nvPr/>
        </p:nvSpPr>
        <p:spPr>
          <a:xfrm rot="0" flipH="0" flipV="0">
            <a:off x="571500" y="1143000"/>
            <a:ext cx="11049000" cy="2743200"/>
          </a:xfrm>
          <a:prstGeom prst="roundRect">
            <a:avLst>
              <a:gd name="adj" fmla="val 347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723900" y="1295400"/>
            <a:ext cx="771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2259"/>
                </a:solidFill>
                <a:latin typeface="Inter"/>
                <a:ea typeface="Inter"/>
              </a:rPr>
              <a:t>Your cart</a:t>
            </a:r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6772275" y="1314450"/>
            <a:ext cx="1685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3 items ·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可改数量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/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可删</a:t>
            </a:r>
            <a:endParaRPr/>
          </a:p>
        </p:txBody>
      </p:sp>
      <p:sp>
        <p:nvSpPr>
          <p:cNvPr id="892" name=""/>
          <p:cNvSpPr/>
          <p:nvPr/>
        </p:nvSpPr>
        <p:spPr>
          <a:xfrm rot="0" flipH="0" flipV="0">
            <a:off x="723900" y="1600200"/>
            <a:ext cx="77343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3" name=""/>
          <p:cNvSpPr/>
          <p:nvPr/>
        </p:nvSpPr>
        <p:spPr>
          <a:xfrm rot="0" flipH="0" flipV="0">
            <a:off x="857250" y="1704975"/>
            <a:ext cx="381000" cy="381000"/>
          </a:xfrm>
          <a:prstGeom prst="roundRect">
            <a:avLst>
              <a:gd name="adj" fmla="val 15000"/>
            </a:avLst>
          </a:prstGeom>
          <a:solidFill>
            <a:srgbClr val="2AA7CF">
              <a:alpha val="16000"/>
            </a:srgbClr>
          </a:solidFill>
          <a:ln/>
        </p:spPr>
        <p:txBody>
          <a:bodyPr/>
          <a:p/>
        </p:txBody>
      </p:sp>
      <p:pic>
        <p:nvPicPr>
          <p:cNvPr id="8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62025" y="1809750"/>
            <a:ext cx="171450" cy="171450"/>
          </a:xfrm>
          <a:prstGeom prst="rect">
            <a:avLst/>
          </a:prstGeom>
          <a:ln/>
        </p:spPr>
      </p:pic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1352550" y="1714500"/>
            <a:ext cx="5314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Elken Spirulina</a:t>
            </a:r>
            <a:endParaRPr/>
          </a:p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1352550" y="1914525"/>
            <a:ext cx="531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46A"/>
                </a:solidFill>
                <a:latin typeface="Inter"/>
                <a:ea typeface="Inter"/>
              </a:rPr>
              <a:t>₦52,000 each</a:t>
            </a:r>
            <a:endParaRPr/>
          </a:p>
        </p:txBody>
      </p:sp>
      <p:sp>
        <p:nvSpPr>
          <p:cNvPr id="897" name=""/>
          <p:cNvSpPr/>
          <p:nvPr/>
        </p:nvSpPr>
        <p:spPr>
          <a:xfrm rot="0" flipH="0" flipV="0">
            <a:off x="6781800" y="1771650"/>
            <a:ext cx="800100" cy="247650"/>
          </a:xfrm>
          <a:prstGeom prst="roundRect">
            <a:avLst>
              <a:gd name="adj" fmla="val 23077"/>
            </a:avLst>
          </a:prstGeom>
          <a:ln w="12700">
            <a:solidFill>
              <a:srgbClr val="D1D8DE"/>
            </a:solidFill>
            <a:prstDash val="solid"/>
          </a:ln>
        </p:spPr>
        <p:txBody>
          <a:bodyPr/>
          <a:p/>
        </p:txBody>
      </p:sp>
      <p:sp>
        <p:nvSpPr>
          <p:cNvPr id="898" name=""/>
          <p:cNvSpPr/>
          <p:nvPr/>
        </p:nvSpPr>
        <p:spPr>
          <a:xfrm rot="0" flipH="0" flipV="0">
            <a:off x="6781800" y="1771650"/>
            <a:ext cx="247650" cy="247650"/>
          </a:xfrm>
          <a:custGeom>
            <a:pathLst>
              <a:path w="26" h="26">
                <a:moveTo>
                  <a:pt x="26" y="26"/>
                </a:moveTo>
                <a:lnTo>
                  <a:pt x="6" y="26"/>
                </a:lnTo>
                <a:cubicBezTo>
                  <a:pt x="3" y="26"/>
                  <a:pt x="0" y="23"/>
                  <a:pt x="0" y="2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26" y="0"/>
                </a:ln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p/>
        </p:txBody>
      </p:sp>
      <p:sp>
        <p:nvSpPr>
          <p:cNvPr id="899" name="" descr="{&quot;isTemplate&quot;:true,&quot;type&quot;:&quot;text&quot;}"/>
          <p:cNvSpPr txBox="1"/>
          <p:nvPr/>
        </p:nvSpPr>
        <p:spPr>
          <a:xfrm rot="0" flipH="0" flipV="0">
            <a:off x="6848475" y="1809750"/>
            <a:ext cx="123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202259"/>
                </a:solidFill>
                <a:latin typeface="Inter"/>
                <a:ea typeface="Inter"/>
              </a:rPr>
              <a:t>−</a:t>
            </a:r>
            <a:endParaRPr/>
          </a:p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7143750" y="180975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2259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901" name=""/>
          <p:cNvSpPr/>
          <p:nvPr/>
        </p:nvSpPr>
        <p:spPr>
          <a:xfrm rot="0" flipH="0" flipV="0">
            <a:off x="7334250" y="1771650"/>
            <a:ext cx="247650" cy="247650"/>
          </a:xfrm>
          <a:custGeom>
            <a:pathLst>
              <a:path w="26" h="26">
                <a:moveTo>
                  <a:pt x="20" y="0"/>
                </a:moveTo>
                <a:cubicBezTo>
                  <a:pt x="23" y="0"/>
                  <a:pt x="26" y="3"/>
                  <a:pt x="26" y="6"/>
                </a:cubicBezTo>
                <a:lnTo>
                  <a:pt x="26" y="20"/>
                </a:lnTo>
                <a:cubicBezTo>
                  <a:pt x="26" y="23"/>
                  <a:pt x="23" y="26"/>
                  <a:pt x="20" y="26"/>
                </a:cubicBezTo>
                <a:lnTo>
                  <a:pt x="0" y="26"/>
                </a:lnTo>
                <a:lnTo>
                  <a:pt x="0" y="0"/>
                </a:lnTo>
                <a:lnTo>
                  <a:pt x="20" y="0"/>
                </a:ln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p/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7410450" y="18097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2259"/>
                </a:solidFill>
                <a:latin typeface="Inter"/>
                <a:ea typeface="Inter"/>
              </a:rPr>
              <a:t>+</a:t>
            </a:r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7696200" y="1809750"/>
            <a:ext cx="6286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B3261E"/>
                </a:solidFill>
                <a:latin typeface="Inter"/>
                <a:ea typeface="Inter"/>
              </a:rPr>
              <a:t>Remove</a:t>
            </a:r>
            <a:endParaRPr/>
          </a:p>
        </p:txBody>
      </p:sp>
      <p:sp>
        <p:nvSpPr>
          <p:cNvPr id="904" name=""/>
          <p:cNvSpPr/>
          <p:nvPr/>
        </p:nvSpPr>
        <p:spPr>
          <a:xfrm rot="0" flipH="0" flipV="0">
            <a:off x="723900" y="2266950"/>
            <a:ext cx="77343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5" name=""/>
          <p:cNvSpPr/>
          <p:nvPr/>
        </p:nvSpPr>
        <p:spPr>
          <a:xfrm rot="0" flipH="0" flipV="0">
            <a:off x="857250" y="2371725"/>
            <a:ext cx="381000" cy="381000"/>
          </a:xfrm>
          <a:prstGeom prst="roundRect">
            <a:avLst>
              <a:gd name="adj" fmla="val 15000"/>
            </a:avLst>
          </a:prstGeom>
          <a:solidFill>
            <a:srgbClr val="2AA7CF">
              <a:alpha val="16000"/>
            </a:srgbClr>
          </a:solidFill>
          <a:ln/>
        </p:spPr>
        <p:txBody>
          <a:bodyPr/>
          <a:p/>
        </p:txBody>
      </p:sp>
      <p:pic>
        <p:nvPicPr>
          <p:cNvPr id="9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62025" y="2476500"/>
            <a:ext cx="171450" cy="171450"/>
          </a:xfrm>
          <a:prstGeom prst="rect">
            <a:avLst/>
          </a:prstGeom>
          <a:ln/>
        </p:spPr>
      </p:pic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1352550" y="2381250"/>
            <a:ext cx="5314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Calmag</a:t>
            </a:r>
            <a:endParaRPr/>
          </a:p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1352550" y="2581275"/>
            <a:ext cx="531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46A"/>
                </a:solidFill>
                <a:latin typeface="Inter"/>
                <a:ea typeface="Inter"/>
              </a:rPr>
              <a:t>₦38,000 each</a:t>
            </a:r>
            <a:endParaRPr/>
          </a:p>
        </p:txBody>
      </p:sp>
      <p:sp>
        <p:nvSpPr>
          <p:cNvPr id="909" name=""/>
          <p:cNvSpPr/>
          <p:nvPr/>
        </p:nvSpPr>
        <p:spPr>
          <a:xfrm rot="0" flipH="0" flipV="0">
            <a:off x="6781800" y="2438400"/>
            <a:ext cx="800100" cy="247650"/>
          </a:xfrm>
          <a:prstGeom prst="roundRect">
            <a:avLst>
              <a:gd name="adj" fmla="val 23077"/>
            </a:avLst>
          </a:prstGeom>
          <a:ln w="12700">
            <a:solidFill>
              <a:srgbClr val="D1D8DE"/>
            </a:solidFill>
            <a:prstDash val="solid"/>
          </a:ln>
        </p:spPr>
        <p:txBody>
          <a:bodyPr/>
          <a:p/>
        </p:txBody>
      </p:sp>
      <p:sp>
        <p:nvSpPr>
          <p:cNvPr id="910" name=""/>
          <p:cNvSpPr/>
          <p:nvPr/>
        </p:nvSpPr>
        <p:spPr>
          <a:xfrm rot="0" flipH="0" flipV="0">
            <a:off x="6781800" y="2438400"/>
            <a:ext cx="247650" cy="247650"/>
          </a:xfrm>
          <a:custGeom>
            <a:pathLst>
              <a:path w="26" h="26">
                <a:moveTo>
                  <a:pt x="26" y="26"/>
                </a:moveTo>
                <a:lnTo>
                  <a:pt x="6" y="26"/>
                </a:lnTo>
                <a:cubicBezTo>
                  <a:pt x="3" y="26"/>
                  <a:pt x="0" y="23"/>
                  <a:pt x="0" y="2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26" y="0"/>
                </a:ln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p/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6848475" y="2476500"/>
            <a:ext cx="123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202259"/>
                </a:solidFill>
                <a:latin typeface="Inter"/>
                <a:ea typeface="Inter"/>
              </a:rPr>
              <a:t>−</a:t>
            </a:r>
            <a:endParaRPr/>
          </a:p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7143750" y="247650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2259"/>
                </a:solidFill>
                <a:latin typeface="Inter"/>
                <a:ea typeface="Inter"/>
              </a:rPr>
              <a:t>2</a:t>
            </a:r>
            <a:endParaRPr/>
          </a:p>
        </p:txBody>
      </p:sp>
      <p:sp>
        <p:nvSpPr>
          <p:cNvPr id="913" name=""/>
          <p:cNvSpPr/>
          <p:nvPr/>
        </p:nvSpPr>
        <p:spPr>
          <a:xfrm rot="0" flipH="0" flipV="0">
            <a:off x="7334250" y="2438400"/>
            <a:ext cx="247650" cy="247650"/>
          </a:xfrm>
          <a:custGeom>
            <a:pathLst>
              <a:path w="26" h="26">
                <a:moveTo>
                  <a:pt x="20" y="0"/>
                </a:moveTo>
                <a:cubicBezTo>
                  <a:pt x="23" y="0"/>
                  <a:pt x="26" y="3"/>
                  <a:pt x="26" y="6"/>
                </a:cubicBezTo>
                <a:lnTo>
                  <a:pt x="26" y="20"/>
                </a:lnTo>
                <a:cubicBezTo>
                  <a:pt x="26" y="23"/>
                  <a:pt x="23" y="26"/>
                  <a:pt x="20" y="26"/>
                </a:cubicBezTo>
                <a:lnTo>
                  <a:pt x="0" y="26"/>
                </a:lnTo>
                <a:lnTo>
                  <a:pt x="0" y="0"/>
                </a:lnTo>
                <a:lnTo>
                  <a:pt x="20" y="0"/>
                </a:ln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p/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7410450" y="24765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2259"/>
                </a:solidFill>
                <a:latin typeface="Inter"/>
                <a:ea typeface="Inter"/>
              </a:rPr>
              <a:t>+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7696200" y="2476500"/>
            <a:ext cx="6286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B3261E"/>
                </a:solidFill>
                <a:latin typeface="Inter"/>
                <a:ea typeface="Inter"/>
              </a:rPr>
              <a:t>Remove</a:t>
            </a:r>
            <a:endParaRPr/>
          </a:p>
        </p:txBody>
      </p:sp>
      <p:sp>
        <p:nvSpPr>
          <p:cNvPr id="916" name=""/>
          <p:cNvSpPr/>
          <p:nvPr/>
        </p:nvSpPr>
        <p:spPr>
          <a:xfrm rot="0" flipH="0" flipV="0">
            <a:off x="723900" y="2933700"/>
            <a:ext cx="77343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7" name=""/>
          <p:cNvSpPr/>
          <p:nvPr/>
        </p:nvSpPr>
        <p:spPr>
          <a:xfrm rot="0" flipH="0" flipV="0">
            <a:off x="857250" y="3038475"/>
            <a:ext cx="381000" cy="381000"/>
          </a:xfrm>
          <a:prstGeom prst="roundRect">
            <a:avLst>
              <a:gd name="adj" fmla="val 15000"/>
            </a:avLst>
          </a:prstGeom>
          <a:solidFill>
            <a:srgbClr val="2AA7CF">
              <a:alpha val="16000"/>
            </a:srgbClr>
          </a:solidFill>
          <a:ln/>
        </p:spPr>
        <p:txBody>
          <a:bodyPr/>
          <a:p/>
        </p:txBody>
      </p:sp>
      <p:pic>
        <p:nvPicPr>
          <p:cNvPr id="9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62025" y="3143250"/>
            <a:ext cx="171450" cy="171450"/>
          </a:xfrm>
          <a:prstGeom prst="rect">
            <a:avLst/>
          </a:prstGeom>
          <a:ln/>
        </p:spPr>
      </p:pic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1352550" y="3048000"/>
            <a:ext cx="5314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Bio Pure N200</a:t>
            </a:r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1352550" y="3248025"/>
            <a:ext cx="531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46A"/>
                </a:solidFill>
                <a:latin typeface="Inter"/>
                <a:ea typeface="Inter"/>
              </a:rPr>
              <a:t>₦560,000 each</a:t>
            </a:r>
            <a:endParaRPr/>
          </a:p>
        </p:txBody>
      </p:sp>
      <p:sp>
        <p:nvSpPr>
          <p:cNvPr id="921" name=""/>
          <p:cNvSpPr/>
          <p:nvPr/>
        </p:nvSpPr>
        <p:spPr>
          <a:xfrm rot="0" flipH="0" flipV="0">
            <a:off x="6781800" y="3105150"/>
            <a:ext cx="800100" cy="247650"/>
          </a:xfrm>
          <a:prstGeom prst="roundRect">
            <a:avLst>
              <a:gd name="adj" fmla="val 23077"/>
            </a:avLst>
          </a:prstGeom>
          <a:ln w="12700">
            <a:solidFill>
              <a:srgbClr val="D1D8DE"/>
            </a:solidFill>
            <a:prstDash val="solid"/>
          </a:ln>
        </p:spPr>
        <p:txBody>
          <a:bodyPr/>
          <a:p/>
        </p:txBody>
      </p:sp>
      <p:sp>
        <p:nvSpPr>
          <p:cNvPr id="922" name=""/>
          <p:cNvSpPr/>
          <p:nvPr/>
        </p:nvSpPr>
        <p:spPr>
          <a:xfrm rot="0" flipH="0" flipV="0">
            <a:off x="6781800" y="3105150"/>
            <a:ext cx="247650" cy="247650"/>
          </a:xfrm>
          <a:custGeom>
            <a:pathLst>
              <a:path w="26" h="26">
                <a:moveTo>
                  <a:pt x="26" y="26"/>
                </a:moveTo>
                <a:lnTo>
                  <a:pt x="6" y="26"/>
                </a:lnTo>
                <a:cubicBezTo>
                  <a:pt x="3" y="26"/>
                  <a:pt x="0" y="23"/>
                  <a:pt x="0" y="2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26" y="0"/>
                </a:ln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p/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6848475" y="3143250"/>
            <a:ext cx="123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202259"/>
                </a:solidFill>
                <a:latin typeface="Inter"/>
                <a:ea typeface="Inter"/>
              </a:rPr>
              <a:t>−</a:t>
            </a:r>
            <a:endParaRPr/>
          </a:p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7153275" y="3143250"/>
            <a:ext cx="66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2259"/>
                </a:solidFill>
                <a:latin typeface="Inter"/>
                <a:ea typeface="Inter"/>
              </a:rPr>
              <a:t>1</a:t>
            </a:r>
            <a:endParaRPr/>
          </a:p>
        </p:txBody>
      </p:sp>
      <p:sp>
        <p:nvSpPr>
          <p:cNvPr id="925" name=""/>
          <p:cNvSpPr/>
          <p:nvPr/>
        </p:nvSpPr>
        <p:spPr>
          <a:xfrm rot="0" flipH="0" flipV="0">
            <a:off x="7334250" y="3105150"/>
            <a:ext cx="247650" cy="247650"/>
          </a:xfrm>
          <a:custGeom>
            <a:pathLst>
              <a:path w="26" h="26">
                <a:moveTo>
                  <a:pt x="20" y="0"/>
                </a:moveTo>
                <a:cubicBezTo>
                  <a:pt x="23" y="0"/>
                  <a:pt x="26" y="3"/>
                  <a:pt x="26" y="6"/>
                </a:cubicBezTo>
                <a:lnTo>
                  <a:pt x="26" y="20"/>
                </a:lnTo>
                <a:cubicBezTo>
                  <a:pt x="26" y="23"/>
                  <a:pt x="23" y="26"/>
                  <a:pt x="20" y="26"/>
                </a:cubicBezTo>
                <a:lnTo>
                  <a:pt x="0" y="26"/>
                </a:lnTo>
                <a:lnTo>
                  <a:pt x="0" y="0"/>
                </a:lnTo>
                <a:lnTo>
                  <a:pt x="20" y="0"/>
                </a:ln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p/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7410450" y="31432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2259"/>
                </a:solidFill>
                <a:latin typeface="Inter"/>
                <a:ea typeface="Inter"/>
              </a:rPr>
              <a:t>+</a:t>
            </a:r>
            <a:endParaRPr/>
          </a:p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7696200" y="3143250"/>
            <a:ext cx="6286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B3261E"/>
                </a:solidFill>
                <a:latin typeface="Inter"/>
                <a:ea typeface="Inter"/>
              </a:rPr>
              <a:t>Remove</a:t>
            </a:r>
            <a:endParaRPr/>
          </a:p>
        </p:txBody>
      </p:sp>
      <p:sp>
        <p:nvSpPr>
          <p:cNvPr id="928" name=""/>
          <p:cNvSpPr/>
          <p:nvPr/>
        </p:nvSpPr>
        <p:spPr>
          <a:xfrm rot="0" flipH="0" flipV="0">
            <a:off x="8610600" y="1295400"/>
            <a:ext cx="2857500" cy="2438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8782050" y="1447800"/>
            <a:ext cx="251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90">
                <a:solidFill>
                  <a:srgbClr val="5C646A"/>
                </a:solidFill>
                <a:latin typeface="Inter"/>
                <a:ea typeface="Inter"/>
              </a:rPr>
              <a:t>SUMMARY</a:t>
            </a:r>
            <a:endParaRPr/>
          </a:p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8782050" y="1733550"/>
            <a:ext cx="390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Items</a:t>
            </a:r>
            <a:endParaRPr/>
          </a:p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11201400" y="17335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292C"/>
                </a:solidFill>
                <a:latin typeface="Inter"/>
                <a:ea typeface="Inter"/>
              </a:rPr>
              <a:t>6</a:t>
            </a:r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8782050" y="2009775"/>
            <a:ext cx="59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Subtotal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10582275" y="2009775"/>
            <a:ext cx="714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292C"/>
                </a:solidFill>
                <a:latin typeface="Inter"/>
                <a:ea typeface="Inter"/>
              </a:rPr>
              <a:t>₦792,000</a:t>
            </a:r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8782050" y="2286000"/>
            <a:ext cx="61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Shipping</a:t>
            </a:r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9658350" y="2286000"/>
            <a:ext cx="1638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5292C"/>
                </a:solidFill>
                <a:latin typeface="Inter"/>
                <a:ea typeface="Inter"/>
              </a:rPr>
              <a:t>Calculated at checkout</a:t>
            </a:r>
            <a:endParaRPr/>
          </a:p>
        </p:txBody>
      </p:sp>
      <p:sp>
        <p:nvSpPr>
          <p:cNvPr id="936" name=""/>
          <p:cNvSpPr/>
          <p:nvPr/>
        </p:nvSpPr>
        <p:spPr>
          <a:xfrm rot="0" flipH="0" flipV="0">
            <a:off x="8782050" y="2562225"/>
            <a:ext cx="2514600" cy="361950"/>
          </a:xfrm>
          <a:custGeom>
            <a:pathLst>
              <a:path w="264" h="38">
                <a:moveTo>
                  <a:pt x="0" y="0"/>
                </a:moveTo>
                <a:lnTo>
                  <a:pt x="264" y="0"/>
                </a:lnTo>
                <a:lnTo>
                  <a:pt x="264" y="1"/>
                </a:lnTo>
                <a:lnTo>
                  <a:pt x="0" y="1"/>
                </a:lnTo>
                <a:close/>
              </a:path>
            </a:pathLst>
          </a:custGeom>
          <a:solidFill>
            <a:srgbClr val="E3E6E8"/>
          </a:solidFill>
          <a:ln/>
        </p:spPr>
        <p:txBody>
          <a:bodyPr/>
          <a:p/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8782050" y="2695575"/>
            <a:ext cx="419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2259"/>
                </a:solidFill>
                <a:latin typeface="Inter"/>
                <a:ea typeface="Inter"/>
              </a:rPr>
              <a:t>Total</a:t>
            </a:r>
            <a:endParaRPr/>
          </a:p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10410825" y="2686050"/>
            <a:ext cx="885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2259"/>
                </a:solidFill>
                <a:latin typeface="Inter"/>
                <a:ea typeface="Inter"/>
              </a:rPr>
              <a:t>₦792,000</a:t>
            </a:r>
            <a:endParaRPr/>
          </a:p>
        </p:txBody>
      </p:sp>
      <p:sp>
        <p:nvSpPr>
          <p:cNvPr id="939" name=""/>
          <p:cNvSpPr/>
          <p:nvPr/>
        </p:nvSpPr>
        <p:spPr>
          <a:xfrm rot="0" flipH="0" flipV="0">
            <a:off x="8782050" y="3200400"/>
            <a:ext cx="2514600" cy="38100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9286875" y="3295650"/>
            <a:ext cx="1514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Inter"/>
                <a:ea typeface="Inter"/>
              </a:rPr>
              <a:t>Proceed to checkout</a:t>
            </a:r>
            <a:endParaRPr/>
          </a:p>
        </p:txBody>
      </p:sp>
      <p:sp>
        <p:nvSpPr>
          <p:cNvPr id="941" name=""/>
          <p:cNvSpPr/>
          <p:nvPr/>
        </p:nvSpPr>
        <p:spPr>
          <a:xfrm rot="0" flipH="0" flipV="0">
            <a:off x="571500" y="4057650"/>
            <a:ext cx="3581400" cy="222885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pic>
        <p:nvPicPr>
          <p:cNvPr id="9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42950" y="4238625"/>
            <a:ext cx="209550" cy="209550"/>
          </a:xfrm>
          <a:prstGeom prst="rect">
            <a:avLst/>
          </a:prstGeom>
          <a:ln/>
        </p:spPr>
      </p:pic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1047750" y="42291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加购规则</a:t>
            </a:r>
            <a:endParaRPr/>
          </a:p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742950" y="4572000"/>
            <a:ext cx="32385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按商品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ID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合并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——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同一件商品重复加购只增加数量，不会新增一行。单个商品数量封顶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99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，加购后右上角购物车角标实时刷新。</a:t>
            </a:r>
            <a:endParaRPr/>
          </a:p>
        </p:txBody>
      </p:sp>
      <p:sp>
        <p:nvSpPr>
          <p:cNvPr id="945" name=""/>
          <p:cNvSpPr/>
          <p:nvPr/>
        </p:nvSpPr>
        <p:spPr>
          <a:xfrm rot="0" flipH="0" flipV="0">
            <a:off x="4305300" y="4057650"/>
            <a:ext cx="3581400" cy="222885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pic>
        <p:nvPicPr>
          <p:cNvPr id="9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476750" y="4238625"/>
            <a:ext cx="209550" cy="209550"/>
          </a:xfrm>
          <a:prstGeom prst="rect">
            <a:avLst/>
          </a:prstGeom>
          <a:ln/>
        </p:spPr>
      </p:pic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4781550" y="422910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数量与删除</a:t>
            </a:r>
            <a:endParaRPr/>
          </a:p>
        </p:txBody>
      </p:sp>
      <p:sp>
        <p:nvSpPr>
          <p:cNvPr id="948" name="" descr="{&quot;isTemplate&quot;:true,&quot;type&quot;:&quot;text&quot;}"/>
          <p:cNvSpPr txBox="1"/>
          <p:nvPr/>
        </p:nvSpPr>
        <p:spPr>
          <a:xfrm rot="0" flipH="0" flipV="0">
            <a:off x="4476750" y="4572000"/>
            <a:ext cx="323850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加减按钮和直接输入框都能改数量，范围锁在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1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到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99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。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Remove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删单条，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Clear cart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一次清空；购物车为空时显示空态卡与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Browse products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按钮。</a:t>
            </a:r>
            <a:endParaRPr/>
          </a:p>
        </p:txBody>
      </p:sp>
      <p:sp>
        <p:nvSpPr>
          <p:cNvPr id="949" name=""/>
          <p:cNvSpPr/>
          <p:nvPr/>
        </p:nvSpPr>
        <p:spPr>
          <a:xfrm rot="0" flipH="0" flipV="0">
            <a:off x="8039100" y="4057650"/>
            <a:ext cx="3581400" cy="222885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pic>
        <p:nvPicPr>
          <p:cNvPr id="9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210550" y="4238625"/>
            <a:ext cx="209550" cy="209550"/>
          </a:xfrm>
          <a:prstGeom prst="rect">
            <a:avLst/>
          </a:prstGeom>
          <a:ln/>
        </p:spPr>
      </p:pic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8515350" y="42291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汇总口径</a:t>
            </a:r>
            <a:endParaRPr/>
          </a:p>
        </p:txBody>
      </p:sp>
      <p:sp>
        <p:nvSpPr>
          <p:cNvPr id="952" name="" descr="{&quot;isTemplate&quot;:true,&quot;type&quot;:&quot;text&quot;}"/>
          <p:cNvSpPr txBox="1"/>
          <p:nvPr/>
        </p:nvSpPr>
        <p:spPr>
          <a:xfrm rot="0" flipH="0" flipV="0">
            <a:off x="8210550" y="4572000"/>
            <a:ext cx="32385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只算四行：件数、商品小计、运费、总计。运费固定显示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Calculated at checkout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，页面不做任何实际运费计算，总计等于小计。</a:t>
            </a:r>
            <a:endParaRPr/>
          </a:p>
        </p:txBody>
      </p:sp>
      <p:sp>
        <p:nvSpPr>
          <p:cNvPr id="953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07 / 25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56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第 3 步：配送方式与自提点&lt;/Text&gt;&#10;        &lt;Text style={{ fontSize: 16, color: '#5C646A', lineHeight: 1.4, marginTop: 6 }}&gt;&#10;            两种配送方式走不同的表单分支，自提只需选一个网点&#10;        &lt;/Text&gt;&#10;    &lt;/Box&gt;&#10;&#10;    {/* ===== B 区 内容区（左标题栏 + 右内容） ===== */}&#10;    &lt;Box style={{ height: 540, flexDirection: 'row', gap: 24 }}&gt;&#10;        {/* 左侧标题栏 */}&#10;        &lt;Box style={{ width: 340, background: '#202259', borderRadius: 10, padding: '26px 24px', flexDirection: 'column' }}&gt;&#10;            &lt;Text style={{ fontSize: 15, color: '#7FD3EC', letterSpacing: 2, fontWeight: 'bold' }}&gt;DELIVERY&lt;/Text&gt;&#10;            &lt;Text style={{ fontSize: 32, fontWeight: 'bold', color: '#FFFFFF', lineHeight: 1.2, marginTop: 12 }}&gt;&#10;                Door delivery&#10;                &lt;br /&gt;&#10;                还是 Self-pickup&#10;            &lt;/Text&gt;&#10;            &lt;Text style={{ fontSize: 17, color: '#B9C6E4', lineHeight: 1.55, marginTop: 16 }}&gt;&#10;                切换开关决定下半页显示哪一块表单：配送显示完整地址表单，自提显示三个网点供选择。&#10;            &lt;/Text&gt;&#10;&#10;            &lt;Box style={{ flexDirection: 'column', gap: 12, marginTop: 24 }}&gt;&#10;                &lt;Box style={{ padding: '12px 14px', background: 'rgba(42,167,207,0.16)', borderRadius: 8 }}&gt;&#10;                    &lt;Text style={{ fontSize: 16, color: '#CFE9F4', lineHeight: 1.5 }}&gt;&#10;                        默认选中 Door delivery，未登录时&quot;保存地址&quot;选择器整块隐藏。&#10;                    &lt;/Text&gt;&#10;                &lt;/Box&gt;&#10;                &lt;Box style={{ padding: '12px 14px', background: 'rgba(242,135,183,0.16)', borderRadius: 8 }}&gt;&#10;                    &lt;Text style={{ fontSize: 16, color: '#FBE0EE', lineHeight: 1.5 }}&gt;&#10;                        自提点默认选中 Lagos HQ，网点名与地址在三处代码里各写了一份。&#10;                    &lt;/Text&gt;&#10;                &lt;/Box&gt;&#10;            &lt;/Box&gt;&#10;&#10;            &lt;Box style={{ flexDirection: 'row', alignItems: 'center', gap: 10, marginTop: 'auto', paddingTop: 18, borderTop: '1px solid rgba(127,211,236,0.3)' }}&gt;&#10;                &lt;FAIcon name='map-marker-alt' style={{ fill: '#7FD3EC', width: 18, height: 18 }} /&gt;&#10;                &lt;Text style={{ fontSize: 15, color: '#B9C6E4' }}&gt;受配送方式影响，上门免填地址&lt;/Text&gt;&#10;            &lt;/Box&gt;&#10;        &lt;/Box&gt;&#10;&#10;        {/* 右侧内容 */}&#10;        &lt;Box style={{ flex: 1, flexDirection: 'column', gap: 16 }}&gt;&#10;            {/* 两种方式对比 */}&#10;            &lt;Box style={{ flexDirection: 'row', gap: 16 }}&gt;&#10;                {[&#10;                    { t: 'Door delivery', sub: 'We deliver to your address', on: true, rows: ['收货地址表单生效', '可选已保存地址或新增', '需填 Full name / Phone / City / State'] },&#10;                    { t: 'Self-pickup', sub: 'Pick up at our office', on: false, rows: ['地址表单整块隐藏', '改为选择自提网点', '下单后到网点自取'] },&#10;                ].map(function (it, i) {&#10;                    return (&#10;                        &lt;Box key={i} style={{ flex: 1, background: it.on ? 'rgba(42,167,207,0.10)' : '#F4F6F8', border: it.on ? '2px solid #2AA7CF' : '1px solid #E3E6E8', borderRadius: 10, padding: '16px 18px', flexDirection: 'column' }}&gt;&#10;                            &lt;Box style={{ flexDirection: 'row', alignItems: 'center', gap: 10 }}&gt;&#10;                                &lt;Box style={{ width: 20, height: 20, borderRadius: 10, border: it.on ? '6px solid #2AA7CF' : '2px solid #859EB3', background: '#FFFFFF' }} /&gt;&#10;                                &lt;Text style={{ fontSize: 19, fontWeight: 'bold', color: '#202259' }}&gt;{it.t}&lt;/Text&gt;&#10;                                {it.on ? (&#10;                                    &lt;Box style={{ marginLeft: 'auto', padding: '3px 10px', background: '#202259', borderRadius: 999 }}&gt;&#10;                                        &lt;Text style={{ fontSize: 13, color: '#FFFFFF' }}&gt;默认&lt;/Text&gt;&#10;                                    &lt;/Box&gt;&#10;                                ) : null}&#10;                            &lt;/Box&gt;&#10;                            &lt;Text style={{ fontSize: 15, color: '#5C646A', marginTop: 5 }}&gt;{it.sub}&lt;/Text&gt;&#10;                            &lt;Box style={{ flexDirection: 'column', gap: 6, marginTop: 12 }}&gt;&#10;                                {it.rows.map(function (r, j) {&#10;                                    return (&#10;                                        &lt;Box key={j} style={{ flexDirection: 'row', gap: 8, alignItems: 'flex-start' }}&gt;&#10;                                            &lt;Text style={{ fontSize: 15, color: '#2AA7CF' }}&gt;·&lt;/Text&gt;&#10;                                            &lt;Text style={{ fontSize: 16, color: '#3F4A55', lineHeight: 1.4, flex: 1 }}&gt;{r}&lt;/Text&gt;&#10;                                        &lt;/Box&gt;&#10;                                    );&#10;                                })}&#10;                            &lt;/Box&gt;&#10;                        &lt;/Box&gt;&#10;                    );&#10;                })}&#10;            &lt;/Box&gt;&#10;&#10;            {/* 自提点 */}&#10;            &lt;Box style={{ flex: 1, background: '#F4F6F8', borderRadius: 10, padding: '16px 18px', flexDirection: 'column' }}&gt;&#10;                &lt;Box style={{ flexDirection: 'row', alignItems: 'center', justifyContent: 'space-between', marginBottom: 12 }}&gt;&#10;                    &lt;Text style={{ fontSize: 19, fontWeight: 'bold', color: '#202259' }}&gt;三个自提点（选中后显示 Selected）&lt;/Text&gt;&#10;                    &lt;Text style={{ fontSize: 15, color: '#5C646A' }}&gt;name=&quot;pickupLoc&quot; · 单选&lt;/Text&gt;&#10;                &lt;/Box&gt;&#10;                {[&#10;                    { n: 'Lagos HQ', tag: 'HQ', a: '12B Admiralty Way, Lekki Phase 1', h: 'Mon–Sat · 8:00 – 18:00' },&#10;                    { n: 'Abuja branch', tag: '', a: 'Plot 24, Wuse Zone 5', h: 'Mon–Fri · 9:00 – 17:00' },&#10;                    { n: 'Port Harcourt branch', tag: '', a: '5 Aba Road, GRA Phase 2', h: 'Mon–Fri · 9:00 – 17:00' },&#10;                ].map(function (it, i) {&#10;                    return (&#10;                        &lt;Box key={i} style={{ flexDirection: 'row', alignItems: 'center', gap: 14, background: '#FFFFFF', borderRadius: 8, padding: '12px 16px', marginBottom: 8, borderLeft: i === 0 ? '4px solid #F287B7' : '4px solid #E3E6E8' }}&gt;&#10;                            &lt;Text style={{ fontSize: 17, fontWeight: 'bold', color: '#202259', width: 210 }}&gt;{it.n}&lt;/Text&gt;&#10;                            {it.tag ? (&#10;                                &lt;Box style={{ padding: '2px 9px', background: '#F287B7', borderRadius: 4 }}&gt;&#10;                                    &lt;Text style={{ fontSize: 13, color: '#FFFFFF', fontWeight: 'bold' }}&gt;{it.tag}&lt;/Text&gt;&#10;                                &lt;/Box&gt;&#10;                            ) : null}&#10;                            &lt;Text style={{ fontSize: 16, color: '#3F4A55', flex: 1 }}&gt;{it.a}&lt;/Text&gt;&#10;                            &lt;Box style={{ flexDirection: 'row', alignItems: 'center', gap: 7 }}&gt;&#10;                                &lt;FAIcon name='clock' style={{ fill: '#859EB3', width: 15, height: 15 }} /&gt;&#10;                                &lt;Text style={{ fontSize: 15, color: '#5C646A' }}&gt;{it.h}&lt;/Text&gt;&#10;                            &lt;/Box&gt;&#10;                        &lt;/Box&gt;&#10;                    );&#10;                })}&#10;            &lt;/Box&gt;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08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第</a:t>
            </a:r>
            <a:r>
              <a:rPr lang="en-US" sz="2550" b="1">
                <a:solidFill>
                  <a:srgbClr val="202259"/>
                </a:solidFill>
                <a:latin typeface="Inter"/>
                <a:ea typeface="Inter"/>
              </a:rPr>
              <a:t> 3 </a:t>
            </a: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步：配送方式与自提点</a:t>
            </a:r>
            <a:endParaRPr/>
          </a:p>
        </p:txBody>
      </p:sp>
      <p:sp>
        <p:nvSpPr>
          <p:cNvPr id="959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两种配送方式走不同的表单分支，自提只需选一个网点</a:t>
            </a:r>
            <a:endParaRPr/>
          </a:p>
        </p:txBody>
      </p:sp>
      <p:sp>
        <p:nvSpPr>
          <p:cNvPr id="960" name=""/>
          <p:cNvSpPr/>
          <p:nvPr/>
        </p:nvSpPr>
        <p:spPr>
          <a:xfrm rot="0" flipH="0" flipV="0">
            <a:off x="571500" y="1143000"/>
            <a:ext cx="3238500" cy="5143500"/>
          </a:xfrm>
          <a:prstGeom prst="roundRect">
            <a:avLst>
              <a:gd name="adj" fmla="val 2941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800100" y="1390650"/>
            <a:ext cx="278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DELIVERY</a:t>
            </a:r>
            <a:endParaRPr/>
          </a:p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800100" y="1676400"/>
            <a:ext cx="2781300" cy="8858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</a:rPr>
              <a:t>Door delivery</a:t>
            </a:r>
            <a:endParaRPr/>
          </a:p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Inter"/>
                <a:ea typeface="Inter"/>
              </a:rPr>
              <a:t>还是</a:t>
            </a:r>
            <a:r>
              <a:rPr lang="en-US" sz="2400" b="1">
                <a:solidFill>
                  <a:srgbClr val="FFFFFF"/>
                </a:solidFill>
                <a:latin typeface="Inter"/>
                <a:ea typeface="Inter"/>
              </a:rPr>
              <a:t> Self-pickup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800100" y="2714625"/>
            <a:ext cx="27813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切换开关决定下半页显示哪一块表单：配送显示完整地址表单，自提显示三个网点供选择。</a:t>
            </a:r>
            <a:endParaRPr/>
          </a:p>
        </p:txBody>
      </p:sp>
      <p:sp>
        <p:nvSpPr>
          <p:cNvPr id="964" name=""/>
          <p:cNvSpPr/>
          <p:nvPr/>
        </p:nvSpPr>
        <p:spPr>
          <a:xfrm rot="0" flipH="0" flipV="0">
            <a:off x="800100" y="3848100"/>
            <a:ext cx="2781300" cy="781050"/>
          </a:xfrm>
          <a:prstGeom prst="roundRect">
            <a:avLst>
              <a:gd name="adj" fmla="val 9756"/>
            </a:avLst>
          </a:prstGeom>
          <a:solidFill>
            <a:srgbClr val="2AA7CF">
              <a:alpha val="16000"/>
            </a:srgbClr>
          </a:solidFill>
          <a:ln/>
        </p:spPr>
        <p:txBody>
          <a:bodyPr/>
          <a:p/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933450" y="3962400"/>
            <a:ext cx="2514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默认选中</a:t>
            </a:r>
            <a:r>
              <a:rPr lang="en-US" sz="1200">
                <a:solidFill>
                  <a:srgbClr val="CFE9F4"/>
                </a:solidFill>
                <a:latin typeface="Inter"/>
                <a:ea typeface="Inter"/>
              </a:rPr>
              <a:t> Door delivery</a:t>
            </a: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，未登录时</a:t>
            </a:r>
            <a:r>
              <a:rPr lang="en-US" sz="1200">
                <a:solidFill>
                  <a:srgbClr val="CFE9F4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保存地址</a:t>
            </a:r>
            <a:r>
              <a:rPr lang="en-US" sz="1200">
                <a:solidFill>
                  <a:srgbClr val="CFE9F4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选择器整块隐藏。</a:t>
            </a:r>
            <a:endParaRPr/>
          </a:p>
        </p:txBody>
      </p:sp>
      <p:sp>
        <p:nvSpPr>
          <p:cNvPr id="966" name=""/>
          <p:cNvSpPr/>
          <p:nvPr/>
        </p:nvSpPr>
        <p:spPr>
          <a:xfrm rot="0" flipH="0" flipV="0">
            <a:off x="800100" y="4743450"/>
            <a:ext cx="2781300" cy="781050"/>
          </a:xfrm>
          <a:prstGeom prst="roundRect">
            <a:avLst>
              <a:gd name="adj" fmla="val 9756"/>
            </a:avLst>
          </a:prstGeom>
          <a:solidFill>
            <a:srgbClr val="F287B7">
              <a:alpha val="16000"/>
            </a:srgbClr>
          </a:solidFill>
          <a:ln/>
        </p:spPr>
        <p:txBody>
          <a:bodyPr/>
          <a:p/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933450" y="4857750"/>
            <a:ext cx="2514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BE0EE"/>
                </a:solidFill>
                <a:latin typeface="Inter"/>
                <a:ea typeface="Inter"/>
              </a:rPr>
              <a:t>自提点默认选中</a:t>
            </a:r>
            <a:r>
              <a:rPr lang="en-US" sz="1200">
                <a:solidFill>
                  <a:srgbClr val="FBE0EE"/>
                </a:solidFill>
                <a:latin typeface="Inter"/>
                <a:ea typeface="Inter"/>
              </a:rPr>
              <a:t> Lagos HQ</a:t>
            </a:r>
            <a:r>
              <a:rPr lang="zh-CN" sz="1200">
                <a:solidFill>
                  <a:srgbClr val="FBE0EE"/>
                </a:solidFill>
                <a:latin typeface="Inter"/>
                <a:ea typeface="Inter"/>
              </a:rPr>
              <a:t>，网点名与地址在三处代码里各写了一份。</a:t>
            </a:r>
            <a:endParaRPr/>
          </a:p>
        </p:txBody>
      </p:sp>
      <p:sp>
        <p:nvSpPr>
          <p:cNvPr id="968" name=""/>
          <p:cNvSpPr/>
          <p:nvPr/>
        </p:nvSpPr>
        <p:spPr>
          <a:xfrm rot="0" flipH="0" flipV="0">
            <a:off x="800100" y="5686425"/>
            <a:ext cx="2781300" cy="361950"/>
          </a:xfrm>
          <a:custGeom>
            <a:pathLst>
              <a:path w="292" h="38">
                <a:moveTo>
                  <a:pt x="0" y="0"/>
                </a:moveTo>
                <a:lnTo>
                  <a:pt x="292" y="0"/>
                </a:lnTo>
                <a:lnTo>
                  <a:pt x="292" y="1"/>
                </a:lnTo>
                <a:lnTo>
                  <a:pt x="0" y="1"/>
                </a:lnTo>
                <a:close/>
              </a:path>
            </a:pathLst>
          </a:custGeom>
          <a:solidFill>
            <a:srgbClr val="7FD3EC">
              <a:alpha val="30000"/>
            </a:srgbClr>
          </a:solidFill>
          <a:ln/>
        </p:spPr>
        <p:txBody>
          <a:bodyPr/>
          <a:p/>
        </p:txBody>
      </p:sp>
      <p:pic>
        <p:nvPicPr>
          <p:cNvPr id="9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5867400"/>
            <a:ext cx="171450" cy="171450"/>
          </a:xfrm>
          <a:prstGeom prst="rect">
            <a:avLst/>
          </a:prstGeom>
          <a:ln/>
        </p:spPr>
      </p:pic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1066800" y="586740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6E4"/>
                </a:solidFill>
                <a:latin typeface="Inter"/>
                <a:ea typeface="Inter"/>
              </a:rPr>
              <a:t>受配送方式影响，上门免填地址</a:t>
            </a:r>
            <a:endParaRPr/>
          </a:p>
        </p:txBody>
      </p:sp>
      <p:sp>
        <p:nvSpPr>
          <p:cNvPr id="971" name=""/>
          <p:cNvSpPr/>
          <p:nvPr/>
        </p:nvSpPr>
        <p:spPr>
          <a:xfrm rot="0" flipH="0" flipV="0">
            <a:off x="4038600" y="1143000"/>
            <a:ext cx="3714750" cy="1743075"/>
          </a:xfrm>
          <a:prstGeom prst="roundRect">
            <a:avLst>
              <a:gd name="adj" fmla="val 5464"/>
            </a:avLst>
          </a:prstGeom>
          <a:solidFill>
            <a:srgbClr val="2AA7CF">
              <a:alpha val="10000"/>
            </a:srgbClr>
          </a:solidFill>
          <a:ln w="25400">
            <a:solidFill>
              <a:srgbClr val="2AA7CF"/>
            </a:solidFill>
            <a:prstDash val="solid"/>
          </a:ln>
        </p:spPr>
        <p:txBody>
          <a:bodyPr/>
          <a:p/>
        </p:txBody>
      </p:sp>
      <p:sp>
        <p:nvSpPr>
          <p:cNvPr id="972" name=""/>
          <p:cNvSpPr/>
          <p:nvPr/>
        </p:nvSpPr>
        <p:spPr>
          <a:xfrm rot="0" flipH="0" flipV="0">
            <a:off x="4210050" y="13144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2AA7CF"/>
            </a:solidFill>
            <a:prstDash val="solid"/>
          </a:ln>
        </p:spPr>
        <p:txBody>
          <a:bodyPr/>
          <a:p/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4495800" y="1295400"/>
            <a:ext cx="1143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Door delivery</a:t>
            </a:r>
            <a:endParaRPr/>
          </a:p>
        </p:txBody>
      </p:sp>
      <p:sp>
        <p:nvSpPr>
          <p:cNvPr id="974" name=""/>
          <p:cNvSpPr/>
          <p:nvPr/>
        </p:nvSpPr>
        <p:spPr>
          <a:xfrm rot="0" flipH="0" flipV="0">
            <a:off x="7143750" y="1304925"/>
            <a:ext cx="438150" cy="209550"/>
          </a:xfrm>
          <a:prstGeom prst="roundRect">
            <a:avLst>
              <a:gd name="adj" fmla="val 4540909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7239000" y="13335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Inter"/>
                <a:ea typeface="Inter"/>
              </a:rPr>
              <a:t>默认</a:t>
            </a:r>
            <a:endParaRPr/>
          </a:p>
        </p:txBody>
      </p:sp>
      <p:sp>
        <p:nvSpPr>
          <p:cNvPr id="976" name="" descr="{&quot;isTemplate&quot;:true,&quot;type&quot;:&quot;text&quot;}"/>
          <p:cNvSpPr txBox="1"/>
          <p:nvPr/>
        </p:nvSpPr>
        <p:spPr>
          <a:xfrm rot="0" flipH="0" flipV="0">
            <a:off x="4210050" y="1562100"/>
            <a:ext cx="3371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We deliver to your address</a:t>
            </a:r>
            <a:endParaRPr/>
          </a:p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4210050" y="184785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A7CF"/>
                </a:solidFill>
                <a:latin typeface="Inter"/>
                <a:ea typeface="Inter"/>
              </a:rPr>
              <a:t>·</a:t>
            </a:r>
            <a:endParaRPr/>
          </a:p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4362450" y="1847850"/>
            <a:ext cx="3219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收货地址表单生效</a:t>
            </a:r>
            <a:endParaRPr/>
          </a:p>
        </p:txBody>
      </p:sp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4210050" y="216217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A7CF"/>
                </a:solidFill>
                <a:latin typeface="Inter"/>
                <a:ea typeface="Inter"/>
              </a:rPr>
              <a:t>·</a:t>
            </a:r>
            <a:endParaRPr/>
          </a:p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4362450" y="2162175"/>
            <a:ext cx="3219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可选已保存地址或新增</a:t>
            </a:r>
            <a:endParaRPr/>
          </a:p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4210050" y="24765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A7CF"/>
                </a:solidFill>
                <a:latin typeface="Inter"/>
                <a:ea typeface="Inter"/>
              </a:rPr>
              <a:t>·</a:t>
            </a:r>
            <a:endParaRPr/>
          </a:p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4362450" y="2476500"/>
            <a:ext cx="3219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需填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Full name / Phone / City / State</a:t>
            </a:r>
            <a:endParaRPr/>
          </a:p>
        </p:txBody>
      </p:sp>
      <p:sp>
        <p:nvSpPr>
          <p:cNvPr id="983" name=""/>
          <p:cNvSpPr/>
          <p:nvPr/>
        </p:nvSpPr>
        <p:spPr>
          <a:xfrm rot="0" flipH="0" flipV="0">
            <a:off x="7905750" y="1143000"/>
            <a:ext cx="3714750" cy="1743075"/>
          </a:xfrm>
          <a:prstGeom prst="roundRect">
            <a:avLst>
              <a:gd name="adj" fmla="val 5464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984" name=""/>
          <p:cNvSpPr/>
          <p:nvPr/>
        </p:nvSpPr>
        <p:spPr>
          <a:xfrm rot="0" flipH="0" flipV="0">
            <a:off x="8077200" y="13144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859EB3"/>
            </a:solidFill>
            <a:prstDash val="solid"/>
          </a:ln>
        </p:spPr>
        <p:txBody>
          <a:bodyPr/>
          <a:p/>
        </p:txBody>
      </p:sp>
      <p:sp>
        <p:nvSpPr>
          <p:cNvPr id="985" name="" descr="{&quot;isTemplate&quot;:true,&quot;type&quot;:&quot;text&quot;}"/>
          <p:cNvSpPr txBox="1"/>
          <p:nvPr/>
        </p:nvSpPr>
        <p:spPr>
          <a:xfrm rot="0" flipH="0" flipV="0">
            <a:off x="8362950" y="1295400"/>
            <a:ext cx="1019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Self-pickup</a:t>
            </a:r>
            <a:endParaRPr/>
          </a:p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8077200" y="1562100"/>
            <a:ext cx="3371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Pick up at our office</a:t>
            </a:r>
            <a:endParaRPr/>
          </a:p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8077200" y="184785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A7CF"/>
                </a:solidFill>
                <a:latin typeface="Inter"/>
                <a:ea typeface="Inter"/>
              </a:rPr>
              <a:t>·</a:t>
            </a:r>
            <a:endParaRPr/>
          </a:p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8229600" y="1847850"/>
            <a:ext cx="3219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地址表单整块隐藏</a:t>
            </a:r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8077200" y="216217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A7CF"/>
                </a:solidFill>
                <a:latin typeface="Inter"/>
                <a:ea typeface="Inter"/>
              </a:rPr>
              <a:t>·</a:t>
            </a:r>
            <a:endParaRPr/>
          </a:p>
        </p:txBody>
      </p:sp>
      <p:sp>
        <p:nvSpPr>
          <p:cNvPr id="990" name="" descr="{&quot;isTemplate&quot;:true,&quot;type&quot;:&quot;text&quot;}"/>
          <p:cNvSpPr txBox="1"/>
          <p:nvPr/>
        </p:nvSpPr>
        <p:spPr>
          <a:xfrm rot="0" flipH="0" flipV="0">
            <a:off x="8229600" y="2162175"/>
            <a:ext cx="3219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改为选择自提网点</a:t>
            </a:r>
            <a:endParaRPr/>
          </a:p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8077200" y="24765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A7CF"/>
                </a:solidFill>
                <a:latin typeface="Inter"/>
                <a:ea typeface="Inter"/>
              </a:rPr>
              <a:t>·</a:t>
            </a:r>
            <a:endParaRPr/>
          </a:p>
        </p:txBody>
      </p:sp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8229600" y="2476500"/>
            <a:ext cx="3219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下单后到网点自取</a:t>
            </a:r>
            <a:endParaRPr/>
          </a:p>
        </p:txBody>
      </p:sp>
      <p:sp>
        <p:nvSpPr>
          <p:cNvPr id="993" name=""/>
          <p:cNvSpPr/>
          <p:nvPr/>
        </p:nvSpPr>
        <p:spPr>
          <a:xfrm rot="0" flipH="0" flipV="0">
            <a:off x="4038600" y="3038475"/>
            <a:ext cx="7581900" cy="3248025"/>
          </a:xfrm>
          <a:prstGeom prst="roundRect">
            <a:avLst>
              <a:gd name="adj" fmla="val 2933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4210050" y="3190875"/>
            <a:ext cx="2981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三个自提点（选中后显示</a:t>
            </a: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 Selected</a:t>
            </a: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9734550" y="321945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name="pickupLoc" ·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单选</a:t>
            </a:r>
            <a:endParaRPr/>
          </a:p>
        </p:txBody>
      </p:sp>
      <p:sp>
        <p:nvSpPr>
          <p:cNvPr id="996" name=""/>
          <p:cNvSpPr/>
          <p:nvPr/>
        </p:nvSpPr>
        <p:spPr>
          <a:xfrm rot="0" flipH="0" flipV="0">
            <a:off x="4248150" y="3524250"/>
            <a:ext cx="723900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7" name=""/>
          <p:cNvSpPr/>
          <p:nvPr/>
        </p:nvSpPr>
        <p:spPr>
          <a:xfrm rot="0" flipH="0" flipV="0">
            <a:off x="4248150" y="3524250"/>
            <a:ext cx="7239000" cy="428625"/>
          </a:xfrm>
          <a:custGeom>
            <a:pathLst>
              <a:path w="760" h="4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1"/>
                </a:lnTo>
                <a:cubicBezTo>
                  <a:pt x="4" y="43"/>
                  <a:pt x="5" y="45"/>
                  <a:pt x="7" y="45"/>
                </a:cubicBezTo>
                <a:cubicBezTo>
                  <a:pt x="3" y="45"/>
                  <a:pt x="0" y="41"/>
                  <a:pt x="0" y="3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998" name="" descr="{&quot;isTemplate&quot;:true,&quot;type&quot;:&quot;text&quot;}"/>
          <p:cNvSpPr txBox="1"/>
          <p:nvPr/>
        </p:nvSpPr>
        <p:spPr>
          <a:xfrm rot="0" flipH="0" flipV="0">
            <a:off x="4400550" y="363855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Lagos HQ</a:t>
            </a:r>
            <a:endParaRPr/>
          </a:p>
        </p:txBody>
      </p:sp>
      <p:sp>
        <p:nvSpPr>
          <p:cNvPr id="999" name=""/>
          <p:cNvSpPr/>
          <p:nvPr/>
        </p:nvSpPr>
        <p:spPr>
          <a:xfrm rot="0" flipH="0" flipV="0">
            <a:off x="6534150" y="3648075"/>
            <a:ext cx="361950" cy="190500"/>
          </a:xfrm>
          <a:prstGeom prst="roundRect">
            <a:avLst>
              <a:gd name="adj" fmla="val 20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6619875" y="3667125"/>
            <a:ext cx="190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Inter"/>
                <a:ea typeface="Inter"/>
              </a:rPr>
              <a:t>HQ</a:t>
            </a:r>
            <a:endParaRPr/>
          </a:p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7029450" y="3648075"/>
            <a:ext cx="2266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12B Admiralty Way, Lekki Phase 1</a:t>
            </a:r>
            <a:endParaRPr/>
          </a:p>
        </p:txBody>
      </p:sp>
      <p:pic>
        <p:nvPicPr>
          <p:cNvPr id="10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429750" y="3676650"/>
            <a:ext cx="142875" cy="142875"/>
          </a:xfrm>
          <a:prstGeom prst="rect">
            <a:avLst/>
          </a:prstGeom>
          <a:ln/>
        </p:spPr>
      </p:pic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9639300" y="3657600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Mon–Sat · 8:00 – 18:00</a:t>
            </a:r>
            <a:endParaRPr/>
          </a:p>
        </p:txBody>
      </p:sp>
      <p:sp>
        <p:nvSpPr>
          <p:cNvPr id="1004" name=""/>
          <p:cNvSpPr/>
          <p:nvPr/>
        </p:nvSpPr>
        <p:spPr>
          <a:xfrm rot="0" flipH="0" flipV="0">
            <a:off x="4248150" y="4029075"/>
            <a:ext cx="723900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5" name=""/>
          <p:cNvSpPr/>
          <p:nvPr/>
        </p:nvSpPr>
        <p:spPr>
          <a:xfrm rot="0" flipH="0" flipV="0">
            <a:off x="4248150" y="4029075"/>
            <a:ext cx="7239000" cy="428625"/>
          </a:xfrm>
          <a:custGeom>
            <a:pathLst>
              <a:path w="760" h="4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1"/>
                </a:lnTo>
                <a:cubicBezTo>
                  <a:pt x="4" y="43"/>
                  <a:pt x="5" y="45"/>
                  <a:pt x="7" y="45"/>
                </a:cubicBezTo>
                <a:cubicBezTo>
                  <a:pt x="3" y="45"/>
                  <a:pt x="0" y="41"/>
                  <a:pt x="0" y="3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3E6E8"/>
          </a:solidFill>
          <a:ln/>
        </p:spPr>
        <p:txBody>
          <a:bodyPr/>
          <a:p/>
        </p:txBody>
      </p:sp>
      <p:sp>
        <p:nvSpPr>
          <p:cNvPr id="1006" name="" descr="{&quot;isTemplate&quot;:true,&quot;type&quot;:&quot;text&quot;}"/>
          <p:cNvSpPr txBox="1"/>
          <p:nvPr/>
        </p:nvSpPr>
        <p:spPr>
          <a:xfrm rot="0" flipH="0" flipV="0">
            <a:off x="4400550" y="4143375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Abuja branch</a:t>
            </a:r>
            <a:endParaRPr/>
          </a:p>
        </p:txBody>
      </p:sp>
      <p:sp>
        <p:nvSpPr>
          <p:cNvPr id="1007" name="" descr="{&quot;isTemplate&quot;:true,&quot;type&quot;:&quot;text&quot;}"/>
          <p:cNvSpPr txBox="1"/>
          <p:nvPr/>
        </p:nvSpPr>
        <p:spPr>
          <a:xfrm rot="0" flipH="0" flipV="0">
            <a:off x="6534150" y="4152900"/>
            <a:ext cx="2819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Plot 24, Wuse Zone 5</a:t>
            </a:r>
            <a:endParaRPr/>
          </a:p>
        </p:txBody>
      </p:sp>
      <p:pic>
        <p:nvPicPr>
          <p:cNvPr id="10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486900" y="4181475"/>
            <a:ext cx="142875" cy="142875"/>
          </a:xfrm>
          <a:prstGeom prst="rect">
            <a:avLst/>
          </a:prstGeom>
          <a:ln/>
        </p:spPr>
      </p:pic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9696450" y="4162425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Mon–Fri · 9:00 – 17:00</a:t>
            </a:r>
            <a:endParaRPr/>
          </a:p>
        </p:txBody>
      </p:sp>
      <p:sp>
        <p:nvSpPr>
          <p:cNvPr id="1010" name=""/>
          <p:cNvSpPr/>
          <p:nvPr/>
        </p:nvSpPr>
        <p:spPr>
          <a:xfrm rot="0" flipH="0" flipV="0">
            <a:off x="4248150" y="4533900"/>
            <a:ext cx="723900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11" name=""/>
          <p:cNvSpPr/>
          <p:nvPr/>
        </p:nvSpPr>
        <p:spPr>
          <a:xfrm rot="0" flipH="0" flipV="0">
            <a:off x="4248150" y="4533900"/>
            <a:ext cx="7239000" cy="428625"/>
          </a:xfrm>
          <a:custGeom>
            <a:pathLst>
              <a:path w="760" h="4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1"/>
                </a:lnTo>
                <a:cubicBezTo>
                  <a:pt x="4" y="43"/>
                  <a:pt x="5" y="45"/>
                  <a:pt x="7" y="45"/>
                </a:cubicBezTo>
                <a:cubicBezTo>
                  <a:pt x="3" y="45"/>
                  <a:pt x="0" y="41"/>
                  <a:pt x="0" y="3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3E6E8"/>
          </a:solidFill>
          <a:ln/>
        </p:spPr>
        <p:txBody>
          <a:bodyPr/>
          <a:p/>
        </p:txBody>
      </p:sp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4400550" y="464820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Port Harcourt branch</a:t>
            </a:r>
            <a:endParaRPr/>
          </a:p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6534150" y="4657725"/>
            <a:ext cx="2819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5 Aba Road, GRA Phase 2</a:t>
            </a:r>
            <a:endParaRPr/>
          </a:p>
        </p:txBody>
      </p:sp>
      <p:pic>
        <p:nvPicPr>
          <p:cNvPr id="10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486900" y="4686300"/>
            <a:ext cx="142875" cy="142875"/>
          </a:xfrm>
          <a:prstGeom prst="rect">
            <a:avLst/>
          </a:prstGeom>
          <a:ln/>
        </p:spPr>
      </p:pic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9696450" y="4667250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Mon–Fri · 9:00 – 17:00</a:t>
            </a:r>
            <a:endParaRPr/>
          </a:p>
        </p:txBody>
      </p:sp>
      <p:sp>
        <p:nvSpPr>
          <p:cNvPr id="1016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1018" name="" descr="{&quot;isTemplate&quot;:true,&quot;type&quot;:&quot;text&quot;}"/>
          <p:cNvSpPr txBox="1"/>
          <p:nvPr/>
        </p:nvSpPr>
        <p:spPr>
          <a:xfrm rot="0" flipH="0" flipV="0">
            <a:off x="11115675" y="640080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08 / 25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019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第 4 步：五种支付方式&lt;/Text&gt;&#10;        &lt;Text style={{ fontSize: 16, color: '#5C646A', lineHeight: 1.4, marginTop: 6 }}&gt;&#10;            切换支付方式只切换面板，不跳页面；默认选中项由 DOM 顺序决定&#10;        &lt;/Text&gt;&#10;    &lt;/Box&gt;&#10;&#10;    {/* ===== B 区 内容区（非对称双栏 62:38） ===== */}&#10;    &lt;Box style={{ height: 540, flexDirection: 'row', gap: 24 }}&gt;&#10;        {/* 左栏：五种方式列表 */}&#10;        &lt;Box style={{ flex: 1, flexDirection: 'column', gap: 14 }}&gt;&#10;            &lt;Box style={{ flexDirection: 'row', alignItems: 'center', gap: 20, height: 110 }}&gt;&#10;                &lt;Text style={{ fontSize: 88, fontWeight: 'bold', color: '#F287B7', lineHeight: 1, letterSpacing: -4 }}&gt;5&lt;/Text&gt;&#10;                &lt;Box style={{ flexDirection: 'column' }}&gt;&#10;                    &lt;Text style={{ fontSize: 26, fontWeight: 'bold', color: '#202259' }}&gt;种支付方式&lt;/Text&gt;&#10;                    &lt;Text style={{ fontSize: 17, color: '#5C646A', lineHeight: 1.45, marginTop: 4, width: 520 }}&gt;&#10;                        单选 name=&quot;payMethod&quot;，五种分别是 cod / card / ussd / bank / balance，选哪个就展开哪块面板。&#10;                    &lt;/Text&gt;&#10;                &lt;/Box&gt;&#10;            &lt;/Box&gt;&#10;&#10;            &lt;Box style={{ flex: 1, flexDirection: 'column', gap: 8 }}&gt;&#10;                {[&#10;                    { t: 'Cash on delivery', s: 'Pay when you receive your order', f: '无字段 · 仅说明文案', v: 'cod', hot: false },&#10;                    { t: 'Debit / credit card', s: 'Instant · Visa, MC, Verve', f: '卡号 / 持卡人 / MM/YY / CVV', v: 'card', hot: false },&#10;                    { t: 'USSD', s: 'All Nigerian banks', f: '固定码 *737*50*100000#', v: 'ussd', hot: true },&#10;                    { t: 'Bank transfer', s: 'Manual · 1–2 hrs', f: 'GTBank Plc · 012 345 6789 · Elken Nigeria Ltd', v: 'bank', hot: false },&#10;                    { t: 'Account Balance', s: 'Pay with your Member Ecoin balance', f: '直接扣减 Ecoin，显示扣后余额', v: 'balance', hot: false },&#10;                ].map(function (it, i) {&#10;                    return (&#10;                        &lt;Box key={i} style={{ flex: 1, flexDirection: 'row', alignItems: 'center', gap: 16, padding: '0 18px', background: it.hot ? 'rgba(242,135,183,0.12)' : '#F4F6F8', borderLeft: it.hot ? '4px solid #F287B7' : '4px solid #2AA7CF', borderRadius: 8 }}&gt;&#10;                            &lt;Box style={{ flexDirection: 'column', width: 250 }}&gt;&#10;                                &lt;Text style={{ fontSize: 19, fontWeight: 'bold', color: '#202259' }}&gt;{it.t}&lt;/Text&gt;&#10;                                &lt;Text style={{ fontSize: 15, color: '#5C646A', marginTop: 3 }}&gt;{it.s}&lt;/Text&gt;&#10;                            &lt;/Box&gt;&#10;                            &lt;Text style={{ fontSize: 16, color: '#3F4A55', flex: 1 }}&gt;{it.f}&lt;/Text&gt;&#10;                            &lt;Text style={{ fontSize: 15, color: '#859EB3', fontFamily: 'Menlo, ui-monospace, monospace' }}&gt;{it.v}&lt;/Text&gt;&#10;                        &lt;/Box&gt;&#10;                    );&#10;                })}&#10;            &lt;/Box&gt;&#10;        &lt;/Box&gt;&#10;&#10;        {/* 右栏：关键提示 */}&#10;        &lt;Box style={{ width: 396, flexDirection: 'column', justifyContent: 'space-between' }}&gt;&#10;            &lt;Box style={{ flexDirection: 'column' }}&gt;&#10;                &lt;Text style={{ fontSize: 15, color: '#2AA7CF', letterSpacing: 2, fontWeight: 'bold' }}&gt;WATCH OUT&lt;/Text&gt;&#10;                &lt;Text style={{ fontSize: 23, fontWeight: 'bold', color: '#202259', marginTop: 10, lineHeight: 1.35 }}&gt;&#10;                    讲解时必须说清的两件事&#10;                &lt;/Text&gt;&#10;&#10;                &lt;Box style={{ flexDirection: 'column', gap: 10, marginTop: 16 }}&gt;&#10;                    &lt;Box style={{ flexDirection: 'row', gap: 12, alignItems: 'flex-start' }}&gt;&#10;                        &lt;FAIcon name='exclamation-triangle' style={{ fill: '#B3528A', width: 20, height: 20 }} /&gt;&#10;                        &lt;Text style={{ fontSize: 17, color: '#3F4A55', lineHeight: 1.5, flex: 1 }}&gt;&#10;                            &lt;span style={{ fontWeight: 'bold', color: '#202259' }}&gt;USSD 码是写死的 &lt;/span&gt;&#10;                            *737*50*100000#，金额不会跟着订单变。讲的时候按&quot;演示用固定码&quot;来说，不要说成动态生成。&#10;                        &lt;/Text&gt;&#10;                    &lt;/Box&gt;&#10;                    &lt;Box style={{ flexDirection: 'row', gap: 12, alignItems: 'flex-start' }}&gt;&#10;                        &lt;FAIcon name='check-circle' style={{ fill: '#2AA7CF', width: 20, height: 20 }} /&gt;&#10;                        &lt;Text style={{ fontSize: 17, color: '#3F4A55', lineHeight: 1.5, flex: 1 }}&gt;&#10;                            &lt;span style={{ fontWeight: 'bold', color: '#202259' }}&gt;只有余额支付会当场扣款&lt;/span&gt;&#10;                            ，并把支付状态写成 Paid；其余四种的初始状态一律是 Unpaid。&#10;                        &lt;/Text&gt;&#10;                    &lt;/Box&gt;&#10;                    &lt;Box style={{ flexDirection: 'row', gap: 12, alignItems: 'flex-start' }}&gt;&#10;                        &lt;FAIcon name='lock' style={{ fill: '#2AA7CF', width: 20, height: 20 }} /&gt;&#10;                        &lt;Text style={{ fontSize: 17, color: '#3F4A55', lineHeight: 1.5, flex: 1 }}&gt;&#10;                            &lt;span style={{ fontWeight: 'bold', color: '#202259' }}&gt;卡信息有格式校验&lt;/span&gt;&#10;                            ：卡号去空格后不少于 13 位、持卡人至少 2 个字符、有效期符合 MM/YY、CVV 至少 3 位，任一不通过按钮不放行。&#10;                        &lt;/Text&gt;&#10;                    &lt;/Box&gt;&#10;                    &lt;Box style={{ flexDirection: 'row', gap: 12, alignItems: 'flex-start' }}&gt;&#10;                        &lt;FAIcon name='ban' style={{ fill: '#859EB3', width: 20, height: 20 }} /&gt;&#10;                        &lt;Text style={{ fontSize: 17, color: '#3F4A55', lineHeight: 1.5, flex: 1 }}&gt;&#10;                            &lt;span style={{ fontWeight: 'bold', color: '#202259' }}&gt;余额为 0 时该选项直接禁用&lt;/span&gt;&#10;                            ，此时默认选中项会自动落到列表里第一个可用方式，而不是固定 COD。&#10;                        &lt;/Text&gt;&#10;                    &lt;/Box&gt;&#10;                &lt;/Box&gt;&#10;            &lt;/Box&gt;&#10;&#10;            &lt;Box style={{ padding: '13px 16px', background: '#202259', borderRadius: 8, flexDirection: 'column', gap: 4, marginTop: 'auto' }}&gt;&#10;                &lt;Text style={{ fontSize: 16, color: '#7FD3EC', fontWeight: 'bold' }}&gt;卡面板顶部的安全文案&lt;/Text&gt;&#10;                &lt;Text style={{ fontSize: 17, color: '#D6E2F5', lineHeight: 1.45 }}&gt;&#10;                    Secured by Paystack · 256-bit encryption · PCI-DSS Level 1&#10;                &lt;/Text&gt;&#10;            &lt;/Box&gt;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09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第</a:t>
            </a:r>
            <a:r>
              <a:rPr lang="en-US" sz="2550" b="1">
                <a:solidFill>
                  <a:srgbClr val="202259"/>
                </a:solidFill>
                <a:latin typeface="Inter"/>
                <a:ea typeface="Inter"/>
              </a:rPr>
              <a:t> 4 </a:t>
            </a: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步：五种支付方式</a:t>
            </a:r>
            <a:endParaRPr/>
          </a:p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切换支付方式只切换面板，不跳页面；默认选中项由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DOM 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顺序决定</a:t>
            </a:r>
            <a:endParaRPr/>
          </a:p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571500" y="1162050"/>
            <a:ext cx="46672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 spc="-300">
                <a:solidFill>
                  <a:srgbClr val="F287B7"/>
                </a:solidFill>
                <a:latin typeface="Inter"/>
                <a:ea typeface="Inter"/>
              </a:rPr>
              <a:t>5</a:t>
            </a:r>
            <a:endParaRPr/>
          </a:p>
        </p:txBody>
      </p:sp>
      <p:sp>
        <p:nvSpPr>
          <p:cNvPr id="1024" name="" descr="{&quot;isTemplate&quot;:true,&quot;type&quot;:&quot;text&quot;}"/>
          <p:cNvSpPr txBox="1"/>
          <p:nvPr/>
        </p:nvSpPr>
        <p:spPr>
          <a:xfrm rot="0" flipH="0" flipV="0">
            <a:off x="1228725" y="1209675"/>
            <a:ext cx="4953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202259"/>
                </a:solidFill>
                <a:latin typeface="Inter"/>
                <a:ea typeface="Inter"/>
              </a:rPr>
              <a:t>种支付方式</a:t>
            </a:r>
            <a:endParaRPr/>
          </a:p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1228725" y="1552575"/>
            <a:ext cx="49530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5C646A"/>
                </a:solidFill>
                <a:latin typeface="Inter"/>
                <a:ea typeface="Inter"/>
              </a:rPr>
              <a:t>单选</a:t>
            </a:r>
            <a:r>
              <a:rPr lang="en-US" sz="1275">
                <a:solidFill>
                  <a:srgbClr val="5C646A"/>
                </a:solidFill>
                <a:latin typeface="Inter"/>
                <a:ea typeface="Inter"/>
              </a:rPr>
              <a:t> name="payMethod"</a:t>
            </a:r>
            <a:r>
              <a:rPr lang="zh-CN" sz="1275">
                <a:solidFill>
                  <a:srgbClr val="5C646A"/>
                </a:solidFill>
                <a:latin typeface="Inter"/>
                <a:ea typeface="Inter"/>
              </a:rPr>
              <a:t>，五种分别是</a:t>
            </a:r>
            <a:r>
              <a:rPr lang="en-US" sz="1275">
                <a:solidFill>
                  <a:srgbClr val="5C646A"/>
                </a:solidFill>
                <a:latin typeface="Inter"/>
                <a:ea typeface="Inter"/>
              </a:rPr>
              <a:t> cod / card / ussd / bank / balance</a:t>
            </a:r>
            <a:r>
              <a:rPr lang="zh-CN" sz="1275">
                <a:solidFill>
                  <a:srgbClr val="5C646A"/>
                </a:solidFill>
                <a:latin typeface="Inter"/>
                <a:ea typeface="Inter"/>
              </a:rPr>
              <a:t>，选哪个就展开哪块面板。</a:t>
            </a:r>
            <a:endParaRPr/>
          </a:p>
        </p:txBody>
      </p:sp>
      <p:sp>
        <p:nvSpPr>
          <p:cNvPr id="1026" name=""/>
          <p:cNvSpPr/>
          <p:nvPr/>
        </p:nvSpPr>
        <p:spPr>
          <a:xfrm rot="0" flipH="0" flipV="0">
            <a:off x="609600" y="2324100"/>
            <a:ext cx="7048500" cy="695325"/>
          </a:xfrm>
          <a:prstGeom prst="roundRect">
            <a:avLst>
              <a:gd name="adj" fmla="val 1095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27" name=""/>
          <p:cNvSpPr/>
          <p:nvPr/>
        </p:nvSpPr>
        <p:spPr>
          <a:xfrm rot="0" flipH="0" flipV="0">
            <a:off x="609600" y="2324100"/>
            <a:ext cx="7048500" cy="695325"/>
          </a:xfrm>
          <a:custGeom>
            <a:pathLst>
              <a:path w="740" h="7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9"/>
                </a:lnTo>
                <a:cubicBezTo>
                  <a:pt x="4" y="71"/>
                  <a:pt x="5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781050" y="2466975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Cash on delivery</a:t>
            </a:r>
            <a:endParaRPr/>
          </a:p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781050" y="2714625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Pay when you receive your order</a:t>
            </a:r>
            <a:endParaRPr/>
          </a:p>
        </p:txBody>
      </p:sp>
      <p:sp>
        <p:nvSpPr>
          <p:cNvPr id="1030" name="" descr="{&quot;isTemplate&quot;:true,&quot;type&quot;:&quot;text&quot;}"/>
          <p:cNvSpPr txBox="1"/>
          <p:nvPr/>
        </p:nvSpPr>
        <p:spPr>
          <a:xfrm rot="0" flipH="0" flipV="0">
            <a:off x="3314700" y="2581275"/>
            <a:ext cx="3714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无字段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·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仅说明文案</a:t>
            </a:r>
            <a:endParaRPr/>
          </a:p>
        </p:txBody>
      </p:sp>
      <p:sp>
        <p:nvSpPr>
          <p:cNvPr id="1031" name="" descr="{&quot;isTemplate&quot;:true,&quot;type&quot;:&quot;text&quot;}"/>
          <p:cNvSpPr txBox="1"/>
          <p:nvPr/>
        </p:nvSpPr>
        <p:spPr>
          <a:xfrm rot="0" flipH="0" flipV="0">
            <a:off x="7181850" y="2590800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59EB3"/>
                </a:solidFill>
                <a:latin typeface="Menlo"/>
                <a:ea typeface="Menlo"/>
              </a:rPr>
              <a:t>cod</a:t>
            </a:r>
            <a:endParaRPr/>
          </a:p>
        </p:txBody>
      </p:sp>
      <p:sp>
        <p:nvSpPr>
          <p:cNvPr id="1032" name=""/>
          <p:cNvSpPr/>
          <p:nvPr/>
        </p:nvSpPr>
        <p:spPr>
          <a:xfrm rot="0" flipH="0" flipV="0">
            <a:off x="609600" y="3095625"/>
            <a:ext cx="7048500" cy="695325"/>
          </a:xfrm>
          <a:prstGeom prst="roundRect">
            <a:avLst>
              <a:gd name="adj" fmla="val 1095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33" name=""/>
          <p:cNvSpPr/>
          <p:nvPr/>
        </p:nvSpPr>
        <p:spPr>
          <a:xfrm rot="0" flipH="0" flipV="0">
            <a:off x="609600" y="3095625"/>
            <a:ext cx="7048500" cy="695325"/>
          </a:xfrm>
          <a:custGeom>
            <a:pathLst>
              <a:path w="740" h="7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9"/>
                </a:lnTo>
                <a:cubicBezTo>
                  <a:pt x="4" y="71"/>
                  <a:pt x="5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1034" name="" descr="{&quot;isTemplate&quot;:true,&quot;type&quot;:&quot;text&quot;}"/>
          <p:cNvSpPr txBox="1"/>
          <p:nvPr/>
        </p:nvSpPr>
        <p:spPr>
          <a:xfrm rot="0" flipH="0" flipV="0">
            <a:off x="781050" y="3238500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Debit / credit card</a:t>
            </a:r>
            <a:endParaRPr/>
          </a:p>
        </p:txBody>
      </p:sp>
      <p:sp>
        <p:nvSpPr>
          <p:cNvPr id="1035" name="" descr="{&quot;isTemplate&quot;:true,&quot;type&quot;:&quot;text&quot;}"/>
          <p:cNvSpPr txBox="1"/>
          <p:nvPr/>
        </p:nvSpPr>
        <p:spPr>
          <a:xfrm rot="0" flipH="0" flipV="0">
            <a:off x="781050" y="348615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Instant · Visa, MC, Verve</a:t>
            </a:r>
            <a:endParaRPr/>
          </a:p>
        </p:txBody>
      </p:sp>
      <p:sp>
        <p:nvSpPr>
          <p:cNvPr id="1036" name="" descr="{&quot;isTemplate&quot;:true,&quot;type&quot;:&quot;text&quot;}"/>
          <p:cNvSpPr txBox="1"/>
          <p:nvPr/>
        </p:nvSpPr>
        <p:spPr>
          <a:xfrm rot="0" flipH="0" flipV="0">
            <a:off x="3314700" y="3352800"/>
            <a:ext cx="3629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卡号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/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持卡人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/ MM/YY / CVV</a:t>
            </a:r>
            <a:endParaRPr/>
          </a:p>
        </p:txBody>
      </p:sp>
      <p:sp>
        <p:nvSpPr>
          <p:cNvPr id="1037" name="" descr="{&quot;isTemplate&quot;:true,&quot;type&quot;:&quot;text&quot;}"/>
          <p:cNvSpPr txBox="1"/>
          <p:nvPr/>
        </p:nvSpPr>
        <p:spPr>
          <a:xfrm rot="0" flipH="0" flipV="0">
            <a:off x="7096125" y="3362325"/>
            <a:ext cx="352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59EB3"/>
                </a:solidFill>
                <a:latin typeface="Menlo"/>
                <a:ea typeface="Menlo"/>
              </a:rPr>
              <a:t>card</a:t>
            </a:r>
            <a:endParaRPr/>
          </a:p>
        </p:txBody>
      </p:sp>
      <p:sp>
        <p:nvSpPr>
          <p:cNvPr id="1038" name=""/>
          <p:cNvSpPr/>
          <p:nvPr/>
        </p:nvSpPr>
        <p:spPr>
          <a:xfrm rot="0" flipH="0" flipV="0">
            <a:off x="609600" y="3867150"/>
            <a:ext cx="7048500" cy="704850"/>
          </a:xfrm>
          <a:prstGeom prst="roundRect">
            <a:avLst>
              <a:gd name="adj" fmla="val 10811"/>
            </a:avLst>
          </a:prstGeom>
          <a:solidFill>
            <a:srgbClr val="F287B7">
              <a:alpha val="12000"/>
            </a:srgbClr>
          </a:solidFill>
          <a:ln/>
        </p:spPr>
        <p:txBody>
          <a:bodyPr/>
          <a:p/>
        </p:txBody>
      </p:sp>
      <p:sp>
        <p:nvSpPr>
          <p:cNvPr id="1039" name=""/>
          <p:cNvSpPr/>
          <p:nvPr/>
        </p:nvSpPr>
        <p:spPr>
          <a:xfrm rot="0" flipH="0" flipV="0">
            <a:off x="609600" y="3867150"/>
            <a:ext cx="7048500" cy="704850"/>
          </a:xfrm>
          <a:custGeom>
            <a:pathLst>
              <a:path w="740" h="7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0"/>
                </a:lnTo>
                <a:cubicBezTo>
                  <a:pt x="4" y="72"/>
                  <a:pt x="5" y="74"/>
                  <a:pt x="7" y="74"/>
                </a:cubicBezTo>
                <a:cubicBezTo>
                  <a:pt x="3" y="74"/>
                  <a:pt x="0" y="70"/>
                  <a:pt x="0" y="6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781050" y="4010025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USSD</a:t>
            </a:r>
            <a:endParaRPr/>
          </a:p>
        </p:txBody>
      </p:sp>
      <p:sp>
        <p:nvSpPr>
          <p:cNvPr id="1041" name="" descr="{&quot;isTemplate&quot;:true,&quot;type&quot;:&quot;text&quot;}"/>
          <p:cNvSpPr txBox="1"/>
          <p:nvPr/>
        </p:nvSpPr>
        <p:spPr>
          <a:xfrm rot="0" flipH="0" flipV="0">
            <a:off x="781050" y="4257675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All Nigerian banks</a:t>
            </a:r>
            <a:endParaRPr/>
          </a:p>
        </p:txBody>
      </p:sp>
      <p:sp>
        <p:nvSpPr>
          <p:cNvPr id="1042" name="" descr="{&quot;isTemplate&quot;:true,&quot;type&quot;:&quot;text&quot;}"/>
          <p:cNvSpPr txBox="1"/>
          <p:nvPr/>
        </p:nvSpPr>
        <p:spPr>
          <a:xfrm rot="0" flipH="0" flipV="0">
            <a:off x="3314700" y="4124325"/>
            <a:ext cx="3629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固定码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*737*50*100000#</a:t>
            </a:r>
            <a:endParaRPr/>
          </a:p>
        </p:txBody>
      </p:sp>
      <p:sp>
        <p:nvSpPr>
          <p:cNvPr id="1043" name="" descr="{&quot;isTemplate&quot;:true,&quot;type&quot;:&quot;text&quot;}"/>
          <p:cNvSpPr txBox="1"/>
          <p:nvPr/>
        </p:nvSpPr>
        <p:spPr>
          <a:xfrm rot="0" flipH="0" flipV="0">
            <a:off x="7096125" y="4133850"/>
            <a:ext cx="352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59EB3"/>
                </a:solidFill>
                <a:latin typeface="Menlo"/>
                <a:ea typeface="Menlo"/>
              </a:rPr>
              <a:t>ussd</a:t>
            </a:r>
            <a:endParaRPr/>
          </a:p>
        </p:txBody>
      </p:sp>
      <p:sp>
        <p:nvSpPr>
          <p:cNvPr id="1044" name=""/>
          <p:cNvSpPr/>
          <p:nvPr/>
        </p:nvSpPr>
        <p:spPr>
          <a:xfrm rot="0" flipH="0" flipV="0">
            <a:off x="609600" y="4648200"/>
            <a:ext cx="7048500" cy="695325"/>
          </a:xfrm>
          <a:prstGeom prst="roundRect">
            <a:avLst>
              <a:gd name="adj" fmla="val 1095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45" name=""/>
          <p:cNvSpPr/>
          <p:nvPr/>
        </p:nvSpPr>
        <p:spPr>
          <a:xfrm rot="0" flipH="0" flipV="0">
            <a:off x="609600" y="4648200"/>
            <a:ext cx="7048500" cy="695325"/>
          </a:xfrm>
          <a:custGeom>
            <a:pathLst>
              <a:path w="740" h="7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9"/>
                </a:lnTo>
                <a:cubicBezTo>
                  <a:pt x="4" y="71"/>
                  <a:pt x="5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781050" y="4791075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Bank transfer</a:t>
            </a:r>
            <a:endParaRPr/>
          </a:p>
        </p:txBody>
      </p:sp>
      <p:sp>
        <p:nvSpPr>
          <p:cNvPr id="1047" name="" descr="{&quot;isTemplate&quot;:true,&quot;type&quot;:&quot;text&quot;}"/>
          <p:cNvSpPr txBox="1"/>
          <p:nvPr/>
        </p:nvSpPr>
        <p:spPr>
          <a:xfrm rot="0" flipH="0" flipV="0">
            <a:off x="781050" y="5038725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Manual · 1–2 hrs</a:t>
            </a:r>
            <a:endParaRPr/>
          </a:p>
        </p:txBody>
      </p:sp>
      <p:sp>
        <p:nvSpPr>
          <p:cNvPr id="1048" name="" descr="{&quot;isTemplate&quot;:true,&quot;type&quot;:&quot;text&quot;}"/>
          <p:cNvSpPr txBox="1"/>
          <p:nvPr/>
        </p:nvSpPr>
        <p:spPr>
          <a:xfrm rot="0" flipH="0" flipV="0">
            <a:off x="3314700" y="4905375"/>
            <a:ext cx="3629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GTBank Plc · 012 345 6789 · Elken Nigeria Ltd</a:t>
            </a:r>
            <a:endParaRPr/>
          </a:p>
        </p:txBody>
      </p:sp>
      <p:sp>
        <p:nvSpPr>
          <p:cNvPr id="1049" name="" descr="{&quot;isTemplate&quot;:true,&quot;type&quot;:&quot;text&quot;}"/>
          <p:cNvSpPr txBox="1"/>
          <p:nvPr/>
        </p:nvSpPr>
        <p:spPr>
          <a:xfrm rot="0" flipH="0" flipV="0">
            <a:off x="7096125" y="4914900"/>
            <a:ext cx="352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59EB3"/>
                </a:solidFill>
                <a:latin typeface="Menlo"/>
                <a:ea typeface="Menlo"/>
              </a:rPr>
              <a:t>bank</a:t>
            </a:r>
            <a:endParaRPr/>
          </a:p>
        </p:txBody>
      </p:sp>
      <p:sp>
        <p:nvSpPr>
          <p:cNvPr id="1050" name=""/>
          <p:cNvSpPr/>
          <p:nvPr/>
        </p:nvSpPr>
        <p:spPr>
          <a:xfrm rot="0" flipH="0" flipV="0">
            <a:off x="609600" y="5419725"/>
            <a:ext cx="7048500" cy="866775"/>
          </a:xfrm>
          <a:prstGeom prst="roundRect">
            <a:avLst>
              <a:gd name="adj" fmla="val 879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51" name=""/>
          <p:cNvSpPr/>
          <p:nvPr/>
        </p:nvSpPr>
        <p:spPr>
          <a:xfrm rot="0" flipH="0" flipV="0">
            <a:off x="609600" y="5419725"/>
            <a:ext cx="7048500" cy="866775"/>
          </a:xfrm>
          <a:custGeom>
            <a:pathLst>
              <a:path w="740" h="9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7"/>
                </a:lnTo>
                <a:cubicBezTo>
                  <a:pt x="4" y="89"/>
                  <a:pt x="5" y="91"/>
                  <a:pt x="7" y="91"/>
                </a:cubicBezTo>
                <a:cubicBezTo>
                  <a:pt x="3" y="91"/>
                  <a:pt x="0" y="87"/>
                  <a:pt x="0" y="8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1052" name="" descr="{&quot;isTemplate&quot;:true,&quot;type&quot;:&quot;text&quot;}"/>
          <p:cNvSpPr txBox="1"/>
          <p:nvPr/>
        </p:nvSpPr>
        <p:spPr>
          <a:xfrm rot="0" flipH="0" flipV="0">
            <a:off x="781050" y="5562600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Account Balance</a:t>
            </a:r>
            <a:endParaRPr/>
          </a:p>
        </p:txBody>
      </p:sp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781050" y="5810250"/>
            <a:ext cx="238125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Pay with your Member Ecoin balance</a:t>
            </a:r>
            <a:endParaRPr/>
          </a:p>
        </p:txBody>
      </p:sp>
      <p:sp>
        <p:nvSpPr>
          <p:cNvPr id="1054" name="" descr="{&quot;isTemplate&quot;:true,&quot;type&quot;:&quot;text&quot;}"/>
          <p:cNvSpPr txBox="1"/>
          <p:nvPr/>
        </p:nvSpPr>
        <p:spPr>
          <a:xfrm rot="0" flipH="0" flipV="0">
            <a:off x="3314700" y="5762625"/>
            <a:ext cx="3371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直接扣减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Ecoin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，显示扣后余额</a:t>
            </a:r>
            <a:endParaRPr/>
          </a:p>
        </p:txBody>
      </p:sp>
      <p:sp>
        <p:nvSpPr>
          <p:cNvPr id="1055" name="" descr="{&quot;isTemplate&quot;:true,&quot;type&quot;:&quot;text&quot;}"/>
          <p:cNvSpPr txBox="1"/>
          <p:nvPr/>
        </p:nvSpPr>
        <p:spPr>
          <a:xfrm rot="0" flipH="0" flipV="0">
            <a:off x="6838950" y="5772150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59EB3"/>
                </a:solidFill>
                <a:latin typeface="Menlo"/>
                <a:ea typeface="Menlo"/>
              </a:rPr>
              <a:t>balance</a:t>
            </a:r>
            <a:endParaRPr/>
          </a:p>
        </p:txBody>
      </p:sp>
      <p:sp>
        <p:nvSpPr>
          <p:cNvPr id="1056" name="" descr="{&quot;isTemplate&quot;:true,&quot;type&quot;:&quot;text&quot;}"/>
          <p:cNvSpPr txBox="1"/>
          <p:nvPr/>
        </p:nvSpPr>
        <p:spPr>
          <a:xfrm rot="0" flipH="0" flipV="0">
            <a:off x="7848600" y="114300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AA7CF"/>
                </a:solidFill>
                <a:latin typeface="Inter"/>
                <a:ea typeface="Inter"/>
              </a:rPr>
              <a:t>WATCH OUT</a:t>
            </a:r>
            <a:endParaRPr/>
          </a:p>
        </p:txBody>
      </p:sp>
      <p:sp>
        <p:nvSpPr>
          <p:cNvPr id="1057" name="" descr="{&quot;isTemplate&quot;:true,&quot;type&quot;:&quot;text&quot;}"/>
          <p:cNvSpPr txBox="1"/>
          <p:nvPr/>
        </p:nvSpPr>
        <p:spPr>
          <a:xfrm rot="0" flipH="0" flipV="0">
            <a:off x="7848600" y="1409700"/>
            <a:ext cx="3771900" cy="3619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725" b="1">
                <a:solidFill>
                  <a:srgbClr val="202259"/>
                </a:solidFill>
                <a:latin typeface="Inter"/>
                <a:ea typeface="Inter"/>
              </a:rPr>
              <a:t>讲解时必须说清的两件事</a:t>
            </a:r>
            <a:endParaRPr/>
          </a:p>
        </p:txBody>
      </p:sp>
      <p:pic>
        <p:nvPicPr>
          <p:cNvPr id="10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48600" y="1924050"/>
            <a:ext cx="190500" cy="190500"/>
          </a:xfrm>
          <a:prstGeom prst="rect">
            <a:avLst/>
          </a:prstGeom>
          <a:ln/>
        </p:spPr>
      </p:pic>
      <p:sp>
        <p:nvSpPr>
          <p:cNvPr id="1059" name="" descr="{&quot;isTemplate&quot;:true,&quot;type&quot;:&quot;text&quot;}"/>
          <p:cNvSpPr txBox="1"/>
          <p:nvPr/>
        </p:nvSpPr>
        <p:spPr>
          <a:xfrm rot="0" flipH="0" flipV="0">
            <a:off x="8153400" y="1924050"/>
            <a:ext cx="34671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USSD </a:t>
            </a: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码是写死的</a:t>
            </a: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 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*737*50*100000#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，金额不会跟着订单变。讲的时候按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演示用固定码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来说，不要说成动态生成。</a:t>
            </a:r>
            <a:endParaRPr/>
          </a:p>
        </p:txBody>
      </p:sp>
      <p:pic>
        <p:nvPicPr>
          <p:cNvPr id="10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848600" y="2895600"/>
            <a:ext cx="190500" cy="190500"/>
          </a:xfrm>
          <a:prstGeom prst="rect">
            <a:avLst/>
          </a:prstGeom>
          <a:ln/>
        </p:spPr>
      </p:pic>
      <p:sp>
        <p:nvSpPr>
          <p:cNvPr id="1061" name="" descr="{&quot;isTemplate&quot;:true,&quot;type&quot;:&quot;text&quot;}"/>
          <p:cNvSpPr txBox="1"/>
          <p:nvPr/>
        </p:nvSpPr>
        <p:spPr>
          <a:xfrm rot="0" flipH="0" flipV="0">
            <a:off x="8153400" y="2895600"/>
            <a:ext cx="3467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只有余额支付会当场扣款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，并把支付状态写成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Paid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；其余四种的初始状态一律是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Unpaid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。</a:t>
            </a:r>
            <a:endParaRPr/>
          </a:p>
        </p:txBody>
      </p:sp>
      <p:pic>
        <p:nvPicPr>
          <p:cNvPr id="10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848600" y="3581400"/>
            <a:ext cx="190500" cy="190500"/>
          </a:xfrm>
          <a:prstGeom prst="rect">
            <a:avLst/>
          </a:prstGeom>
          <a:ln/>
        </p:spPr>
      </p:pic>
      <p:sp>
        <p:nvSpPr>
          <p:cNvPr id="1063" name="" descr="{&quot;isTemplate&quot;:true,&quot;type&quot;:&quot;text&quot;}"/>
          <p:cNvSpPr txBox="1"/>
          <p:nvPr/>
        </p:nvSpPr>
        <p:spPr>
          <a:xfrm rot="0" flipH="0" flipV="0">
            <a:off x="8153400" y="3581400"/>
            <a:ext cx="346710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卡信息有格式校验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：卡号去空格后不少于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13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位、持卡人至少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2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个字符、有效期符合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MM/YY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、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CVV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至少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3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位，任一不通过按钮不放行。</a:t>
            </a:r>
            <a:endParaRPr/>
          </a:p>
        </p:txBody>
      </p:sp>
      <p:pic>
        <p:nvPicPr>
          <p:cNvPr id="10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848600" y="4848225"/>
            <a:ext cx="190500" cy="190500"/>
          </a:xfrm>
          <a:prstGeom prst="rect">
            <a:avLst/>
          </a:prstGeom>
          <a:ln/>
        </p:spPr>
      </p:pic>
      <p:sp>
        <p:nvSpPr>
          <p:cNvPr id="1065" name="" descr="{&quot;isTemplate&quot;:true,&quot;type&quot;:&quot;text&quot;}"/>
          <p:cNvSpPr txBox="1"/>
          <p:nvPr/>
        </p:nvSpPr>
        <p:spPr>
          <a:xfrm rot="0" flipH="0" flipV="0">
            <a:off x="8153400" y="4848225"/>
            <a:ext cx="34671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余额为</a:t>
            </a: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 0 </a:t>
            </a: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时该选项直接禁用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，此时默认选中项会自动落到列表里第一个可用方式，而不是固定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COD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1066" name=""/>
          <p:cNvSpPr/>
          <p:nvPr/>
        </p:nvSpPr>
        <p:spPr>
          <a:xfrm rot="0" flipH="0" flipV="0">
            <a:off x="7848600" y="5724525"/>
            <a:ext cx="3771900" cy="1047750"/>
          </a:xfrm>
          <a:prstGeom prst="roundRect">
            <a:avLst>
              <a:gd name="adj" fmla="val 7273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067" name="" descr="{&quot;isTemplate&quot;:true,&quot;type&quot;:&quot;text&quot;}"/>
          <p:cNvSpPr txBox="1"/>
          <p:nvPr/>
        </p:nvSpPr>
        <p:spPr>
          <a:xfrm rot="0" flipH="0" flipV="0">
            <a:off x="8001000" y="5848350"/>
            <a:ext cx="3467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7FD3EC"/>
                </a:solidFill>
                <a:latin typeface="Inter"/>
                <a:ea typeface="Inter"/>
              </a:rPr>
              <a:t>卡面板顶部的安全文案</a:t>
            </a:r>
            <a:endParaRPr/>
          </a:p>
        </p:txBody>
      </p:sp>
      <p:sp>
        <p:nvSpPr>
          <p:cNvPr id="1068" name="" descr="{&quot;isTemplate&quot;:true,&quot;type&quot;:&quot;text&quot;}"/>
          <p:cNvSpPr txBox="1"/>
          <p:nvPr/>
        </p:nvSpPr>
        <p:spPr>
          <a:xfrm rot="0" flipH="0" flipV="0">
            <a:off x="8001000" y="6076950"/>
            <a:ext cx="3467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75">
                <a:solidFill>
                  <a:srgbClr val="D6E2F5"/>
                </a:solidFill>
                <a:latin typeface="Inter"/>
                <a:ea typeface="Inter"/>
              </a:rPr>
              <a:t>Secured by Paystack · 256-bit encryption · PCI-DSS Level 1</a:t>
            </a:r>
            <a:endParaRPr/>
          </a:p>
        </p:txBody>
      </p:sp>
      <p:sp>
        <p:nvSpPr>
          <p:cNvPr id="1069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070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1071" name="" descr="{&quot;isTemplate&quot;:true,&quot;type&quot;:&quot;text&quot;}"/>
          <p:cNvSpPr txBox="1"/>
          <p:nvPr/>
        </p:nvSpPr>
        <p:spPr>
          <a:xfrm rot="0" flipH="0" flipV="0">
            <a:off x="11115675" y="640080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09 / 25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29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第 5 步：订单摘要与下单按钮&lt;/Text&gt;&#10;        &lt;Text style={{ fontSize: 16, color: '#5C646A', lineHeight: 1.4, marginTop: 6 }}&gt;&#10;            摘要区一共只有五行，按钮放行要同时满足四类条件&#10;        &lt;/Text&gt;&#10;    &lt;/Box&gt;&#10;&#10;    {/* ===== B 区 内容区（左摘要 + 右条件） ===== */}&#10;    &lt;Box style={{ height: 540, flexDirection: 'row', gap: 24 }}&gt;&#10;        {/* 左侧：摘要结构 */}&#10;        &lt;Box style={{ flex: 1, flexDirection: 'column' }}&gt;&#10;            &lt;Text style={{ fontSize: 19, fontWeight: 'bold', color: '#202259', marginBottom: 12 }}&gt;摘要区逐行拆解&lt;/Text&gt;&#10;&#10;            &lt;Box style={{ flexDirection: 'column', gap: 9, flex: 1 }}&gt;&#10;                {[&#10;                    { k: '商品行', d: '商品图 + 名称 + 单价 + 数量。单品直购模式下数量控件可改；购物车模式下显示静态 Qty n。', tag: '每件商品一行' },&#10;                    { k: 'Edit quantities in cart', d: '当结算商品多于一件时出现，点击回到 cart.html 改数量。', tag: '条件显示' },&#10;                    { k: 'BV rewards +N BV', d: '仅登录用户可见。按每件商品价格每满 ₦1,000 记 1 BV 折算，向下取整后乘以数量。', tag: '仅登录可见' },&#10;                    { k: 'Method', d: '随所选支付方式实时更新，显示 Card / USSD / Bank transfer 等标签。', tag: '实时联动' },&#10;                    { k: 'Total 与 Place order', d: '总计等于商品小计，下方一行是 VISA / MC / VERVE / USSD / COD 品牌标和条款说明。', tag: '底部锚定' },&#10;                ].map(function (it, i) {&#10;                    return (&#10;                        &lt;Box key={i} style={{ flex: 1, flexDirection: 'row', gap: 14, alignItems: 'center', background: i === 2 ? 'rgba(42,167,207,0.10)' : '#F4F6F8', borderRadius: 8, padding: '0 16px' }}&gt;&#10;                            &lt;Text style={{ fontSize: 17, fontWeight: 'bold', color: '#202259', width: 210 }}&gt;{it.k}&lt;/Text&gt;&#10;                            &lt;Text style={{ fontSize: 16, color: '#3F4A55', lineHeight: 1.45, flex: 1 }}&gt;{it.d}&lt;/Text&gt;&#10;                            &lt;Box style={{ padding: '3px 10px', background: '#FFFFFF', borderRadius: 4, border: '1px solid #E3E6E8' }}&gt;&#10;                                &lt;Text style={{ fontSize: 13, color: '#5C646A' }}&gt;{it.tag}&lt;/Text&gt;&#10;                            &lt;/Box&gt;&#10;                        &lt;/Box&gt;&#10;                    );&#10;                })}&#10;            &lt;/Box&gt;&#10;        &lt;/Box&gt;&#10;&#10;        {/* 右侧：放行条件 */}&#10;        &lt;Box style={{ width: 392, background: '#202259', borderRadius: 10, padding: '19px 20px', flexDirection: 'column' }}&gt;&#10;            &lt;Text style={{ fontSize: 15, color: '#7FD3EC', letterSpacing: 2, fontWeight: 'bold' }}&gt;GATE&lt;/Text&gt;&#10;            &lt;Text style={{ fontSize: 24, fontWeight: 'bold', color: '#FFFFFF', marginTop: 10, lineHeight: 1.3 }}&gt;&#10;                按钮放行&#10;                &lt;br /&gt;&#10;                要同时满足四类条件&#10;            &lt;/Text&gt;&#10;&#10;            &lt;Box style={{ flexDirection: 'column', gap: 12, marginTop: 20 }}&gt;&#10;                {[&#10;                    { n: '1', t: '两类同意勾选', d: '确认电话与邮箱正确，以及已阅读服务条款与退款政策。' },&#10;                    { n: '2', t: '配送信息完整', d: '配送模式要填完地址与联系人；自提模式免填地址，但必须选中一个网点。' },&#10;                    { n: '3', t: '邮箱格式合法', d: '不合法时邮箱下方会直接给出 Please enter a valid email address。' },&#10;                    { n: '4', t: '支付方式自身校验', d: '银行卡走格式校验；余额支付要求余额充足，余额不足会出警告。' },&#10;                ].map(function (it, i) {&#10;                    return (&#10;                        &lt;Box key={i} style={{ flexDirection: 'row', gap: 12, alignItems: 'flex-start' }}&gt;&#10;                            &lt;Box style={{ width: 24, height: 24, borderRadius: 12, background: '#2AA7CF', justifyContent: 'center', alignItems: 'center' }}&gt;&#10;                                &lt;Text style={{ fontSize: 14, fontWeight: 'bold', color: '#FFFFFF' }}&gt;{it.n}&lt;/Text&gt;&#10;                            &lt;/Box&gt;&#10;                            &lt;Box style={{ flex: 1, flexDirection: 'column' }}&gt;&#10;                                &lt;Text style={{ fontSize: 18, fontWeight: 'bold', color: '#FFFFFF' }}&gt;{it.t}&lt;/Text&gt;&#10;                                &lt;Text style={{ fontSize: 16, color: '#B9C6E4', lineHeight: 1.45, marginTop: 3 }}&gt;{it.d}&lt;/Text&gt;&#10;                            &lt;/Box&gt;&#10;                        &lt;/Box&gt;&#10;                    );&#10;                })}&#10;            &lt;/Box&gt;&#10;&#10;            &lt;Box style={{ marginTop: 'auto', paddingTop: 16, borderTop: '1px solid rgba(127,211,236,0.3)' }}&gt;&#10;                &lt;Text style={{ fontSize: 16, color: '#CFE9F4', lineHeight: 1.5 }}&gt;&#10;                    任何一项不满足，Place order 保持置灰无响应 —— 现场演示时记得先把同意项勾上。&#10;                &lt;/Text&gt;&#10;            &lt;/Box&gt;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10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第</a:t>
            </a:r>
            <a:r>
              <a:rPr lang="en-US" sz="2550" b="1">
                <a:solidFill>
                  <a:srgbClr val="202259"/>
                </a:solidFill>
                <a:latin typeface="Inter"/>
                <a:ea typeface="Inter"/>
              </a:rPr>
              <a:t> 5 </a:t>
            </a: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步：订单摘要与下单按钮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摘要区一共只有五行，按钮放行要同时满足四类条件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71500" y="1143000"/>
            <a:ext cx="7086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摘要区逐行拆解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571500" y="1476375"/>
            <a:ext cx="7086600" cy="942975"/>
          </a:xfrm>
          <a:prstGeom prst="roundRect">
            <a:avLst>
              <a:gd name="adj" fmla="val 808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23900" y="184785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商品行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2857500" y="1685925"/>
            <a:ext cx="35814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商品图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+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名称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+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单价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+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数量。单品直购模式下数量控件可改；购物车模式下显示静态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Qty n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572250" y="1847850"/>
            <a:ext cx="933450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667500" y="187642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6A"/>
                </a:solidFill>
                <a:latin typeface="Inter"/>
                <a:ea typeface="Inter"/>
              </a:rPr>
              <a:t>每件商品一行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571500" y="2505075"/>
            <a:ext cx="7086600" cy="685800"/>
          </a:xfrm>
          <a:prstGeom prst="roundRect">
            <a:avLst>
              <a:gd name="adj" fmla="val 1111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23900" y="2752725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Edit quantities in cart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2857500" y="2714625"/>
            <a:ext cx="38290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当结算商品多于一件时出现，点击回到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cart.html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改数量。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819900" y="2743200"/>
            <a:ext cx="685800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915150" y="27717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6A"/>
                </a:solidFill>
                <a:latin typeface="Inter"/>
                <a:ea typeface="Inter"/>
              </a:rPr>
              <a:t>条件显示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571500" y="3276600"/>
            <a:ext cx="7086600" cy="942975"/>
          </a:xfrm>
          <a:prstGeom prst="roundRect">
            <a:avLst>
              <a:gd name="adj" fmla="val 8081"/>
            </a:avLst>
          </a:prstGeom>
          <a:solidFill>
            <a:srgbClr val="2AA7CF">
              <a:alpha val="10000"/>
            </a:srgbClr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23900" y="3648075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BV rewards +N BV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2857500" y="3486150"/>
            <a:ext cx="37052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仅登录用户可见。按每件商品价格每满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₦1,000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1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折算，向下取整后乘以数量。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6696075" y="3648075"/>
            <a:ext cx="809625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791325" y="3676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6A"/>
                </a:solidFill>
                <a:latin typeface="Inter"/>
                <a:ea typeface="Inter"/>
              </a:rPr>
              <a:t>仅登录可见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571500" y="4305300"/>
            <a:ext cx="7086600" cy="9525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23900" y="468630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Method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2857500" y="4514850"/>
            <a:ext cx="38290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随所选支付方式实时更新，显示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Card / USSD / Bank transfer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等标签。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6819900" y="4676775"/>
            <a:ext cx="685800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915150" y="47053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6A"/>
                </a:solidFill>
                <a:latin typeface="Inter"/>
                <a:ea typeface="Inter"/>
              </a:rPr>
              <a:t>实时联动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571500" y="5343525"/>
            <a:ext cx="7086600" cy="942975"/>
          </a:xfrm>
          <a:prstGeom prst="roundRect">
            <a:avLst>
              <a:gd name="adj" fmla="val 808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23900" y="571500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Total </a:t>
            </a: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与</a:t>
            </a: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 Place order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2857500" y="5553075"/>
            <a:ext cx="38290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总计等于商品小计，下方一行是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VISA / MC / VERVE / USSD / COD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品牌标和条款说明。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819900" y="5715000"/>
            <a:ext cx="685800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915150" y="57435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6A"/>
                </a:solidFill>
                <a:latin typeface="Inter"/>
                <a:ea typeface="Inter"/>
              </a:rPr>
              <a:t>底部锚定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7886700" y="1143000"/>
            <a:ext cx="3733800" cy="5676900"/>
          </a:xfrm>
          <a:prstGeom prst="roundRect">
            <a:avLst>
              <a:gd name="adj" fmla="val 2551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077200" y="1323975"/>
            <a:ext cx="335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GATE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077200" y="1590675"/>
            <a:ext cx="3352800" cy="714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FFFFFF"/>
                </a:solidFill>
                <a:latin typeface="Inter"/>
                <a:ea typeface="Inter"/>
              </a:rPr>
              <a:t>按钮放行</a:t>
            </a:r>
            <a:endParaRPr/>
          </a:p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FFFFFF"/>
                </a:solidFill>
                <a:latin typeface="Inter"/>
                <a:ea typeface="Inter"/>
              </a:rPr>
              <a:t>要同时满足四类条件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8077200" y="24955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162925" y="2533650"/>
            <a:ext cx="57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420100" y="2495550"/>
            <a:ext cx="300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Inter"/>
                <a:ea typeface="Inter"/>
              </a:rPr>
              <a:t>两类同意勾选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420100" y="2733675"/>
            <a:ext cx="3009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确认电话与邮箱正确，以及已阅读服务条款与退款政策。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8077200" y="33813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153400" y="34194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Inter"/>
                <a:ea typeface="Inter"/>
              </a:rPr>
              <a:t>2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420100" y="3381375"/>
            <a:ext cx="300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Inter"/>
                <a:ea typeface="Inter"/>
              </a:rPr>
              <a:t>配送信息完整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420100" y="3619500"/>
            <a:ext cx="3009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配送模式要填完地址与联系人；自提模式免填地址，但必须选中一个网点。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8077200" y="42672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153400" y="43053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420100" y="4267200"/>
            <a:ext cx="300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Inter"/>
                <a:ea typeface="Inter"/>
              </a:rPr>
              <a:t>邮箱格式合法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420100" y="4505325"/>
            <a:ext cx="3009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不合法时邮箱下方会直接给出</a:t>
            </a:r>
            <a:r>
              <a:rPr lang="en-US" sz="1200">
                <a:solidFill>
                  <a:srgbClr val="B9C6E4"/>
                </a:solidFill>
                <a:latin typeface="Inter"/>
                <a:ea typeface="Inter"/>
              </a:rPr>
              <a:t> Please enter a valid email address</a:t>
            </a: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8077200" y="51530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153400" y="51911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Inter"/>
                <a:ea typeface="Inter"/>
              </a:rPr>
              <a:t>4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420100" y="5153025"/>
            <a:ext cx="300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Inter"/>
                <a:ea typeface="Inter"/>
              </a:rPr>
              <a:t>支付方式自身校验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420100" y="5391150"/>
            <a:ext cx="3009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银行卡走格式校验；余额支付要求余额充足，余额不足会出警告。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8077200" y="5924550"/>
            <a:ext cx="3352800" cy="723900"/>
          </a:xfrm>
          <a:custGeom>
            <a:pathLst>
              <a:path w="352" h="76">
                <a:moveTo>
                  <a:pt x="0" y="0"/>
                </a:moveTo>
                <a:lnTo>
                  <a:pt x="352" y="0"/>
                </a:lnTo>
                <a:lnTo>
                  <a:pt x="352" y="1"/>
                </a:lnTo>
                <a:lnTo>
                  <a:pt x="0" y="1"/>
                </a:lnTo>
                <a:close/>
              </a:path>
            </a:pathLst>
          </a:custGeom>
          <a:solidFill>
            <a:srgbClr val="7FD3EC">
              <a:alpha val="30000"/>
            </a:srgbClr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077200" y="6086475"/>
            <a:ext cx="3352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任何一项不满足，</a:t>
            </a:r>
            <a:r>
              <a:rPr lang="en-US" sz="1200">
                <a:solidFill>
                  <a:srgbClr val="CFE9F4"/>
                </a:solidFill>
                <a:latin typeface="Inter"/>
                <a:ea typeface="Inter"/>
              </a:rPr>
              <a:t>Place order </a:t>
            </a: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保持置灰无响应</a:t>
            </a:r>
            <a:r>
              <a:rPr lang="en-US" sz="1200">
                <a:solidFill>
                  <a:srgbClr val="CFE9F4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现场演示时记得先把同意项勾上。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10 / 25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3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第 6 步：订单怎么落库&lt;/Text&gt;&#10;        &lt;Text style={{ fontSize: 16, color: '#5C646A', lineHeight: 1.4, marginTop: 6 }}&gt;&#10;            订单号六位随机、字符集刻意排除了易混淆字符&#10;        &lt;/Text&gt;&#10;    &lt;/Box&gt;&#10;&#10;    {/* ===== B 区 内容区（左大图 + 右侧文字） ===== */}&#10;    &lt;Box style={{ height: 540, flexDirection: 'row', gap: 24 }}&gt;&#10;        {/* 左侧：字段分组 */}&#10;        &lt;Box style={{ flex: 1, flexDirection: 'column' }}&gt;&#10;            &lt;Text style={{ fontSize: 19, fontWeight: 'bold', color: '#202259', marginBottom: 12 }}&gt;&#10;                一个订单对象存六组字段&#10;            &lt;/Text&gt;&#10;            &lt;Box style={{ flex: 1, flexDirection: 'row', flexWrap: 'wrap', gap: 12 }}&gt;&#10;                {[&#10;                    { g: '基本信息', f: 'id · date · country · currency', d: '国家与币种固定为 Nigeria / NGN' },&#10;                    { g: '商品明细', f: 'items[] · qty · price · bv', d: '每行带图片路径与类别' },&#10;                    { g: '权益归属', f: 'memberId · operatorId', d: '前者是权益归属人，后者是实际操作账号' },&#10;                    { g: '客户与配送', f: 'customer{} · delivery{}', d: '配送方式与所选自提点写在这里' },&#10;                    { g: '支付与状态', f: 'payment · payStatus · status', d: '创建时 status 一律为 pending' },&#10;                    { g: '业务来源', f: 'source · reportingCenterId', d: '标记是复购还是自动维护订单' },&#10;                ].map(function (it, i) {&#10;                    return (&#10;                        &lt;Box key={i} style={{ width: 282, background: i === 2 ? 'rgba(242,135,183,0.12)' : '#F4F6F8', border: i === 2 ? '1px solid #F287B7' : '1px solid #E3E6E8', borderRadius: 10, padding: '14px 16px', flexDirection: 'column', minHeight: 172 }}&gt;&#10;                            &lt;Text style={{ fontSize: 19, fontWeight: 'bold', color: '#202259' }}&gt;{it.g}&lt;/Text&gt;&#10;                            &lt;Text style={{ fontSize: 15, color: '#2AA7CF', fontFamily: 'Menlo, ui-monospace, monospace', marginTop: 8, lineHeight: 1.4 }}&gt;{it.f}&lt;/Text&gt;&#10;                            &lt;Text style={{ fontSize: 16, color: '#3F4A55', lineHeight: 1.45, marginTop: 'auto' }}&gt;{it.d}&lt;/Text&gt;&#10;                        &lt;/Box&gt;&#10;                    );&#10;                })}&#10;            &lt;/Box&gt;&#10;        &lt;/Box&gt;&#10;&#10;        {/* 右侧：订单号 + 状态 */}&#10;        &lt;Box style={{ width: 396, flexDirection: 'column', gap: 12 }}&gt;&#10;            &lt;Box style={{ background: '#202259', borderRadius: 10, padding: '18px 20px', flexDirection: 'column' }}&gt;&#10;                &lt;Text style={{ fontSize: 15, color: '#7FD3EC', letterSpacing: 2, fontWeight: 'bold' }}&gt;ORDER ID&lt;/Text&gt;&#10;                &lt;Text style={{ fontSize: 34, fontWeight: 'bold', color: '#FFFFFF', marginTop: 10, fontFamily: 'Menlo, ui-monospace, monospace', letterSpacing: -1 }}&gt;&#10;                    AQ-7K2MNP&#10;                &lt;/Text&gt;&#10;                &lt;Text style={{ fontSize: 16, color: '#B9C6E4', lineHeight: 1.5, marginTop: 12 }}&gt;&#10;                    固定 AQ- 前缀 + 6 位随机字符。字符集是&#10;                    &lt;span style={{ color: '#7FD3EC', fontFamily: 'Menlo, ui-monospace, monospace' }}&gt; A–Z 加 2–9 &lt;/span&gt;&#10;                    ，刻意去掉了 I、O、0、1 四个易混字符。&#10;                &lt;/Text&gt;&#10;                &lt;Text style={{ fontSize: 15, color: '#7FD3EC', lineHeight: 1.45, marginTop: 10 }}&gt;&#10;                    它同时也是 shipping.html 与 order.html 的 URL 参数。&#10;                &lt;/Text&gt;&#10;            &lt;/Box&gt;&#10;&#10;            &lt;Box style={{ flex: 1, background: '#F4F6F8', borderRadius: 10, padding: '18px 20px', flexDirection: 'column' }}&gt;&#10;                &lt;Text style={{ fontSize: 19, fontWeight: 'bold', color: '#202259', marginBottom: 12 }}&gt;状态取值怎么显示&lt;/Text&gt;&#10;                {[&#10;                    { s: 'Paid', d: '余额支付成功时立即写入', c: '#1F6B3F' },&#10;                    { s: 'Pending', d: '订单创建后的初始展示态', c: '#8A6D1F' },&#10;                    { s: 'Unpaid', d: '其余四种支付方式的初始状态', c: '#5C646A' },&#10;                    { s: 'Failed', d: '匹配到 fail / refund / cancel 时', c: '#B3261E' },&#10;                ].map(function (it, i) {&#10;                    return (&#10;                        &lt;Box key={i} style={{ flexDirection: 'row', alignItems: 'center', gap: 12, paddingBottom: 10, marginBottom: i === 3 ? 0 : 10, borderBottom: i === 3 ? 'none' : '1px solid #E3E6E8' }}&gt;&#10;                            &lt;Box style={{ width: 84, height: 26, borderRadius: 999, background: '#FFFFFF', border: '1px solid ' + it.c, justifyContent: 'center', alignItems: 'center' }}&gt;&#10;                                &lt;Text style={{ fontSize: 14, color: it.c, fontWeight: 'bold' }}&gt;{it.s}&lt;/Text&gt;&#10;                            &lt;/Box&gt;&#10;                            &lt;Text style={{ fontSize: 16, color: '#3F4A55', flex: 1, lineHeight: 1.4 }}&gt;{it.d}&lt;/Text&gt;&#10;                        &lt;/Box&gt;&#10;                    );&#10;                })}&#10;                &lt;Box style={{ marginTop: 'auto', flexDirection: 'row', gap: 10, alignItems: 'center', paddingTop: 12, borderTop: '1px solid #E3E6E8' }}&gt;&#10;                    &lt;FAIcon name='info-circle' style={{ fill: '#859EB3', width: 18, height: 18 }} /&gt;&#10;                    &lt;Text style={{ fontSize: 15, color: '#5C646A', lineHeight: 1.4 }}&gt;&#10;                        status 字段本身创建后不再变化，页面上显示的是它的全大写形式。&#10;                    &lt;/Text&gt;&#10;                &lt;/Box&gt;&#10;            &lt;/Box&gt;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11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第</a:t>
            </a:r>
            <a:r>
              <a:rPr lang="en-US" sz="2550" b="1">
                <a:solidFill>
                  <a:srgbClr val="202259"/>
                </a:solidFill>
                <a:latin typeface="Inter"/>
                <a:ea typeface="Inter"/>
              </a:rPr>
              <a:t> 6 </a:t>
            </a: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步：订单怎么落库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订单号六位随机、字符集刻意排除了易混淆字符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71500" y="1143000"/>
            <a:ext cx="7048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一个订单对象存六组字段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571500" y="1476375"/>
            <a:ext cx="2686050" cy="1638300"/>
          </a:xfrm>
          <a:prstGeom prst="roundRect">
            <a:avLst>
              <a:gd name="adj" fmla="val 5814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23900" y="1609725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基本信息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23900" y="1905000"/>
            <a:ext cx="23812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125">
                <a:solidFill>
                  <a:srgbClr val="2AA7CF"/>
                </a:solidFill>
                <a:latin typeface="Menlo"/>
                <a:ea typeface="Menlo"/>
              </a:rPr>
              <a:t>id · date · country · currency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23900" y="2714625"/>
            <a:ext cx="23812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国家与币种固定为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Nigeria / NGN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3371850" y="1476375"/>
            <a:ext cx="2686050" cy="1638300"/>
          </a:xfrm>
          <a:prstGeom prst="roundRect">
            <a:avLst>
              <a:gd name="adj" fmla="val 5814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524250" y="1609725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商品明细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3524250" y="1905000"/>
            <a:ext cx="2381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2AA7CF"/>
                </a:solidFill>
                <a:latin typeface="Menlo"/>
                <a:ea typeface="Menlo"/>
              </a:rPr>
              <a:t>items[] · qty · price · bv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3524250" y="2714625"/>
            <a:ext cx="23812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每行带图片路径与类别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571500" y="3228975"/>
            <a:ext cx="2686050" cy="1638300"/>
          </a:xfrm>
          <a:prstGeom prst="roundRect">
            <a:avLst>
              <a:gd name="adj" fmla="val 5814"/>
            </a:avLst>
          </a:prstGeom>
          <a:solidFill>
            <a:srgbClr val="F287B7">
              <a:alpha val="12000"/>
            </a:srgbClr>
          </a:solidFill>
          <a:ln w="12700">
            <a:solidFill>
              <a:srgbClr val="F287B7"/>
            </a:solidFill>
            <a:prstDash val="solid"/>
          </a:ln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23900" y="3362325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权益归属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23900" y="3657600"/>
            <a:ext cx="2381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2AA7CF"/>
                </a:solidFill>
                <a:latin typeface="Menlo"/>
                <a:ea typeface="Menlo"/>
              </a:rPr>
              <a:t>memberId · operatorId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23900" y="4200525"/>
            <a:ext cx="2381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前者是权益归属人，后者是实际操作账号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3371850" y="3228975"/>
            <a:ext cx="2686050" cy="1638300"/>
          </a:xfrm>
          <a:prstGeom prst="roundRect">
            <a:avLst>
              <a:gd name="adj" fmla="val 5814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3524250" y="3362325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客户与配送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524250" y="3657600"/>
            <a:ext cx="2381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2AA7CF"/>
                </a:solidFill>
                <a:latin typeface="Menlo"/>
                <a:ea typeface="Menlo"/>
              </a:rPr>
              <a:t>customer{} · delivery{}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524250" y="4467225"/>
            <a:ext cx="23812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配送方式与所选自提点写在这里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571500" y="4981575"/>
            <a:ext cx="2686050" cy="1638300"/>
          </a:xfrm>
          <a:prstGeom prst="roundRect">
            <a:avLst>
              <a:gd name="adj" fmla="val 5814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23900" y="5114925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支付与状态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23900" y="5410200"/>
            <a:ext cx="23812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125">
                <a:solidFill>
                  <a:srgbClr val="2AA7CF"/>
                </a:solidFill>
                <a:latin typeface="Menlo"/>
                <a:ea typeface="Menlo"/>
              </a:rPr>
              <a:t>payment · payStatus · status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23900" y="6219825"/>
            <a:ext cx="23812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创建时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status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一律为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pending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3371850" y="4981575"/>
            <a:ext cx="2686050" cy="1638300"/>
          </a:xfrm>
          <a:prstGeom prst="roundRect">
            <a:avLst>
              <a:gd name="adj" fmla="val 5814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3524250" y="5114925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业务来源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3524250" y="5410200"/>
            <a:ext cx="2381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2AA7CF"/>
                </a:solidFill>
                <a:latin typeface="Menlo"/>
                <a:ea typeface="Menlo"/>
              </a:rPr>
              <a:t>source · reportingCenterId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524250" y="6219825"/>
            <a:ext cx="23812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标记是复购还是自动维护订单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848600" y="1143000"/>
            <a:ext cx="3771900" cy="2543175"/>
          </a:xfrm>
          <a:prstGeom prst="roundRect">
            <a:avLst>
              <a:gd name="adj" fmla="val 3745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039100" y="1314450"/>
            <a:ext cx="339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ORDER ID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039100" y="1581150"/>
            <a:ext cx="3390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-75">
                <a:solidFill>
                  <a:srgbClr val="FFFFFF"/>
                </a:solidFill>
                <a:latin typeface="Menlo"/>
                <a:ea typeface="Menlo"/>
              </a:rPr>
              <a:t>AQ-7K2MNP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039100" y="2085975"/>
            <a:ext cx="33909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固定</a:t>
            </a:r>
            <a:r>
              <a:rPr lang="en-US" sz="1200">
                <a:solidFill>
                  <a:srgbClr val="B9C6E4"/>
                </a:solidFill>
                <a:latin typeface="Inter"/>
                <a:ea typeface="Inter"/>
              </a:rPr>
              <a:t> AQ- </a:t>
            </a: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前缀</a:t>
            </a:r>
            <a:r>
              <a:rPr lang="en-US" sz="1200">
                <a:solidFill>
                  <a:srgbClr val="B9C6E4"/>
                </a:solidFill>
                <a:latin typeface="Inter"/>
                <a:ea typeface="Inter"/>
              </a:rPr>
              <a:t> + 6 </a:t>
            </a: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位随机字符。字符集是</a:t>
            </a:r>
            <a:r>
              <a:rPr lang="en-US" sz="1200">
                <a:solidFill>
                  <a:srgbClr val="7FD3EC"/>
                </a:solidFill>
                <a:latin typeface="Inter"/>
                <a:ea typeface="Inter"/>
              </a:rPr>
              <a:t> A–Z </a:t>
            </a:r>
            <a:r>
              <a:rPr lang="zh-CN" sz="1200">
                <a:solidFill>
                  <a:srgbClr val="7FD3EC"/>
                </a:solidFill>
                <a:latin typeface="Inter"/>
                <a:ea typeface="Inter"/>
              </a:rPr>
              <a:t>加</a:t>
            </a:r>
            <a:r>
              <a:rPr lang="en-US" sz="1200">
                <a:solidFill>
                  <a:srgbClr val="7FD3EC"/>
                </a:solidFill>
                <a:latin typeface="Inter"/>
                <a:ea typeface="Inter"/>
              </a:rPr>
              <a:t> 2–9 </a:t>
            </a: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，刻意去掉了</a:t>
            </a:r>
            <a:r>
              <a:rPr lang="en-US" sz="1200">
                <a:solidFill>
                  <a:srgbClr val="B9C6E4"/>
                </a:solidFill>
                <a:latin typeface="Inter"/>
                <a:ea typeface="Inter"/>
              </a:rPr>
              <a:t> I</a:t>
            </a: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、</a:t>
            </a:r>
            <a:r>
              <a:rPr lang="en-US" sz="1200">
                <a:solidFill>
                  <a:srgbClr val="B9C6E4"/>
                </a:solidFill>
                <a:latin typeface="Inter"/>
                <a:ea typeface="Inter"/>
              </a:rPr>
              <a:t>O</a:t>
            </a: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、</a:t>
            </a:r>
            <a:r>
              <a:rPr lang="en-US" sz="1200">
                <a:solidFill>
                  <a:srgbClr val="B9C6E4"/>
                </a:solidFill>
                <a:latin typeface="Inter"/>
                <a:ea typeface="Inter"/>
              </a:rPr>
              <a:t>0</a:t>
            </a: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、</a:t>
            </a:r>
            <a:r>
              <a:rPr lang="en-US" sz="1200">
                <a:solidFill>
                  <a:srgbClr val="B9C6E4"/>
                </a:solidFill>
                <a:latin typeface="Inter"/>
                <a:ea typeface="Inter"/>
              </a:rPr>
              <a:t>1 </a:t>
            </a: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四个易混字符。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039100" y="3009900"/>
            <a:ext cx="3390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7FD3EC"/>
                </a:solidFill>
                <a:latin typeface="Inter"/>
                <a:ea typeface="Inter"/>
              </a:rPr>
              <a:t>它同时也是</a:t>
            </a:r>
            <a:r>
              <a:rPr lang="en-US" sz="1125">
                <a:solidFill>
                  <a:srgbClr val="7FD3EC"/>
                </a:solidFill>
                <a:latin typeface="Inter"/>
                <a:ea typeface="Inter"/>
              </a:rPr>
              <a:t> shipping.html </a:t>
            </a:r>
            <a:r>
              <a:rPr lang="zh-CN" sz="1125">
                <a:solidFill>
                  <a:srgbClr val="7FD3EC"/>
                </a:solidFill>
                <a:latin typeface="Inter"/>
                <a:ea typeface="Inter"/>
              </a:rPr>
              <a:t>与</a:t>
            </a:r>
            <a:r>
              <a:rPr lang="en-US" sz="1125">
                <a:solidFill>
                  <a:srgbClr val="7FD3EC"/>
                </a:solidFill>
                <a:latin typeface="Inter"/>
                <a:ea typeface="Inter"/>
              </a:rPr>
              <a:t> order.html </a:t>
            </a:r>
            <a:r>
              <a:rPr lang="zh-CN" sz="1125">
                <a:solidFill>
                  <a:srgbClr val="7FD3EC"/>
                </a:solidFill>
                <a:latin typeface="Inter"/>
                <a:ea typeface="Inter"/>
              </a:rPr>
              <a:t>的</a:t>
            </a:r>
            <a:r>
              <a:rPr lang="en-US" sz="1125">
                <a:solidFill>
                  <a:srgbClr val="7FD3EC"/>
                </a:solidFill>
                <a:latin typeface="Inter"/>
                <a:ea typeface="Inter"/>
              </a:rPr>
              <a:t> URL </a:t>
            </a:r>
            <a:r>
              <a:rPr lang="zh-CN" sz="1125">
                <a:solidFill>
                  <a:srgbClr val="7FD3EC"/>
                </a:solidFill>
                <a:latin typeface="Inter"/>
                <a:ea typeface="Inter"/>
              </a:rPr>
              <a:t>参数。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7848600" y="3800475"/>
            <a:ext cx="3771900" cy="3009900"/>
          </a:xfrm>
          <a:prstGeom prst="roundRect">
            <a:avLst>
              <a:gd name="adj" fmla="val 3165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039100" y="3971925"/>
            <a:ext cx="3390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状态取值怎么显示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8039100" y="4305300"/>
            <a:ext cx="3390900" cy="371475"/>
          </a:xfrm>
          <a:custGeom>
            <a:pathLst>
              <a:path w="356" h="39">
                <a:moveTo>
                  <a:pt x="0" y="38"/>
                </a:moveTo>
                <a:lnTo>
                  <a:pt x="356" y="38"/>
                </a:lnTo>
                <a:lnTo>
                  <a:pt x="356" y="39"/>
                </a:lnTo>
                <a:lnTo>
                  <a:pt x="0" y="39"/>
                </a:lnTo>
                <a:close/>
              </a:path>
            </a:pathLst>
          </a:custGeom>
          <a:solidFill>
            <a:srgbClr val="E3E6E8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8039100" y="4314825"/>
            <a:ext cx="800100" cy="247650"/>
          </a:xfrm>
          <a:prstGeom prst="roundRect">
            <a:avLst>
              <a:gd name="adj" fmla="val 3842308"/>
            </a:avLst>
          </a:prstGeom>
          <a:solidFill>
            <a:srgbClr val="FFFFFF"/>
          </a:solidFill>
          <a:ln w="12700">
            <a:solidFill>
              <a:srgbClr val="1F6B3F"/>
            </a:solidFill>
            <a:prstDash val="solid"/>
          </a:ln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296275" y="436245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F6B3F"/>
                </a:solidFill>
                <a:latin typeface="Inter"/>
                <a:ea typeface="Inter"/>
              </a:rPr>
              <a:t>Paid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953500" y="4305300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余额支付成功时立即写入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8039100" y="4762500"/>
            <a:ext cx="3390900" cy="371475"/>
          </a:xfrm>
          <a:custGeom>
            <a:pathLst>
              <a:path w="356" h="39">
                <a:moveTo>
                  <a:pt x="0" y="38"/>
                </a:moveTo>
                <a:lnTo>
                  <a:pt x="356" y="38"/>
                </a:lnTo>
                <a:lnTo>
                  <a:pt x="356" y="39"/>
                </a:lnTo>
                <a:lnTo>
                  <a:pt x="0" y="39"/>
                </a:lnTo>
                <a:close/>
              </a:path>
            </a:pathLst>
          </a:custGeom>
          <a:solidFill>
            <a:srgbClr val="E3E6E8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8039100" y="4772025"/>
            <a:ext cx="800100" cy="247650"/>
          </a:xfrm>
          <a:prstGeom prst="roundRect">
            <a:avLst>
              <a:gd name="adj" fmla="val 3842308"/>
            </a:avLst>
          </a:prstGeom>
          <a:solidFill>
            <a:srgbClr val="FFFFFF"/>
          </a:solidFill>
          <a:ln w="12700">
            <a:solidFill>
              <a:srgbClr val="8A6D1F"/>
            </a:solidFill>
            <a:prstDash val="solid"/>
          </a:ln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181975" y="4819650"/>
            <a:ext cx="523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A6D1F"/>
                </a:solidFill>
                <a:latin typeface="Inter"/>
                <a:ea typeface="Inter"/>
              </a:rPr>
              <a:t>Pending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953500" y="4762500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订单创建后的初始展示态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8039100" y="5219700"/>
            <a:ext cx="3390900" cy="371475"/>
          </a:xfrm>
          <a:custGeom>
            <a:pathLst>
              <a:path w="356" h="39">
                <a:moveTo>
                  <a:pt x="0" y="38"/>
                </a:moveTo>
                <a:lnTo>
                  <a:pt x="356" y="38"/>
                </a:lnTo>
                <a:lnTo>
                  <a:pt x="356" y="39"/>
                </a:lnTo>
                <a:lnTo>
                  <a:pt x="0" y="39"/>
                </a:lnTo>
                <a:close/>
              </a:path>
            </a:pathLst>
          </a:custGeom>
          <a:solidFill>
            <a:srgbClr val="E3E6E8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8039100" y="5229225"/>
            <a:ext cx="800100" cy="247650"/>
          </a:xfrm>
          <a:prstGeom prst="roundRect">
            <a:avLst>
              <a:gd name="adj" fmla="val 3842308"/>
            </a:avLst>
          </a:prstGeom>
          <a:solidFill>
            <a:srgbClr val="FFFFFF"/>
          </a:solidFill>
          <a:ln w="12700">
            <a:solidFill>
              <a:srgbClr val="5C646A"/>
            </a:solidFill>
            <a:prstDash val="solid"/>
          </a:ln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210550" y="52768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C646A"/>
                </a:solidFill>
                <a:latin typeface="Inter"/>
                <a:ea typeface="Inter"/>
              </a:rPr>
              <a:t>Unpaid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953500" y="5219700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其余四种支付方式的初始状态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8039100" y="5686425"/>
            <a:ext cx="800100" cy="247650"/>
          </a:xfrm>
          <a:prstGeom prst="roundRect">
            <a:avLst>
              <a:gd name="adj" fmla="val 3842308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248650" y="5734050"/>
            <a:ext cx="381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B3261E"/>
                </a:solidFill>
                <a:latin typeface="Inter"/>
                <a:ea typeface="Inter"/>
              </a:rPr>
              <a:t>Failed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953500" y="5676900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匹配到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fail / refund / cancel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时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8039100" y="6029325"/>
            <a:ext cx="3390900" cy="619125"/>
          </a:xfrm>
          <a:custGeom>
            <a:pathLst>
              <a:path w="356" h="65">
                <a:moveTo>
                  <a:pt x="0" y="0"/>
                </a:moveTo>
                <a:lnTo>
                  <a:pt x="356" y="0"/>
                </a:lnTo>
                <a:lnTo>
                  <a:pt x="356" y="1"/>
                </a:lnTo>
                <a:lnTo>
                  <a:pt x="0" y="1"/>
                </a:lnTo>
                <a:close/>
              </a:path>
            </a:pathLst>
          </a:custGeom>
          <a:solidFill>
            <a:srgbClr val="E3E6E8"/>
          </a:solidFill>
          <a:ln/>
        </p:spPr>
        <p:txBody>
          <a:bodyPr/>
          <a:p/>
        </p:txBody>
      </p:sp>
      <p:pic>
        <p:nvPicPr>
          <p:cNvPr id="1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39100" y="6315075"/>
            <a:ext cx="171450" cy="171450"/>
          </a:xfrm>
          <a:prstGeom prst="rect">
            <a:avLst/>
          </a:prstGeom>
          <a:ln/>
        </p:spPr>
      </p:pic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296275" y="6153150"/>
            <a:ext cx="31337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status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字段本身创建后不再变化，页面上显示的是它的全大写形式。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11 / 25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40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BV 归谁：一条容易讲错的规则&lt;/Text&gt;&#10;        &lt;Text style={{ fontSize: 16, color: '#5C646A', lineHeight: 1.4, marginTop: 6 }}&gt;&#10;            这是下单流程里唯一的&quot;推荐优惠&quot;，而它给的不是折扣，是 BV 归属&#10;        &lt;/Text&gt;&#10;    &lt;/Box&gt;&#10;&#10;    {/* ===== B 区 内容区（巨型数字 + 洞察） ===== */}&#10;    &lt;Box style={{ height: 540, flexDirection: 'column', gap: 22 }}&gt;&#10;        {/* 巨型数字区 */}&#10;        &lt;Box style={{ height: 234, flexDirection: 'row', gap: 26 }}&gt;&#10;            &lt;Box style={{ flex: 1, flexDirection: 'row', alignItems: 'center', gap: 22, background: 'rgba(242,135,183,0.12)', borderLeft: '6px solid #F287B7', borderRadius: 10, padding: '22px 26px' }}&gt;&#10;                &lt;Text style={{ fontSize: 96, fontWeight: 'bold', color: '#F287B7', lineHeight: 1, letterSpacing: -4 }}&gt;100%&lt;/Text&gt;&#10;                &lt;Box style={{ flexDirection: 'column' }}&gt;&#10;                    &lt;Text style={{ fontSize: 26, fontWeight: 'bold', color: '#202259', lineHeight: 1.3 }}&gt;BV 全部上浮给推荐人&lt;/Text&gt;&#10;                    &lt;Text style={{ fontSize: 17, color: '#3F4A55', lineHeight: 1.5, marginTop: 8 }}&gt;&#10;                        被推荐人自己下单不留 BV，分享链接的会员全额拿到这笔 BV。这不是折扣，而是业绩归属。&#10;                    &lt;/Text&gt;&#10;                &lt;/Box&gt;&#10;            &lt;/Box&gt;&#10;&#10;            &lt;Box style={{ width: 330, background: '#202259', borderRadius: 10, padding: '22px 24px', flexDirection: 'column', justifyContent: 'center' }}&gt;&#10;                &lt;Text style={{ fontSize: 15, color: '#7FD3EC', letterSpacing: 2, fontWeight: 'bold' }}&gt;CONVERSION&lt;/Text&gt;&#10;                &lt;Text style={{ fontSize: 46, fontWeight: 'bold', color: '#FFFFFF', marginTop: 8, lineHeight: 1.1 }}&gt;&#10;                    1 BV&#10;                    &lt;br /&gt;&#10;                    &lt;span style={{ fontSize: 26, color: '#7FD3EC' }}&gt;每 ₦1,000&lt;/span&gt;&#10;                &lt;/Text&gt;&#10;                &lt;Text style={{ fontSize: 16, color: '#B9C6E4', lineHeight: 1.5, marginTop: 12 }}&gt;&#10;                    按商品价格每满 ₦1,000 记 1 BV，向下取整，再乘以数量。&#10;                &lt;/Text&gt;&#10;            &lt;/Box&gt;&#10;        &lt;/Box&gt;&#10;&#10;        {/* 归因流程 */}&#10;        &lt;Box style={{ flex: 1, flexDirection: 'column' }}&gt;&#10;            &lt;Text style={{ fontSize: 19, fontWeight: 'bold', color: '#202259', marginBottom: 12 }}&gt;&#10;                三个条件同时成立，才会把 BV 记到推荐人台账&#10;            &lt;/Text&gt;&#10;            &lt;Box style={{ flex: 1, flexDirection: 'row', gap: 14 }}&gt;&#10;                {[&#10;                    { n: '1', t: '存在推荐人', d: '推荐关系来自访客点过的 ?ref=NG######## 链接。全站首次捕获，之后不再覆盖 —— 即首次点击归因。', c: '#2AA7CF' },&#10;                    { n: '2', t: '推荐人不是自己', d: '代码里显式做了防自荐判断：ref.id 等于下单人 memberId 时直接跳过，不记账。', c: '#202259' },&#10;                    { n: '3', t: '订单 BV 大于 0', d: '订单本身要有 BV 才谈得上归属，金额不足 ₦1,000 的订单不产生 BV。', c: '#F287B7' },&#10;                ].map(function (it, i) {&#10;                    return (&#10;                        &lt;Box key={i} style={{ flex: 1, background: '#F4F6F8', borderRadius: 10, padding: '18px 18px', flexDirection: 'column' }}&gt;&#10;                            &lt;Box style={{ flexDirection: 'row', alignItems: 'center', gap: 12, marginBottom: 10 }}&gt;&#10;                                &lt;Box style={{ width: 34, height: 34, borderRadius: 17, background: it.c, justifyContent: 'center', alignItems: 'center' }}&gt;&#10;                                    &lt;Text style={{ fontSize: 17, fontWeight: 'bold', color: '#FFFFFF' }}&gt;{it.n}&lt;/Text&gt;&#10;                                &lt;/Box&gt;&#10;                                &lt;Text style={{ fontSize: 20, fontWeight: 'bold', color: '#202259' }}&gt;{it.t}&lt;/Text&gt;&#10;                            &lt;/Box&gt;&#10;                            &lt;Text style={{ fontSize: 17, color: '#3F4A55', lineHeight: 1.5 }}&gt;{it.d}&lt;/Text&gt;&#10;                        &lt;/Box&gt;&#10;                    );&#10;                })}&#10;            &lt;/Box&gt;&#10;&#10;            &lt;Box style={{ flexDirection: 'row', gap: 14, marginTop: 14, alignItems: 'center', padding: '14px 18px', background: 'rgba(32,34,89,0.06)', borderRadius: 8 }}&gt;&#10;                &lt;FAIcon name='check-circle' style={{ fill: '#202259', width: 22, height: 22 }} /&gt;&#10;                &lt;Text style={{ fontSize: 17, color: '#202259', lineHeight: 1.45 }}&gt;&#10;                    三个条件都成立时：订单上会多挂一个 referrerId 字段，同时往 &lt;span style={{ fontFamily: 'Menlo, ui-monospace, monospace' }}&gt;al.bvCredits&lt;/span&gt; 写一条返佣流水，下单落地页会显示&#10;                    &lt;span style={{ fontWeight: 'bold' }}&gt; BV credited to NG…&lt;/span&gt;。&#10;                &lt;/Text&gt;&#10;            &lt;/Box&gt;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12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02259"/>
                </a:solidFill>
                <a:latin typeface="Inter"/>
                <a:ea typeface="Inter"/>
              </a:rPr>
              <a:t>BV </a:t>
            </a: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归谁：一条容易讲错的规则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这是下单流程里唯一的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推荐优惠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，而它给的不是折扣，是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归属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28650" y="1143000"/>
            <a:ext cx="7658100" cy="2228850"/>
          </a:xfrm>
          <a:prstGeom prst="roundRect">
            <a:avLst>
              <a:gd name="adj" fmla="val 4274"/>
            </a:avLst>
          </a:prstGeom>
          <a:solidFill>
            <a:srgbClr val="F287B7">
              <a:alpha val="12000"/>
            </a:srgbClr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628650" y="1143000"/>
            <a:ext cx="7658100" cy="2228850"/>
          </a:xfrm>
          <a:custGeom>
            <a:pathLst>
              <a:path w="804" h="234">
                <a:moveTo>
                  <a:pt x="10" y="0"/>
                </a:moveTo>
                <a:cubicBezTo>
                  <a:pt x="8" y="0"/>
                  <a:pt x="6" y="2"/>
                  <a:pt x="6" y="4"/>
                </a:cubicBezTo>
                <a:lnTo>
                  <a:pt x="6" y="230"/>
                </a:lnTo>
                <a:cubicBezTo>
                  <a:pt x="6" y="232"/>
                  <a:pt x="8" y="234"/>
                  <a:pt x="10" y="234"/>
                </a:cubicBezTo>
                <a:cubicBezTo>
                  <a:pt x="4" y="234"/>
                  <a:pt x="0" y="229"/>
                  <a:pt x="0" y="22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76300" y="1704975"/>
            <a:ext cx="172402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300">
                <a:solidFill>
                  <a:srgbClr val="F287B7"/>
                </a:solidFill>
                <a:latin typeface="Inter"/>
                <a:ea typeface="Inter"/>
              </a:rPr>
              <a:t>100%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2809875" y="1876425"/>
            <a:ext cx="5172075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950" b="1">
                <a:solidFill>
                  <a:srgbClr val="202259"/>
                </a:solidFill>
                <a:latin typeface="Inter"/>
                <a:ea typeface="Inter"/>
              </a:rPr>
              <a:t>BV </a:t>
            </a:r>
            <a:r>
              <a:rPr lang="zh-CN" sz="1950" b="1">
                <a:solidFill>
                  <a:srgbClr val="202259"/>
                </a:solidFill>
                <a:latin typeface="Inter"/>
                <a:ea typeface="Inter"/>
              </a:rPr>
              <a:t>全部上浮给推荐人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809875" y="2343150"/>
            <a:ext cx="51720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被推荐人自己下单不留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BV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，分享链接的会员全额拿到这笔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BV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。这不是折扣，而是业绩归属。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8477250" y="1143000"/>
            <a:ext cx="3143250" cy="2247900"/>
          </a:xfrm>
          <a:prstGeom prst="roundRect">
            <a:avLst>
              <a:gd name="adj" fmla="val 4237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705850" y="1352550"/>
            <a:ext cx="2686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CONVERSION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705850" y="1600200"/>
            <a:ext cx="2686050" cy="9144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450" b="1">
                <a:solidFill>
                  <a:srgbClr val="FFFFFF"/>
                </a:solidFill>
                <a:latin typeface="Inter"/>
                <a:ea typeface="Inter"/>
              </a:rPr>
              <a:t>1 BV</a:t>
            </a:r>
            <a:endParaRPr/>
          </a:p>
          <a:p>
            <a:pPr>
              <a:lnSpc>
                <a:spcPct val="110000"/>
              </a:lnSpc>
            </a:pPr>
            <a:r>
              <a:rPr lang="zh-CN" sz="1950" b="1">
                <a:solidFill>
                  <a:srgbClr val="7FD3EC"/>
                </a:solidFill>
                <a:latin typeface="Inter"/>
                <a:ea typeface="Inter"/>
              </a:rPr>
              <a:t>每</a:t>
            </a:r>
            <a:r>
              <a:rPr lang="en-US" sz="1950" b="1">
                <a:solidFill>
                  <a:srgbClr val="7FD3EC"/>
                </a:solidFill>
                <a:latin typeface="Inter"/>
                <a:ea typeface="Inter"/>
              </a:rPr>
              <a:t> ₦1,000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705850" y="2628900"/>
            <a:ext cx="26860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按商品价格每满</a:t>
            </a:r>
            <a:r>
              <a:rPr lang="en-US" sz="1200">
                <a:solidFill>
                  <a:srgbClr val="B9C6E4"/>
                </a:solidFill>
                <a:latin typeface="Inter"/>
                <a:ea typeface="Inter"/>
              </a:rPr>
              <a:t> ₦1,000 </a:t>
            </a: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记</a:t>
            </a:r>
            <a:r>
              <a:rPr lang="en-US" sz="1200">
                <a:solidFill>
                  <a:srgbClr val="B9C6E4"/>
                </a:solidFill>
                <a:latin typeface="Inter"/>
                <a:ea typeface="Inter"/>
              </a:rPr>
              <a:t> 1 BV</a:t>
            </a: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，向下取整，再乘以数量。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71500" y="3581400"/>
            <a:ext cx="1104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三个条件同时成立，才会把</a:t>
            </a: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 BV </a:t>
            </a: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记到推荐人台账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571500" y="3914775"/>
            <a:ext cx="3590925" cy="1685925"/>
          </a:xfrm>
          <a:prstGeom prst="roundRect">
            <a:avLst>
              <a:gd name="adj" fmla="val 565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742950" y="40862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76300" y="4152900"/>
            <a:ext cx="66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81100" y="413385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存在推荐人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42950" y="4505325"/>
            <a:ext cx="324802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推荐关系来自访客点过的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?ref=NG########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链接。全站首次捕获，之后不再覆盖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——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即首次点击归因。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4295775" y="3914775"/>
            <a:ext cx="3600450" cy="1685925"/>
          </a:xfrm>
          <a:prstGeom prst="roundRect">
            <a:avLst>
              <a:gd name="adj" fmla="val 565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4467225" y="40862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4581525" y="41529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>2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905375" y="413385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推荐人不是自己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467225" y="4505325"/>
            <a:ext cx="32575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代码里显式做了防自荐判断：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ref.id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等于下单人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memberId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时直接跳过，不记账。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8029575" y="3914775"/>
            <a:ext cx="3590925" cy="1685925"/>
          </a:xfrm>
          <a:prstGeom prst="roundRect">
            <a:avLst>
              <a:gd name="adj" fmla="val 565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8201025" y="40862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315325" y="41529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639175" y="4133850"/>
            <a:ext cx="1323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订单</a:t>
            </a:r>
            <a:r>
              <a:rPr lang="en-US" sz="1500" b="1">
                <a:solidFill>
                  <a:srgbClr val="202259"/>
                </a:solidFill>
                <a:latin typeface="Inter"/>
                <a:ea typeface="Inter"/>
              </a:rPr>
              <a:t> BV </a:t>
            </a: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大于</a:t>
            </a:r>
            <a:r>
              <a:rPr lang="en-US" sz="1500" b="1">
                <a:solidFill>
                  <a:srgbClr val="202259"/>
                </a:solidFill>
                <a:latin typeface="Inter"/>
                <a:ea typeface="Inter"/>
              </a:rPr>
              <a:t> 0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201025" y="4505325"/>
            <a:ext cx="32480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订单本身要有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才谈得上归属，金额不足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₦1,000 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的订单不产生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BV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3793"/>
            </a:avLst>
          </a:prstGeom>
          <a:solidFill>
            <a:srgbClr val="202259">
              <a:alpha val="6000"/>
            </a:srgbClr>
          </a:solidFill>
          <a:ln/>
        </p:spPr>
        <p:txBody>
          <a:bodyPr/>
          <a:p/>
        </p:txBody>
      </p:sp>
      <p:pic>
        <p:nvPicPr>
          <p:cNvPr id="1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2950" y="5905500"/>
            <a:ext cx="209550" cy="209550"/>
          </a:xfrm>
          <a:prstGeom prst="rect">
            <a:avLst/>
          </a:prstGeom>
          <a:ln/>
        </p:spPr>
      </p:pic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085850" y="5867400"/>
            <a:ext cx="9906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202259"/>
                </a:solidFill>
                <a:latin typeface="Inter"/>
                <a:ea typeface="Inter"/>
              </a:rPr>
              <a:t>三个条件都成立时：订单上会多挂一个</a:t>
            </a:r>
            <a:r>
              <a:rPr lang="en-US" sz="1275">
                <a:solidFill>
                  <a:srgbClr val="202259"/>
                </a:solidFill>
                <a:latin typeface="Inter"/>
                <a:ea typeface="Inter"/>
              </a:rPr>
              <a:t> referrerId </a:t>
            </a:r>
            <a:r>
              <a:rPr lang="zh-CN" sz="1275">
                <a:solidFill>
                  <a:srgbClr val="202259"/>
                </a:solidFill>
                <a:latin typeface="Inter"/>
                <a:ea typeface="Inter"/>
              </a:rPr>
              <a:t>字段，同时往</a:t>
            </a:r>
            <a:r>
              <a:rPr lang="en-US" sz="1275">
                <a:solidFill>
                  <a:srgbClr val="202259"/>
                </a:solidFill>
                <a:latin typeface="Inter"/>
                <a:ea typeface="Inter"/>
              </a:rPr>
              <a:t> </a:t>
            </a:r>
            <a:r>
              <a:rPr lang="en-US" sz="1275">
                <a:solidFill>
                  <a:srgbClr val="202259"/>
                </a:solidFill>
                <a:latin typeface="Inter"/>
                <a:ea typeface="Inter"/>
              </a:rPr>
              <a:t>al.bvCredits</a:t>
            </a:r>
            <a:r>
              <a:rPr lang="en-US" sz="1275">
                <a:solidFill>
                  <a:srgbClr val="202259"/>
                </a:solidFill>
                <a:latin typeface="Inter"/>
                <a:ea typeface="Inter"/>
              </a:rPr>
              <a:t> </a:t>
            </a:r>
            <a:r>
              <a:rPr lang="zh-CN" sz="1275">
                <a:solidFill>
                  <a:srgbClr val="202259"/>
                </a:solidFill>
                <a:latin typeface="Inter"/>
                <a:ea typeface="Inter"/>
              </a:rPr>
              <a:t>写一条返佣流水，下单落地页会显示</a:t>
            </a: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 BV credited to NG…</a:t>
            </a:r>
            <a:r>
              <a:rPr lang="zh-CN" sz="1275">
                <a:solidFill>
                  <a:srgbClr val="202259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12 / 25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75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下单流程 · 讲解时要注意&lt;/Text&gt;&#10;        &lt;Text style={{ fontSize: 16, color: '#5C646A', lineHeight: 1.4, marginTop: 6 }}&gt;&#10;            以下五条都来自代码核对，建议在演示前就先说明口径&#10;        &lt;/Text&gt;&#10;    &lt;/Box&gt;&#10;&#10;    {/* ===== B 区 内容区（非对称双栏 40:60） ===== */}&#10;    &lt;Box style={{ height: 540, flexDirection: 'row', gap: 24 }}&gt;&#10;        {/* 左栏 */}&#10;        &lt;Box style={{ width: 402, background: '#202259', borderRadius: 10, padding: '26px 24px', flexDirection: 'column' }}&gt;&#10;            &lt;Text style={{ fontSize: 15, color: '#7FD3EC', letterSpacing: 2, fontWeight: 'bold' }}&gt;ALIGN FIRST&lt;/Text&gt;&#10;            &lt;Text style={{ fontSize: 30, fontWeight: 'bold', color: '#FFFFFF', lineHeight: 1.25, marginTop: 12 }}&gt;&#10;                为什么要&#10;                &lt;br /&gt;&#10;                提前对齐口径&#10;            &lt;/Text&gt;&#10;            &lt;Text style={{ fontSize: 17, color: '#B9C6E4', lineHeight: 1.6, marginTop: 16 }}&gt;&#10;                界面上出现的英文文案很容易被当成&quot;已经做好的能力&quot;。但代码里有一批文案是写了没接通的，还有两处数字口径本身不一致。今天不澄清，明天就会变成需求误判。&#10;            &lt;/Text&gt;&#10;&#10;            &lt;Box style={{ flexDirection: 'column', gap: 12, marginTop: 22 }}&gt;&#10;                {[&#10;                    { k: '2 处', v: '数字口径不一致' },&#10;                    { k: '5 个', v: '文案已定义但未接线' },&#10;                    { k: '1 处', v: '文案与位置错配' },&#10;                ].map(function (it, i) {&#10;                    return (&#10;                        &lt;Box key={i} style={{ flexDirection: 'row', alignItems: 'center', gap: 12, padding: '11px 14px', background: 'rgba(42,167,207,0.16)', borderRadius: 8 }}&gt;&#10;                            &lt;Text style={{ fontSize: 22, fontWeight: 'bold', color: '#7FD3EC' }}&gt;{it.k}&lt;/Text&gt;&#10;                            &lt;Text style={{ fontSize: 16, color: '#D6E2F5' }}&gt;{it.v}&lt;/Text&gt;&#10;                        &lt;/Box&gt;&#10;                    );&#10;                })}&#10;            &lt;/Box&gt;&#10;&#10;            &lt;Box style={{ marginTop: 'auto', paddingTop: 18, borderTop: '1px solid rgba(127,211,236,0.3)' }}&gt;&#10;                &lt;Text style={{ fontSize: 16, color: '#CFE9F4', lineHeight: 1.5 }}&gt;&#10;                    建议对外统一说法：当前为演示版本，以下能力待排期。&#10;                &lt;/Text&gt;&#10;            &lt;/Box&gt;&#10;        &lt;/Box&gt;&#10;&#10;        {/* 右栏：五条清单 */}&#10;        &lt;Box style={{ flex: 1, flexDirection: 'column', gap: 10 }}&gt;&#10;            {[&#10;                { n: '01', t: '步骤条只用了 3 格，文案却有 6 套', d: '文案表里定义了六步（Delivery &amp; contact 一直到 Review &amp; place），页面只用三格，且第三格复用了 &quot;Review &amp; place&quot; 那一条，与显示的 Shipping / pickup 对不上。', tag: '文案错配' },&#10;                { n: '02', t: '结算摘要里没有运费和税费', d: '摘要只有件数、小计、运费占位、总计，总计等于商品小计。7.5% 税率只在订单详情页和账户订单页事后算出来展示，会出现结算金额与订单金额不一致的观感。', tag: '口径不一' },&#10;                { n: '03', t: 'USSD 码是写死的', d: '页面上固定显示 *737*50*100000#，不随订单金额变化。文案表里其实有一条带金额占位符的模板，但没有被使用。', tag: '未接线' },&#10;                { n: '04', t: '订单只存在本机浏览器里', d: '换设备、换浏览器或清缓存后订单打不开，详情页已经内置了这句说明。&quot;把订单邮件发送&quot;实际只是唤起本地邮件客户端，没有服务端投递。', tag: '架构限制' },&#10;                { n: '05', t: '取消订单、物流追踪、催发货都还没做', d: 'Pay now / Track / Urge shipping / Cancelled 这批文案已经在文案表里，但全站没有任何按钮接线到它们。讲解时不要声称支持这些操作。', tag: '未实现' },&#10;            ].map(function (it, i) {&#10;                return (&#10;                    &lt;Box key={i} style={{ flex: 1, flexDirection: 'row', gap: 14, alignItems: 'center', background: '#F4F6F8', borderRadius: 8, padding: '0 16px', borderLeft: '4px solid ' + (i === 4 ? '#F287B7' : '#2AA7CF') }}&gt;&#10;                        &lt;Text style={{ fontSize: 20, fontWeight: 'bold', color: '#859EB3', fontFamily: 'Menlo, ui-monospace, monospace', width: 34 }}&gt;{it.n}&lt;/Text&gt;&#10;                        &lt;Box style={{ flex: 1, flexDirection: 'column' }}&gt;&#10;                            &lt;Text style={{ fontSize: 18, fontWeight: 'bold', color: '#202259', lineHeight: 1.3 }}&gt;{it.t}&lt;/Text&gt;&#10;                            &lt;Text style={{ fontSize: 16, color: '#3F4A55', lineHeight: 1.45, marginTop: 3 }}&gt;{it.d}&lt;/Text&gt;&#10;                        &lt;/Box&gt;&#10;                        &lt;Box style={{ padding: '3px 10px', background: i === 4 ? 'rgba(242,135,183,0.2)' : '#FFFFFF', borderRadius: 4, border: '1px solid #E3E6E8' }}&gt;&#10;                            &lt;Text style={{ fontSize: 13, color: i === 4 ? '#B3528A' : '#5C646A', fontWeight: 'bold' }}&gt;{it.tag}&lt;/Text&gt;&#10;                        &lt;/Box&gt;&#10;                    &lt;/Box&gt;&#10;                );&#10;            })}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13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下单流程</a:t>
            </a:r>
            <a:r>
              <a:rPr lang="en-US" sz="2550" b="1">
                <a:solidFill>
                  <a:srgbClr val="202259"/>
                </a:solidFill>
                <a:latin typeface="Inter"/>
                <a:ea typeface="Inter"/>
              </a:rPr>
              <a:t> · </a:t>
            </a: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讲解时要注意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以下五条都来自代码核对，建议在演示前就先说明口径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571500" y="1143000"/>
            <a:ext cx="3829050" cy="5610225"/>
          </a:xfrm>
          <a:prstGeom prst="roundRect">
            <a:avLst>
              <a:gd name="adj" fmla="val 2488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00100" y="1390650"/>
            <a:ext cx="3371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ALIGN FIRST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00100" y="1676400"/>
            <a:ext cx="337185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Inter"/>
                <a:ea typeface="Inter"/>
              </a:rPr>
              <a:t>为什么要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Inter"/>
                <a:ea typeface="Inter"/>
              </a:rPr>
              <a:t>提前对齐口径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00100" y="2686050"/>
            <a:ext cx="337185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界面上出现的英文文案很容易被当成</a:t>
            </a:r>
            <a:r>
              <a:rPr lang="en-US" sz="1275">
                <a:solidFill>
                  <a:srgbClr val="B9C6E4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已经做好的能力</a:t>
            </a:r>
            <a:r>
              <a:rPr lang="en-US" sz="1275">
                <a:solidFill>
                  <a:srgbClr val="B9C6E4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。但代码里有一批文案是写了没接通的，还有两处数字口径本身不一致。今天不澄清，明天就会变成需求误判。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800100" y="4143375"/>
            <a:ext cx="3371850" cy="466725"/>
          </a:xfrm>
          <a:prstGeom prst="roundRect">
            <a:avLst>
              <a:gd name="adj" fmla="val 16327"/>
            </a:avLst>
          </a:prstGeom>
          <a:solidFill>
            <a:srgbClr val="2AA7CF">
              <a:alpha val="16000"/>
            </a:srgbClr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933450" y="4248150"/>
            <a:ext cx="409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7FD3EC"/>
                </a:solidFill>
                <a:latin typeface="Inter"/>
                <a:ea typeface="Inter"/>
              </a:rPr>
              <a:t>2 </a:t>
            </a:r>
            <a:r>
              <a:rPr lang="zh-CN" sz="1650" b="1">
                <a:solidFill>
                  <a:srgbClr val="7FD3EC"/>
                </a:solidFill>
                <a:latin typeface="Inter"/>
                <a:ea typeface="Inter"/>
              </a:rPr>
              <a:t>处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457325" y="428625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数字口径不一致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800100" y="4724400"/>
            <a:ext cx="3371850" cy="466725"/>
          </a:xfrm>
          <a:prstGeom prst="roundRect">
            <a:avLst>
              <a:gd name="adj" fmla="val 16327"/>
            </a:avLst>
          </a:prstGeom>
          <a:solidFill>
            <a:srgbClr val="2AA7CF">
              <a:alpha val="16000"/>
            </a:srgbClr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933450" y="4829175"/>
            <a:ext cx="409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7FD3EC"/>
                </a:solidFill>
                <a:latin typeface="Inter"/>
                <a:ea typeface="Inter"/>
              </a:rPr>
              <a:t>5 </a:t>
            </a:r>
            <a:r>
              <a:rPr lang="zh-CN" sz="1650" b="1">
                <a:solidFill>
                  <a:srgbClr val="7FD3EC"/>
                </a:solidFill>
                <a:latin typeface="Inter"/>
                <a:ea typeface="Inter"/>
              </a:rPr>
              <a:t>个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457325" y="4867275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文案已定义但未接线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800100" y="5305425"/>
            <a:ext cx="3371850" cy="466725"/>
          </a:xfrm>
          <a:prstGeom prst="roundRect">
            <a:avLst>
              <a:gd name="adj" fmla="val 16327"/>
            </a:avLst>
          </a:prstGeom>
          <a:solidFill>
            <a:srgbClr val="2AA7CF">
              <a:alpha val="16000"/>
            </a:srgbClr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933450" y="5410200"/>
            <a:ext cx="371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7FD3EC"/>
                </a:solidFill>
                <a:latin typeface="Inter"/>
                <a:ea typeface="Inter"/>
              </a:rPr>
              <a:t>1 </a:t>
            </a:r>
            <a:r>
              <a:rPr lang="zh-CN" sz="1650" b="1">
                <a:solidFill>
                  <a:srgbClr val="7FD3EC"/>
                </a:solidFill>
                <a:latin typeface="Inter"/>
                <a:ea typeface="Inter"/>
              </a:rPr>
              <a:t>处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419225" y="544830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文案与位置错配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800100" y="5772150"/>
            <a:ext cx="3371850" cy="742950"/>
          </a:xfrm>
          <a:custGeom>
            <a:pathLst>
              <a:path w="354" h="78">
                <a:moveTo>
                  <a:pt x="0" y="0"/>
                </a:moveTo>
                <a:lnTo>
                  <a:pt x="354" y="0"/>
                </a:lnTo>
                <a:lnTo>
                  <a:pt x="354" y="1"/>
                </a:lnTo>
                <a:lnTo>
                  <a:pt x="0" y="1"/>
                </a:lnTo>
                <a:close/>
              </a:path>
            </a:pathLst>
          </a:custGeom>
          <a:solidFill>
            <a:srgbClr val="7FD3EC">
              <a:alpha val="30000"/>
            </a:srgbClr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00100" y="5953125"/>
            <a:ext cx="33718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建议对外统一说法：当前为演示版本，以下能力待排期。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4667250" y="1143000"/>
            <a:ext cx="6991350" cy="9525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4667250" y="1143000"/>
            <a:ext cx="6991350" cy="952500"/>
          </a:xfrm>
          <a:custGeom>
            <a:pathLst>
              <a:path w="734" h="10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6"/>
                </a:lnTo>
                <a:cubicBezTo>
                  <a:pt x="4" y="98"/>
                  <a:pt x="5" y="100"/>
                  <a:pt x="7" y="100"/>
                </a:cubicBezTo>
                <a:cubicBezTo>
                  <a:pt x="3" y="100"/>
                  <a:pt x="0" y="96"/>
                  <a:pt x="0" y="9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819650" y="1504950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59EB3"/>
                </a:solidFill>
                <a:latin typeface="Menlo"/>
                <a:ea typeface="Menlo"/>
              </a:rPr>
              <a:t>01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276850" y="1200150"/>
            <a:ext cx="53721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步骤条只用了</a:t>
            </a:r>
            <a:r>
              <a:rPr lang="en-US" sz="1350" b="1">
                <a:solidFill>
                  <a:srgbClr val="202259"/>
                </a:solidFill>
                <a:latin typeface="Inter"/>
                <a:ea typeface="Inter"/>
              </a:rPr>
              <a:t> 3 </a:t>
            </a: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格，文案却有</a:t>
            </a:r>
            <a:r>
              <a:rPr lang="en-US" sz="1350" b="1">
                <a:solidFill>
                  <a:srgbClr val="202259"/>
                </a:solidFill>
                <a:latin typeface="Inter"/>
                <a:ea typeface="Inter"/>
              </a:rPr>
              <a:t> 6 </a:t>
            </a: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套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276850" y="1504950"/>
            <a:ext cx="53721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文案表里定义了六步（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Delivery &amp; contact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一直到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Review &amp; place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），页面只用三格，且第三格复用了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"Review &amp; place"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那一条，与显示的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Shipping / pickup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对不上。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10782300" y="1514475"/>
            <a:ext cx="685800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0877550" y="15430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5C646A"/>
                </a:solidFill>
                <a:latin typeface="Inter"/>
                <a:ea typeface="Inter"/>
              </a:rPr>
              <a:t>文案错配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4667250" y="2190750"/>
            <a:ext cx="6991350" cy="9525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02" name=""/>
          <p:cNvSpPr/>
          <p:nvPr/>
        </p:nvSpPr>
        <p:spPr>
          <a:xfrm rot="0" flipH="0" flipV="0">
            <a:off x="4667250" y="2190750"/>
            <a:ext cx="6991350" cy="952500"/>
          </a:xfrm>
          <a:custGeom>
            <a:pathLst>
              <a:path w="734" h="10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6"/>
                </a:lnTo>
                <a:cubicBezTo>
                  <a:pt x="4" y="98"/>
                  <a:pt x="5" y="100"/>
                  <a:pt x="7" y="100"/>
                </a:cubicBezTo>
                <a:cubicBezTo>
                  <a:pt x="3" y="100"/>
                  <a:pt x="0" y="96"/>
                  <a:pt x="0" y="9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819650" y="2552700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59EB3"/>
                </a:solidFill>
                <a:latin typeface="Menlo"/>
                <a:ea typeface="Menlo"/>
              </a:rPr>
              <a:t>02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276850" y="2247900"/>
            <a:ext cx="53721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结算摘要里没有运费和税费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276850" y="2552700"/>
            <a:ext cx="53721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摘要只有件数、小计、运费占位、总计，总计等于商品小计。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7.5%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税率只在订单详情页和账户订单页事后算出来展示，会出现结算金额与订单金额不一致的观感。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10782300" y="2562225"/>
            <a:ext cx="685800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0877550" y="25908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5C646A"/>
                </a:solidFill>
                <a:latin typeface="Inter"/>
                <a:ea typeface="Inter"/>
              </a:rPr>
              <a:t>口径不一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4667250" y="3238500"/>
            <a:ext cx="6991350" cy="9525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4667250" y="3238500"/>
            <a:ext cx="6991350" cy="952500"/>
          </a:xfrm>
          <a:custGeom>
            <a:pathLst>
              <a:path w="734" h="10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6"/>
                </a:lnTo>
                <a:cubicBezTo>
                  <a:pt x="4" y="98"/>
                  <a:pt x="5" y="100"/>
                  <a:pt x="7" y="100"/>
                </a:cubicBezTo>
                <a:cubicBezTo>
                  <a:pt x="3" y="100"/>
                  <a:pt x="0" y="96"/>
                  <a:pt x="0" y="9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819650" y="3600450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59EB3"/>
                </a:solidFill>
                <a:latin typeface="Menlo"/>
                <a:ea typeface="Menlo"/>
              </a:rPr>
              <a:t>03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276850" y="3295650"/>
            <a:ext cx="54959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202259"/>
                </a:solidFill>
                <a:latin typeface="Inter"/>
                <a:ea typeface="Inter"/>
              </a:rPr>
              <a:t>USSD </a:t>
            </a: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码是写死的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276850" y="3600450"/>
            <a:ext cx="54959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页面上固定显示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*737*50*100000#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，不随订单金额变化。文案表里其实有一条带金额占位符的模板，但没有被使用。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10906125" y="3609975"/>
            <a:ext cx="561975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1001375" y="36385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5C646A"/>
                </a:solidFill>
                <a:latin typeface="Inter"/>
                <a:ea typeface="Inter"/>
              </a:rPr>
              <a:t>未接线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4667250" y="4286250"/>
            <a:ext cx="6991350" cy="9525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4667250" y="4286250"/>
            <a:ext cx="6991350" cy="952500"/>
          </a:xfrm>
          <a:custGeom>
            <a:pathLst>
              <a:path w="734" h="10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6"/>
                </a:lnTo>
                <a:cubicBezTo>
                  <a:pt x="4" y="98"/>
                  <a:pt x="5" y="100"/>
                  <a:pt x="7" y="100"/>
                </a:cubicBezTo>
                <a:cubicBezTo>
                  <a:pt x="3" y="100"/>
                  <a:pt x="0" y="96"/>
                  <a:pt x="0" y="9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819650" y="4648200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59EB3"/>
                </a:solidFill>
                <a:latin typeface="Menlo"/>
                <a:ea typeface="Menlo"/>
              </a:rPr>
              <a:t>04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276850" y="4343400"/>
            <a:ext cx="53721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订单只存在本机浏览器里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276850" y="4648200"/>
            <a:ext cx="5372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换设备、换浏览器或清缓存后订单打不开，详情页已经内置了这句说明。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把订单邮件发送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实际只是唤起本地邮件客户端，没有服务端投递。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10782300" y="4657725"/>
            <a:ext cx="685800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0877550" y="46863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5C646A"/>
                </a:solidFill>
                <a:latin typeface="Inter"/>
                <a:ea typeface="Inter"/>
              </a:rPr>
              <a:t>架构限制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4667250" y="5334000"/>
            <a:ext cx="6991350" cy="9525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4667250" y="5334000"/>
            <a:ext cx="6991350" cy="952500"/>
          </a:xfrm>
          <a:custGeom>
            <a:pathLst>
              <a:path w="734" h="10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6"/>
                </a:lnTo>
                <a:cubicBezTo>
                  <a:pt x="4" y="98"/>
                  <a:pt x="5" y="100"/>
                  <a:pt x="7" y="100"/>
                </a:cubicBezTo>
                <a:cubicBezTo>
                  <a:pt x="3" y="100"/>
                  <a:pt x="0" y="96"/>
                  <a:pt x="0" y="9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819650" y="5695950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59EB3"/>
                </a:solidFill>
                <a:latin typeface="Menlo"/>
                <a:ea typeface="Menlo"/>
              </a:rPr>
              <a:t>05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276850" y="5391150"/>
            <a:ext cx="54959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取消订单、物流追踪、催发货都还没做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276850" y="5695950"/>
            <a:ext cx="54959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Pay now / Track / Urge shipping / Cancelled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这批文案已经在文案表里，但全站没有任何按钮接线到它们。讲解时不要声称支持这些操作。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10906125" y="5705475"/>
            <a:ext cx="561975" cy="209550"/>
          </a:xfrm>
          <a:prstGeom prst="roundRect">
            <a:avLst>
              <a:gd name="adj" fmla="val 18182"/>
            </a:avLst>
          </a:prstGeom>
          <a:solidFill>
            <a:srgbClr val="F287B7">
              <a:alpha val="20000"/>
            </a:srgbClr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001375" y="57340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B3528A"/>
                </a:solidFill>
                <a:latin typeface="Inter"/>
                <a:ea typeface="Inter"/>
              </a:rPr>
              <a:t>未实现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13 / 25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2" name="" descr="&lt;Slide style={{ width: 1280, height: 720, position: 'relative', fontFamily: 'Inter, PingFang SC, Helvetica Neue, sans-serif', background: '#0F1034' }}&gt;&#10;    &lt;Image src='resources/images/section_signup.jpg' style={{ position: 'absolute', top: 0, left: 0, width: 1280, height: 720, objectFit: 'cover' }} /&gt;&#10;    &lt;Box style={{ position: 'absolute', top: 0, left: 0, width: 1280, height: 720, background: 'linear-gradient(90deg, rgba(15,16,52,0.95) 0%, rgba(15,16,52,0.84) 46%, rgba(15,16,52,0.38) 76%, rgba(15,16,52,0.74) 100%)' }} /&gt;&#10;    &lt;Box style={{ position: 'absolute', bottom: 0, right: 0, width: 520, height: 240, background: 'linear-gradient(315deg, rgba(8,10,32,1) 0%, rgba(8,10,32,0.9) 24%, rgba(8,10,32,0) 64%)' }} /&gt;&#10;&#10;    &lt;Box style={{ position: 'relative', width: '100%', height: '100%', padding: '72px 80px', flexDirection: 'column', justifyContent: 'center' }}&gt;&#10;        &lt;Box style={{ flexDirection: 'row', alignItems: 'center', gap: 16 }}&gt;&#10;            &lt;Text style={{ fontSize: 96, fontWeight: 'bold', color: 'rgba(42,167,207,0.55)', lineHeight: 1, letterSpacing: -3 }}&gt;02&lt;/Text&gt;&#10;            &lt;Box style={{ width: 56, height: 4, background: '#2AA7CF' }} /&gt;&#10;            &lt;Text style={{ fontSize: 17, color: '#7FD3EC', letterSpacing: 3, fontWeight: 'bold' }}&gt;CHAPTER TWO&lt;/Text&gt;&#10;        &lt;/Box&gt;&#10;&#10;        &lt;Text style={{ fontSize: 64, fontWeight: 'bold', color: '#FFFFFF', lineHeight: 1.1, letterSpacing: -1, marginTop: 26 }}&gt;&#10;            会员注册与登录&#10;        &lt;/Text&gt;&#10;        &lt;Text style={{ fontSize: 24, color: '#B9C6E4', lineHeight: 1.5, marginTop: 18, width: 800 }}&gt;&#10;            一页七分区的注册长表单、Member ID 的产生与校验位置，以及推荐关系是怎么绑到人身上的。&#10;        &lt;/Text&gt;&#10;&#10;        &lt;Box style={{ flexDirection: 'row', gap: 14, marginTop: 40 }}&gt;&#10;            {['七个分区', 'Member ID 规则', '推荐关系绑定', '登录校验链'].map(function (t, i) {&#10;                return (&#10;                    &lt;Box key={i} style={{ padding: '10px 20px', background: 'rgba(255,255,255,0.08)', border: '1px solid rgba(127,211,236,0.3)', borderRadius: 999, flexDirection: 'row', alignItems: 'center', gap: 9 }}&gt;&#10;                        &lt;Box style={{ width: 6, height: 6, borderRadius: 3, background: '#2AA7CF' }} /&gt;&#10;                        &lt;Text style={{ fontSize: 16, color: '#D6E2F5' }}&gt;{t}&lt;/Text&gt;&#10;                    &lt;/Box&gt;&#10;                );&#10;            })}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034"/>
          </a:solidFill>
          <a:ln/>
        </p:spPr>
        <p:txBody>
          <a:bodyPr/>
          <a:p/>
        </p:txBody>
      </p:sp>
      <p:pic>
        <p:nvPicPr>
          <p:cNvPr id="234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034">
                  <a:alpha val="95000"/>
                </a:srgbClr>
              </a:gs>
              <a:gs pos="46000">
                <a:srgbClr val="0F1034">
                  <a:alpha val="84000"/>
                </a:srgbClr>
              </a:gs>
              <a:gs pos="76000">
                <a:srgbClr val="0F1034">
                  <a:alpha val="38000"/>
                </a:srgbClr>
              </a:gs>
              <a:gs pos="100000">
                <a:srgbClr val="0F1034">
                  <a:alpha val="74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7239000" y="4572000"/>
            <a:ext cx="4953000" cy="2286000"/>
          </a:xfrm>
          <a:prstGeom prst="rect">
            <a:avLst/>
          </a:prstGeom>
          <a:gradFill>
            <a:gsLst>
              <a:gs pos="0">
                <a:srgbClr val="080A20">
                  <a:alpha val="100000"/>
                </a:srgbClr>
              </a:gs>
              <a:gs pos="24000">
                <a:srgbClr val="080A20">
                  <a:alpha val="90000"/>
                </a:srgbClr>
              </a:gs>
              <a:gs pos="64000">
                <a:srgbClr val="080A20">
                  <a:alpha val="0"/>
                </a:srgbClr>
              </a:gs>
            </a:gsLst>
            <a:lin ang="13500000" scaled="1"/>
          </a:gra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62000" y="1466850"/>
            <a:ext cx="10477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225">
                <a:solidFill>
                  <a:srgbClr val="2AA7CF">
                    <a:alpha val="55000"/>
                  </a:srgbClr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1962150" y="2000250"/>
            <a:ext cx="533400" cy="38100"/>
          </a:xfrm>
          <a:prstGeom prst="rect">
            <a:avLst/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2647950" y="192405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225">
                <a:solidFill>
                  <a:srgbClr val="7FD3EC"/>
                </a:solidFill>
                <a:latin typeface="Inter"/>
                <a:ea typeface="Inter"/>
              </a:rPr>
              <a:t>CHAPTER TWO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62000" y="2819400"/>
            <a:ext cx="1066800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 spc="-75">
                <a:solidFill>
                  <a:srgbClr val="FFFFFF"/>
                </a:solidFill>
                <a:latin typeface="Inter"/>
                <a:ea typeface="Inter"/>
              </a:rPr>
              <a:t>会员注册与登录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62000" y="3800475"/>
            <a:ext cx="76200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800">
                <a:solidFill>
                  <a:srgbClr val="B9C6E4"/>
                </a:solidFill>
                <a:latin typeface="Inter"/>
                <a:ea typeface="Inter"/>
              </a:rPr>
              <a:t>一页七分区的注册长表单、</a:t>
            </a:r>
            <a:r>
              <a:rPr lang="en-US" sz="1800">
                <a:solidFill>
                  <a:srgbClr val="B9C6E4"/>
                </a:solidFill>
                <a:latin typeface="Inter"/>
                <a:ea typeface="Inter"/>
              </a:rPr>
              <a:t>Member ID </a:t>
            </a:r>
            <a:r>
              <a:rPr lang="zh-CN" sz="1800">
                <a:solidFill>
                  <a:srgbClr val="B9C6E4"/>
                </a:solidFill>
                <a:latin typeface="Inter"/>
                <a:ea typeface="Inter"/>
              </a:rPr>
              <a:t>的产生与校验位置，以及推荐关系是怎么绑到人身上的。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762000" y="5010150"/>
            <a:ext cx="11334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3" name=""/>
          <p:cNvSpPr/>
          <p:nvPr/>
        </p:nvSpPr>
        <p:spPr>
          <a:xfrm rot="0" flipH="0" flipV="0">
            <a:off x="952500" y="5172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095375" y="51054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七个分区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2028825" y="5010150"/>
            <a:ext cx="1657350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2219325" y="5172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2362200" y="5105400"/>
            <a:ext cx="1133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D6E2F5"/>
                </a:solidFill>
                <a:latin typeface="Inter"/>
                <a:ea typeface="Inter"/>
              </a:rPr>
              <a:t>Member ID </a:t>
            </a: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规则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3819525" y="5010150"/>
            <a:ext cx="14382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4010025" y="5172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4152900" y="51054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推荐关系绑定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5391150" y="5010150"/>
            <a:ext cx="12858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5581650" y="5172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724525" y="51054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登录校验链</a:t>
            </a:r>
            <a:endParaRPr/>
          </a:p>
        </p:txBody>
      </p:sp>
    </p:spTree>
  </p:cSld>
</p:sld>
</file>

<file path=ppt/slides/slide1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54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注册：一页七个分区&lt;/Text&gt;&#10;        &lt;Text style={{ fontSize: 16, color: '#5C646A', lineHeight: 1.4, marginTop: 6 }}&gt;&#10;            不是分步向导，是单页长表单；必填项比看上去少得多&#10;        &lt;/Text&gt;&#10;    &lt;/Box&gt;&#10;&#10;    {/* ===== B 区 内容区（左大图 + 右侧文字） ===== */}&#10;    &lt;Box style={{ height: 540, flexDirection: 'row', gap: 24 }}&gt;&#10;        {/* 左侧：七分区结构 */}&#10;        &lt;Box style={{ flex: 1, flexDirection: 'column' }}&gt;&#10;            &lt;Text style={{ fontSize: 19, fontWeight: 'bold', color: '#202259', marginBottom: 10 }}&gt;&#10;                从上到下的七个区块&#10;            &lt;/Text&gt;&#10;            &lt;Box style={{ flex: 1, flexDirection: 'column', gap: 7 }}&gt;&#10;                {[&#10;                    { n: '1', t: 'Basic Information', f: 'Country · Language · Member ID（只读）· Order Level · Reporting Center ID' },&#10;                    { n: '2', t: 'Products', f: '12 个商品可勾选与设数量，至少选 1 件才放行' },&#10;                    { n: '3', t: 'Network Information', f: 'Referrer ID · Actual Referrer ID，两个都会被自动预填' },&#10;                    { n: '4', t: 'Personal Information', f: '会员名 · 手机 · 邮箱 · 登录密码 · 支付密码 · 收货人 · 收货人电话' },&#10;                    { n: '5', t: 'Delivery Method', f: 'Door Delivery（默认）或 Pickup 二选一' },&#10;                    { n: '6', t: 'Address Details', f: '州 · 城市 · 详细地址 · 区域，全部选填；选 Pickup 时整块隐藏' },&#10;                    { n: '7', t: 'Payment Method', f: 'COD（默认）/ Card / USSD / Bank transfer 四选一' },&#10;                ].map(function (it, i) {&#10;                    return (&#10;                        &lt;Box key={i} style={{ flex: 1, flexDirection: 'row', gap: 14, alignItems: 'center', background: '#F4F6F8', borderRadius: 8, padding: '0 16px' }}&gt;&#10;                            &lt;Box style={{ width: 30, height: 30, borderRadius: 15, background: '#202259', justifyContent: 'center', alignItems: 'center' }}&gt;&#10;                                &lt;Text style={{ fontSize: 15, fontWeight: 'bold', color: '#FFFFFF' }}&gt;{it.n}&lt;/Text&gt;&#10;                            &lt;/Box&gt;&#10;                            &lt;Text style={{ fontSize: 17, fontWeight: 'bold', color: '#202259', width: 190 }}&gt;{it.t}&lt;/Text&gt;&#10;                            &lt;Text style={{ fontSize: 15, color: '#3F4A55', flex: 1, lineHeight: 1.35 }}&gt;{it.f}&lt;/Text&gt;&#10;                        &lt;/Box&gt;&#10;                    );&#10;                })}&#10;            &lt;/Box&gt;&#10;        &lt;/Box&gt;&#10;&#10;        {/* 右侧：必填项与说明 */}&#10;        &lt;Box style={{ width: 386, flexDirection: 'column', gap: 14 }}&gt;&#10;            &lt;Box style={{ flex: 1, background: '#202259', borderRadius: 10, padding: '20px 22px', flexDirection: 'column' }}&gt;&#10;                &lt;Text style={{ fontSize: 15, color: '#7FD3EC', letterSpacing: 2, fontWeight: 'bold' }}&gt;REQUIRED&lt;/Text&gt;&#10;                &lt;Text style={{ fontSize: 24, fontWeight: 'bold', color: '#FFFFFF', marginTop: 8 }}&gt;&#10;                    真实必填只有 8 项&#10;                &lt;/Text&gt;&#10;                &lt;Box style={{ flexDirection: 'row', flexWrap: 'wrap', gap: 8, marginTop: 16 }}&gt;&#10;                    {['Reporting Center ID', 'Order Level', '会员名', '手机', '邮箱', '登录密码', '支付密码', '至少 1 件商品'].map(function (t, i) {&#10;                        return (&#10;                            &lt;Box key={i} style={{ padding: '6px 12px', background: 'rgba(42,167,207,0.18)', border: '1px solid rgba(127,211,236,0.4)', borderRadius: 6 }}&gt;&#10;                                &lt;Text style={{ fontSize: 15, color: '#D6E2F5' }}&gt;{t}&lt;/Text&gt;&#10;                            &lt;/Box&gt;&#10;                        );&#10;                    })}&#10;                &lt;/Box&gt;&#10;                &lt;Text style={{ fontSize: 16, color: '#B9C6E4', lineHeight: 1.5, marginTop: 'auto', paddingTop: 14 }}&gt;&#10;                    整张表单关掉了浏览器原生校验，所有检查都由脚本完成，包括提交失败时自动聚焦到第一个出错字段。&#10;                &lt;/Text&gt;&#10;            &lt;/Box&gt;&#10;&#10;            &lt;Box style={{ background: 'rgba(242,135,183,0.14)', borderRadius: 10, padding: '16px 18px', flexDirection: 'column', gap: 8 }}&gt;&#10;                &lt;Box style={{ flexDirection: 'row', alignItems: 'center', gap: 9 }}&gt;&#10;                    &lt;FAIcon name='exclamation-circle' style={{ fill: '#B3528A', width: 18, height: 18 }} /&gt;&#10;                    &lt;Text style={{ fontSize: 17, fontWeight: 'bold', color: '#7A2F5C' }}&gt;两个容易讲漏的点&lt;/Text&gt;&#10;                &lt;/Box&gt;&#10;                &lt;Text style={{ fontSize: 16, color: '#5C3A4D', lineHeight: 1.5 }}&gt;&#10;                    一是注册页没有条款勾选框，也没有验证码环节；二是密码只校验长度不少于 6 位，没有复杂度要求，也没有二次确认。&#10;                &lt;/Text&gt;&#10;            &lt;/Box&gt;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15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注册：一页七个分区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不是分步向导，是单页长表单；必填项比看上去少得多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71500" y="1143000"/>
            <a:ext cx="7143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从上到下的七个区块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571500" y="1457325"/>
            <a:ext cx="7143750" cy="790575"/>
          </a:xfrm>
          <a:prstGeom prst="roundRect">
            <a:avLst>
              <a:gd name="adj" fmla="val 963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723900" y="17145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38200" y="1771650"/>
            <a:ext cx="66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143000" y="1752600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Basic Information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086100" y="1619250"/>
            <a:ext cx="44767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Country · Language · Member ID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（只读）·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Order Level · Reporting Center ID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571500" y="2314575"/>
            <a:ext cx="7143750" cy="600075"/>
          </a:xfrm>
          <a:prstGeom prst="roundRect">
            <a:avLst>
              <a:gd name="adj" fmla="val 12698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723900" y="24765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28675" y="253365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2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143000" y="2514600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Products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3086100" y="2495550"/>
            <a:ext cx="44767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12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个商品可勾选与设数量，至少选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1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件才放行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571500" y="2981325"/>
            <a:ext cx="7143750" cy="609600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723900" y="31432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28675" y="320040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143000" y="3190875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Network Information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3086100" y="3171825"/>
            <a:ext cx="44767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Referrer ID · Actual Referrer ID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，两个都会被自动预填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571500" y="3657600"/>
            <a:ext cx="7143750" cy="609600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723900" y="38195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28675" y="387667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4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143000" y="3867150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Personal Information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3086100" y="3848100"/>
            <a:ext cx="44767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会员名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·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手机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·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邮箱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·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登录密码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·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支付密码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·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收货人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·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收货人电话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571500" y="4333875"/>
            <a:ext cx="7143750" cy="609600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723900" y="44958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28675" y="455295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5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143000" y="4543425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Delivery Method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3086100" y="4524375"/>
            <a:ext cx="44767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Door Delivery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（默认）或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Pickup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二选一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571500" y="5010150"/>
            <a:ext cx="7143750" cy="600075"/>
          </a:xfrm>
          <a:prstGeom prst="roundRect">
            <a:avLst>
              <a:gd name="adj" fmla="val 12698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723900" y="51720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28675" y="522922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6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143000" y="5210175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Address Details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3086100" y="5191125"/>
            <a:ext cx="44767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州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·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城市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·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详细地址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·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区域，全部选填；选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Pickup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时整块隐藏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571500" y="5676900"/>
            <a:ext cx="7143750" cy="609600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723900" y="58388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28675" y="589597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7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143000" y="5886450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Payment Method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3086100" y="5867400"/>
            <a:ext cx="44767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COD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（默认）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/ Card / USSD / Bank transfer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四选一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7943850" y="1143000"/>
            <a:ext cx="3676650" cy="3600450"/>
          </a:xfrm>
          <a:prstGeom prst="roundRect">
            <a:avLst>
              <a:gd name="adj" fmla="val 2646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153400" y="1333500"/>
            <a:ext cx="3257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REQUIRED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153400" y="158115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Inter"/>
                <a:ea typeface="Inter"/>
              </a:rPr>
              <a:t>真实必填只有</a:t>
            </a:r>
            <a:r>
              <a:rPr lang="en-US" sz="1800" b="1">
                <a:solidFill>
                  <a:srgbClr val="FFFFFF"/>
                </a:solidFill>
                <a:latin typeface="Inter"/>
                <a:ea typeface="Inter"/>
              </a:rPr>
              <a:t> 8 </a:t>
            </a:r>
            <a:r>
              <a:rPr lang="zh-CN" sz="1800" b="1">
                <a:solidFill>
                  <a:srgbClr val="FFFFFF"/>
                </a:solidFill>
                <a:latin typeface="Inter"/>
                <a:ea typeface="Inter"/>
              </a:rPr>
              <a:t>项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8153400" y="2009775"/>
            <a:ext cx="1552575" cy="285750"/>
          </a:xfrm>
          <a:prstGeom prst="roundRect">
            <a:avLst>
              <a:gd name="adj" fmla="val 20000"/>
            </a:avLst>
          </a:prstGeom>
          <a:solidFill>
            <a:srgbClr val="2AA7CF">
              <a:alpha val="18000"/>
            </a:srgbClr>
          </a:solidFill>
          <a:ln w="12700">
            <a:solidFill>
              <a:srgbClr val="7FD3EC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267700" y="2066925"/>
            <a:ext cx="1323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D6E2F5"/>
                </a:solidFill>
                <a:latin typeface="Inter"/>
                <a:ea typeface="Inter"/>
              </a:rPr>
              <a:t>Reporting Center ID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9782175" y="2009775"/>
            <a:ext cx="1000125" cy="285750"/>
          </a:xfrm>
          <a:prstGeom prst="roundRect">
            <a:avLst>
              <a:gd name="adj" fmla="val 20000"/>
            </a:avLst>
          </a:prstGeom>
          <a:solidFill>
            <a:srgbClr val="2AA7CF">
              <a:alpha val="18000"/>
            </a:srgbClr>
          </a:solidFill>
          <a:ln w="12700">
            <a:solidFill>
              <a:srgbClr val="7FD3EC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9896475" y="2066925"/>
            <a:ext cx="771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D6E2F5"/>
                </a:solidFill>
                <a:latin typeface="Inter"/>
                <a:ea typeface="Inter"/>
              </a:rPr>
              <a:t>Order Level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8153400" y="2371725"/>
            <a:ext cx="657225" cy="285750"/>
          </a:xfrm>
          <a:prstGeom prst="roundRect">
            <a:avLst>
              <a:gd name="adj" fmla="val 20000"/>
            </a:avLst>
          </a:prstGeom>
          <a:solidFill>
            <a:srgbClr val="2AA7CF">
              <a:alpha val="18000"/>
            </a:srgbClr>
          </a:solidFill>
          <a:ln w="12700">
            <a:solidFill>
              <a:srgbClr val="7FD3EC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267700" y="24288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6E2F5"/>
                </a:solidFill>
                <a:latin typeface="Inter"/>
                <a:ea typeface="Inter"/>
              </a:rPr>
              <a:t>会员名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8886825" y="2371725"/>
            <a:ext cx="514350" cy="285750"/>
          </a:xfrm>
          <a:prstGeom prst="roundRect">
            <a:avLst>
              <a:gd name="adj" fmla="val 20000"/>
            </a:avLst>
          </a:prstGeom>
          <a:solidFill>
            <a:srgbClr val="2AA7CF">
              <a:alpha val="18000"/>
            </a:srgbClr>
          </a:solidFill>
          <a:ln w="12700">
            <a:solidFill>
              <a:srgbClr val="7FD3EC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9001125" y="24288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6E2F5"/>
                </a:solidFill>
                <a:latin typeface="Inter"/>
                <a:ea typeface="Inter"/>
              </a:rPr>
              <a:t>手机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9477375" y="2371725"/>
            <a:ext cx="514350" cy="285750"/>
          </a:xfrm>
          <a:prstGeom prst="roundRect">
            <a:avLst>
              <a:gd name="adj" fmla="val 20000"/>
            </a:avLst>
          </a:prstGeom>
          <a:solidFill>
            <a:srgbClr val="2AA7CF">
              <a:alpha val="18000"/>
            </a:srgbClr>
          </a:solidFill>
          <a:ln w="12700">
            <a:solidFill>
              <a:srgbClr val="7FD3EC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9591675" y="24288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6E2F5"/>
                </a:solidFill>
                <a:latin typeface="Inter"/>
                <a:ea typeface="Inter"/>
              </a:rPr>
              <a:t>邮箱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10067925" y="2371725"/>
            <a:ext cx="800100" cy="285750"/>
          </a:xfrm>
          <a:prstGeom prst="roundRect">
            <a:avLst>
              <a:gd name="adj" fmla="val 20000"/>
            </a:avLst>
          </a:prstGeom>
          <a:solidFill>
            <a:srgbClr val="2AA7CF">
              <a:alpha val="18000"/>
            </a:srgbClr>
          </a:solidFill>
          <a:ln w="12700">
            <a:solidFill>
              <a:srgbClr val="7FD3EC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0182225" y="24288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6E2F5"/>
                </a:solidFill>
                <a:latin typeface="Inter"/>
                <a:ea typeface="Inter"/>
              </a:rPr>
              <a:t>登录密码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8153400" y="2733675"/>
            <a:ext cx="800100" cy="285750"/>
          </a:xfrm>
          <a:prstGeom prst="roundRect">
            <a:avLst>
              <a:gd name="adj" fmla="val 20000"/>
            </a:avLst>
          </a:prstGeom>
          <a:solidFill>
            <a:srgbClr val="2AA7CF">
              <a:alpha val="18000"/>
            </a:srgbClr>
          </a:solidFill>
          <a:ln w="12700">
            <a:solidFill>
              <a:srgbClr val="7FD3EC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267700" y="27908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6E2F5"/>
                </a:solidFill>
                <a:latin typeface="Inter"/>
                <a:ea typeface="Inter"/>
              </a:rPr>
              <a:t>支付密码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9029700" y="2733675"/>
            <a:ext cx="1104900" cy="285750"/>
          </a:xfrm>
          <a:prstGeom prst="roundRect">
            <a:avLst>
              <a:gd name="adj" fmla="val 20000"/>
            </a:avLst>
          </a:prstGeom>
          <a:solidFill>
            <a:srgbClr val="2AA7CF">
              <a:alpha val="18000"/>
            </a:srgbClr>
          </a:solidFill>
          <a:ln w="12700">
            <a:solidFill>
              <a:srgbClr val="7FD3EC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9144000" y="2790825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6E2F5"/>
                </a:solidFill>
                <a:latin typeface="Inter"/>
                <a:ea typeface="Inter"/>
              </a:rPr>
              <a:t>至少</a:t>
            </a:r>
            <a:r>
              <a:rPr lang="en-US" sz="1125">
                <a:solidFill>
                  <a:srgbClr val="D6E2F5"/>
                </a:solidFill>
                <a:latin typeface="Inter"/>
                <a:ea typeface="Inter"/>
              </a:rPr>
              <a:t> 1 </a:t>
            </a:r>
            <a:r>
              <a:rPr lang="zh-CN" sz="1125">
                <a:solidFill>
                  <a:srgbClr val="D6E2F5"/>
                </a:solidFill>
                <a:latin typeface="Inter"/>
                <a:ea typeface="Inter"/>
              </a:rPr>
              <a:t>件商品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153400" y="3590925"/>
            <a:ext cx="3257550" cy="962025"/>
          </a:xfrm>
          <a:prstGeom prst="rect"/>
        </p:spPr>
        <p:txBody>
          <a:bodyPr wrap="square" lIns="0" tIns="100013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整张表单关掉了浏览器原生校验，所有检查都由脚本完成，包括提交失败时自动聚焦到第一个出错字段。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7943850" y="4876800"/>
            <a:ext cx="3676650" cy="1409700"/>
          </a:xfrm>
          <a:prstGeom prst="roundRect">
            <a:avLst>
              <a:gd name="adj" fmla="val 6757"/>
            </a:avLst>
          </a:prstGeom>
          <a:solidFill>
            <a:srgbClr val="F287B7">
              <a:alpha val="14000"/>
            </a:srgbClr>
          </a:solidFill>
          <a:ln/>
        </p:spPr>
        <p:txBody>
          <a:bodyPr/>
          <a:p/>
        </p:txBody>
      </p:sp>
      <p:pic>
        <p:nvPicPr>
          <p:cNvPr id="3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15300" y="5048250"/>
            <a:ext cx="171450" cy="171450"/>
          </a:xfrm>
          <a:prstGeom prst="rect">
            <a:avLst/>
          </a:prstGeom>
          <a:ln/>
        </p:spPr>
      </p:pic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372475" y="50292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7A2F5C"/>
                </a:solidFill>
                <a:latin typeface="Inter"/>
                <a:ea typeface="Inter"/>
              </a:rPr>
              <a:t>两个容易讲漏的点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115300" y="5305425"/>
            <a:ext cx="33337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5C3A4D"/>
                </a:solidFill>
                <a:latin typeface="Inter"/>
                <a:ea typeface="Inter"/>
              </a:rPr>
              <a:t>一是注册页没有条款勾选框，也没有验证码环节；二是密码只校验长度不少于</a:t>
            </a:r>
            <a:r>
              <a:rPr lang="en-US" sz="1200">
                <a:solidFill>
                  <a:srgbClr val="5C3A4D"/>
                </a:solidFill>
                <a:latin typeface="Inter"/>
                <a:ea typeface="Inter"/>
              </a:rPr>
              <a:t> 6 </a:t>
            </a:r>
            <a:r>
              <a:rPr lang="zh-CN" sz="1200">
                <a:solidFill>
                  <a:srgbClr val="5C3A4D"/>
                </a:solidFill>
                <a:latin typeface="Inter"/>
                <a:ea typeface="Inter"/>
              </a:rPr>
              <a:t>位，没有复杂度要求，也没有二次确认。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15 / 25</a:t>
            </a:r>
            <a:endParaRPr/>
          </a:p>
        </p:txBody>
      </p:sp>
    </p:spTree>
  </p:cSld>
</p:sld>
</file>

<file path=ppt/slides/slide1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21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Member ID：NG + 8 位数字&lt;/Text&gt;&#10;        &lt;Text style={{ fontSize: 16, color: '#5C646A', lineHeight: 1.4, marginTop: 6 }}&gt;&#10;            系统生成、字段只读，校验只发生在另外三个地方&#10;        &lt;/Text&gt;&#10;    &lt;/Box&gt;&#10;&#10;    {/* ===== B 区 内容区（巨型数字 + 洞察） ===== */}&#10;    &lt;Box style={{ height: 540, flexDirection: 'column', gap: 20 }}&gt;&#10;        {/* 巨型 ID */}&#10;        &lt;Box style={{ height: 226, background: '#202259', borderRadius: 10, padding: '0 34px', flexDirection: 'row', alignItems: 'center', gap: 30 }}&gt;&#10;            &lt;Text style={{ fontSize: 92, fontWeight: 'bold', color: '#FFFFFF', lineHeight: 1, letterSpacing: -3, fontFamily: 'Menlo, ui-monospace, monospace' }}&gt;&#10;                NG12345678&#10;            &lt;/Text&gt;&#10;            &lt;Box style={{ flexDirection: 'column', flex: 1 }}&gt;&#10;                &lt;Box style={{ flexDirection: 'row', alignItems: 'center', gap: 10 }}&gt;&#10;                    &lt;Box style={{ padding: '4px 12px', background: '#F287B7', borderRadius: 4 }}&gt;&#10;                        &lt;Text style={{ fontSize: 14, fontWeight: 'bold', color: '#FFFFFF' }}&gt;共 10 位&lt;/Text&gt;&#10;                    &lt;/Box&gt;&#10;                    &lt;Text style={{ fontSize: 17, color: '#7FD3EC' }}&gt;NG 前缀 + 8 位数字&lt;/Text&gt;&#10;                &lt;/Box&gt;&#10;                &lt;Text style={{ fontSize: 17, color: '#B9C6E4', lineHeight: 1.55, marginTop: 12 }}&gt;&#10;                    注册页一加载，脚本就生成好并填进这个输入框。它是&#10;                    &lt;span style={{ color: '#FFFFFF', fontWeight: 'bold' }}&gt;只读字段&lt;/span&gt;&#10;                    ，注册页本身不做任何 ID 校验 —— 校验发生在登录页、账户页和推荐链接三处。&#10;                &lt;/Text&gt;&#10;            &lt;/Box&gt;&#10;        &lt;/Box&gt;&#10;&#10;        {/* 生成与校验 */}&#10;        &lt;Box style={{ flex: 1, flexDirection: 'row', gap: 16 }}&gt;&#10;            &lt;Box style={{ flex: 1, background: '#F4F6F8', borderRadius: 10, padding: '16px 18px', flexDirection: 'column' }}&gt;&#10;                &lt;Box style={{ flexDirection: 'row', alignItems: 'center', gap: 10, marginBottom: 10 }}&gt;&#10;                    &lt;FAIcon name='cog' style={{ fill: '#2AA7CF', width: 20, height: 20 }} /&gt;&#10;                    &lt;Text style={{ fontSize: 20, fontWeight: 'bold', color: '#202259' }}&gt;在哪生成&lt;/Text&gt;&#10;                &lt;/Box&gt;&#10;                &lt;Text style={{ fontSize: 16, color: '#3F4A55', lineHeight: 1.5, flex: 1 }}&gt;&#10;                    注册页加载时调用商品目录里的生成方法，逐位取 0–9 的随机数拼出 8 位，拼上前缀返回。代码里还写了一条兜底：取不到该方法时，改用 1 到 8 位区间内的随机整数补足。&#10;                &lt;/Text&gt;&#10;                &lt;Box style={{ marginTop: 10, padding: '10px 12px', background: '#FFFFFF', borderRadius: 6, borderLeft: '3px solid #2AA7CF' }}&gt;&#10;                    &lt;Text style={{ fontSize: 15, color: '#5C646A', lineHeight: 1.45 }}&gt;&#10;                        另外，已登录但档案里缺 ID 时，系统会即时补生成一个并写回登录态。&#10;                    &lt;/Text&gt;&#10;                &lt;/Box&gt;&#10;            &lt;/Box&gt;&#10;&#10;            &lt;Box style={{ flex: 1, background: '#F4F6F8', borderRadius: 10, padding: '16px 18px', flexDirection: 'column' }}&gt;&#10;                &lt;Box style={{ flexDirection: 'row', alignItems: 'center', gap: 10, marginBottom: 10 }}&gt;&#10;                    &lt;FAIcon name='shield' style={{ fill: '#F287B7', width: 20, height: 20 }} /&gt;&#10;                    &lt;Text style={{ fontSize: 20, fontWeight: 'bold', color: '#202259' }}&gt;在哪校验&lt;/Text&gt;&#10;                &lt;/Box&gt;&#10;                &lt;Box style={{ flex: 1, flexDirection: 'column', gap: 9 }}&gt;&#10;                    {[&#10;                        { k: 'login.html', v: '登录时校验会员 ID 格式，不合法直接提示' },&#10;                        { k: 'account.html', v: '账户页输入框限长 10 位并按同规则判断' },&#10;                        { k: 'website.js', v: '捕获 ?ref= 推荐参数时，只接受合规的会员 ID' },&#10;                    ].map(function (it, i) {&#10;                        return (&#10;                            &lt;Box key={i} style={{ flexDirection: 'row', gap: 10, alignItems: 'center', background: '#FFFFFF', borderRadius: 6, padding: '9px 12px' }}&gt;&#10;                                &lt;Text style={{ fontSize: 15, color: '#202259', fontFamily: 'Menlo, ui-monospace, monospace', width: 100 }}&gt;{it.k}&lt;/Text&gt;&#10;                                &lt;Text style={{ fontSize: 15, color: '#3F4A55', flex: 1, lineHeight: 1.35 }}&gt;{it.v}&lt;/Text&gt;&#10;                            &lt;/Box&gt;&#10;                        );&#10;                    })}&#10;                &lt;/Box&gt;&#10;                &lt;Box style={{ marginTop: 10, padding: '10px 12px', background: 'rgba(242,135,183,0.14)', borderRadius: 6 }}&gt;&#10;                    &lt;Text style={{ fontSize: 15, color: '#7A2F5C', lineHeight: 1.45 }}&gt;&#10;                        三处用的是同一条规则，格式统一，不会出现两套标准。&#10;                    &lt;/Text&gt;&#10;                &lt;/Box&gt;&#10;            &lt;/Box&gt;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16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02259"/>
                </a:solidFill>
                <a:latin typeface="Inter"/>
                <a:ea typeface="Inter"/>
              </a:rPr>
              <a:t>Member ID</a:t>
            </a: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：</a:t>
            </a:r>
            <a:r>
              <a:rPr lang="en-US" sz="2550" b="1">
                <a:solidFill>
                  <a:srgbClr val="202259"/>
                </a:solidFill>
                <a:latin typeface="Inter"/>
                <a:ea typeface="Inter"/>
              </a:rPr>
              <a:t>NG + 8 </a:t>
            </a: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位数字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系统生成、字段只读，校验只发生在另外三个地方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571500" y="1143000"/>
            <a:ext cx="11049000" cy="2152650"/>
          </a:xfrm>
          <a:prstGeom prst="roundRect">
            <a:avLst>
              <a:gd name="adj" fmla="val 4425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895350" y="1695450"/>
            <a:ext cx="499110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 spc="-225">
                <a:solidFill>
                  <a:srgbClr val="FFFFFF"/>
                </a:solidFill>
                <a:latin typeface="Menlo"/>
                <a:ea typeface="Menlo"/>
              </a:rPr>
              <a:t>NG12345678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6172200" y="1743075"/>
            <a:ext cx="723900" cy="238125"/>
          </a:xfrm>
          <a:prstGeom prst="roundRect">
            <a:avLst>
              <a:gd name="adj" fmla="val 16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6286500" y="1781175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Inter"/>
                <a:ea typeface="Inter"/>
              </a:rPr>
              <a:t>共</a:t>
            </a:r>
            <a:r>
              <a:rPr lang="en-US" sz="1050" b="1">
                <a:solidFill>
                  <a:srgbClr val="FFFFFF"/>
                </a:solidFill>
                <a:latin typeface="Inter"/>
                <a:ea typeface="Inter"/>
              </a:rPr>
              <a:t> 10 </a:t>
            </a:r>
            <a:r>
              <a:rPr lang="zh-CN" sz="1050" b="1">
                <a:solidFill>
                  <a:srgbClr val="FFFFFF"/>
                </a:solidFill>
                <a:latin typeface="Inter"/>
                <a:ea typeface="Inter"/>
              </a:rPr>
              <a:t>位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991350" y="1762125"/>
            <a:ext cx="1466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7FD3EC"/>
                </a:solidFill>
                <a:latin typeface="Inter"/>
                <a:ea typeface="Inter"/>
              </a:rPr>
              <a:t>NG </a:t>
            </a:r>
            <a:r>
              <a:rPr lang="zh-CN" sz="1275">
                <a:solidFill>
                  <a:srgbClr val="7FD3EC"/>
                </a:solidFill>
                <a:latin typeface="Inter"/>
                <a:ea typeface="Inter"/>
              </a:rPr>
              <a:t>前缀</a:t>
            </a:r>
            <a:r>
              <a:rPr lang="en-US" sz="1275">
                <a:solidFill>
                  <a:srgbClr val="7FD3EC"/>
                </a:solidFill>
                <a:latin typeface="Inter"/>
                <a:ea typeface="Inter"/>
              </a:rPr>
              <a:t> + 8 </a:t>
            </a:r>
            <a:r>
              <a:rPr lang="zh-CN" sz="1275">
                <a:solidFill>
                  <a:srgbClr val="7FD3EC"/>
                </a:solidFill>
                <a:latin typeface="Inter"/>
                <a:ea typeface="Inter"/>
              </a:rPr>
              <a:t>位数字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172200" y="2095500"/>
            <a:ext cx="51244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注册页一加载，脚本就生成好并填进这个输入框。它是</a:t>
            </a: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只读字段</a:t>
            </a: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，注册页本身不做任何</a:t>
            </a:r>
            <a:r>
              <a:rPr lang="en-US" sz="1275">
                <a:solidFill>
                  <a:srgbClr val="B9C6E4"/>
                </a:solidFill>
                <a:latin typeface="Inter"/>
                <a:ea typeface="Inter"/>
              </a:rPr>
              <a:t> ID </a:t>
            </a: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校验</a:t>
            </a:r>
            <a:r>
              <a:rPr lang="en-US" sz="1275">
                <a:solidFill>
                  <a:srgbClr val="B9C6E4"/>
                </a:solidFill>
                <a:latin typeface="Inter"/>
                <a:ea typeface="Inter"/>
              </a:rPr>
              <a:t> —— </a:t>
            </a: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校验发生在登录页、账户页和推荐链接三处。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571500" y="3486150"/>
            <a:ext cx="5448300" cy="2800350"/>
          </a:xfrm>
          <a:prstGeom prst="roundRect">
            <a:avLst>
              <a:gd name="adj" fmla="val 3401"/>
            </a:avLst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3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2950" y="3657600"/>
            <a:ext cx="190500" cy="190500"/>
          </a:xfrm>
          <a:prstGeom prst="rect">
            <a:avLst/>
          </a:prstGeom>
          <a:ln/>
        </p:spPr>
      </p:pic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028700" y="36385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在哪生成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742950" y="3962400"/>
            <a:ext cx="5105400" cy="1628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注册页加载时调用商品目录里的生成方法，逐位取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0–9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的随机数拼出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8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位，拼上前缀返回。代码里还写了一条兜底：取不到该方法时，改用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1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8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位区间内的随机整数补足。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771525" y="5686425"/>
            <a:ext cx="5105400" cy="44767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6" name=""/>
          <p:cNvSpPr/>
          <p:nvPr/>
        </p:nvSpPr>
        <p:spPr>
          <a:xfrm rot="0" flipH="0" flipV="0">
            <a:off x="771525" y="5686425"/>
            <a:ext cx="5105400" cy="447675"/>
          </a:xfrm>
          <a:custGeom>
            <a:pathLst>
              <a:path w="536" h="47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44"/>
                </a:lnTo>
                <a:cubicBezTo>
                  <a:pt x="3" y="45"/>
                  <a:pt x="4" y="47"/>
                  <a:pt x="5" y="47"/>
                </a:cubicBezTo>
                <a:cubicBezTo>
                  <a:pt x="2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885825" y="5781675"/>
            <a:ext cx="484822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另外，已登录但档案里缺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ID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时，系统会即时补生成一个并写回登录态。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172200" y="3486150"/>
            <a:ext cx="5448300" cy="2800350"/>
          </a:xfrm>
          <a:prstGeom prst="roundRect">
            <a:avLst>
              <a:gd name="adj" fmla="val 3401"/>
            </a:avLst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3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343650" y="3657600"/>
            <a:ext cx="190500" cy="190500"/>
          </a:xfrm>
          <a:prstGeom prst="rect">
            <a:avLst/>
          </a:prstGeom>
          <a:ln/>
        </p:spPr>
      </p:pic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629400" y="36385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在哪校验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6343650" y="3962400"/>
            <a:ext cx="5105400" cy="40957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457950" y="4086225"/>
            <a:ext cx="95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2259"/>
                </a:solidFill>
                <a:latin typeface="Menlo"/>
                <a:ea typeface="Menlo"/>
              </a:rPr>
              <a:t>login.html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7505700" y="4048125"/>
            <a:ext cx="38290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登录时校验会员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ID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格式，不合法直接提示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6343650" y="4457700"/>
            <a:ext cx="5105400" cy="40957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457950" y="4581525"/>
            <a:ext cx="95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2259"/>
                </a:solidFill>
                <a:latin typeface="Menlo"/>
                <a:ea typeface="Menlo"/>
              </a:rPr>
              <a:t>account.html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7505700" y="4543425"/>
            <a:ext cx="38290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账户页输入框限长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10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位并按同规则判断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6343650" y="4953000"/>
            <a:ext cx="5105400" cy="40957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457950" y="5076825"/>
            <a:ext cx="95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2259"/>
                </a:solidFill>
                <a:latin typeface="Menlo"/>
                <a:ea typeface="Menlo"/>
              </a:rPr>
              <a:t>website.js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7505700" y="5038725"/>
            <a:ext cx="38290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捕获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?ref=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推荐参数时，只接受合规的会员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ID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6343650" y="5686425"/>
            <a:ext cx="5105400" cy="447675"/>
          </a:xfrm>
          <a:prstGeom prst="roundRect">
            <a:avLst>
              <a:gd name="adj" fmla="val 12766"/>
            </a:avLst>
          </a:prstGeom>
          <a:solidFill>
            <a:srgbClr val="F287B7">
              <a:alpha val="14000"/>
            </a:srgbClr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6457950" y="5781675"/>
            <a:ext cx="4876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7A2F5C"/>
                </a:solidFill>
                <a:latin typeface="Inter"/>
                <a:ea typeface="Inter"/>
              </a:rPr>
              <a:t>三处用的是同一条规则，格式统一，不会出现两套标准。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16 / 25</a:t>
            </a:r>
            <a:endParaRPr/>
          </a:p>
        </p:txBody>
      </p:sp>
    </p:spTree>
  </p:cSld>
</p:sld>
</file>

<file path=ppt/slides/slide1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55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提交之后：自动登录与推荐关系&lt;/Text&gt;&#10;        &lt;Text style={{ fontSize: 16, color: '#5C646A', lineHeight: 1.4, marginTop: 6 }}&gt;&#10;            注册即登录，不需要再走一遍登录页&#10;        &lt;/Text&gt;&#10;    &lt;/Box&gt;&#10;&#10;    {/* ===== B 区 内容区（非对称双栏 58:42） ===== */}&#10;    &lt;Box style={{ height: 540, flexDirection: 'row', gap: 24 }}&gt;&#10;        {/* 左栏：写入清单 */}&#10;        &lt;Box style={{ flex: 1, flexDirection: 'column' }}&gt;&#10;            &lt;Text style={{ fontSize: 19, fontWeight: 'bold', color: '#202259', marginBottom: 12 }}&gt;&#10;                点下 Save 之后，一共动了五处&#10;            &lt;/Text&gt;&#10;            &lt;Box style={{ flex: 1, flexDirection: 'column', gap: 9 }}&gt;&#10;                {[&#10;                    { k: 'al.auth.user', t: '写入登录态', d: '整份表单数据直接写进登录记录并广播登录状态变化，页面头部立刻切成已登录样子。', c: '#202259' },&#10;                    { k: 'al.cart', t: '同步购物车', d: '先清空再逐条写入所选商品与数量，所以注册完直接进结算页就是刚选的那批货。', c: '#2AA7CF' },&#10;                    { k: 'al.orders', t: '追加一条订单', d: '生成一条状态为 completed 的订单，含商品明细、金额、BV、地址与支付方式。', c: '#2AA7CF' },&#10;                    { k: 'al.bvCredits', t: '记推荐返佣', d: '当推荐人有效且不等于本人时，往 BV 台账写一条返佣流水 —— 这是推荐关系第一次真正产生价值。', c: '#F287B7' },&#10;                    { k: 'account.html', t: '倒计时跳转', d: '按钮文字变成 Redirecting in 3s 并逐秒递减，三秒后进入我的账户页。', c: '#202259' },&#10;                ].map(function (it, i) {&#10;                    return (&#10;                        &lt;Box key={i} style={{ flex: 1, flexDirection: 'row', gap: 14, alignItems: 'center', background: '#F4F6F8', borderRadius: 8, padding: '0 16px', borderLeft: '4px solid ' + it.c }}&gt;&#10;                            &lt;Text style={{ fontSize: 15, color: it.c, fontFamily: 'Menlo, ui-monospace, monospace', width: 116 }}&gt;{it.k}&lt;/Text&gt;&#10;                            &lt;Box style={{ flex: 1, flexDirection: 'column' }}&gt;&#10;                                &lt;Text style={{ fontSize: 17, fontWeight: 'bold', color: '#202259' }}&gt;{it.t}&lt;/Text&gt;&#10;                                &lt;Text style={{ fontSize: 15, color: '#3F4A55', lineHeight: 1.4, marginTop: 2 }}&gt;{it.d}&lt;/Text&gt;&#10;                            &lt;/Box&gt;&#10;                        &lt;/Box&gt;&#10;                    );&#10;                })}&#10;            &lt;/Box&gt;&#10;        &lt;/Box&gt;&#10;&#10;        {/* 右栏：登录链 */}&#10;        &lt;Box style={{ width: 440, flexDirection: 'column', gap: 14 }}&gt;&#10;            &lt;Box style={{ background: '#202259', borderRadius: 10, padding: '20px 22px', flexDirection: 'column' }}&gt;&#10;                &lt;Text style={{ fontSize: 15, color: '#7FD3EC', letterSpacing: 2, fontWeight: 'bold' }}&gt;SIGN IN&lt;/Text&gt;&#10;                &lt;Text style={{ fontSize: 22, fontWeight: 'bold', color: '#FFFFFF', marginTop: 8, lineHeight: 1.3 }}&gt;&#10;                    登录只有一种方式：会员 ID + 密码&#10;                &lt;/Text&gt;&#10;                &lt;Box style={{ flexDirection: 'column', gap: 8, marginTop: 16 }}&gt;&#10;                    {[&#10;                        '会员 ID 非空，且符合 NG 加 8 位数字',&#10;                        '密码非空，且长度不少于 6 位',&#10;                        '不比对任何已保存的账号或密码',&#10;                        '成功后跳 ?next= 指定页，否则回首页',&#10;                    ].map(function (t, i) {&#10;                        return (&#10;                            &lt;Box key={i} style={{ flexDirection: 'row', gap: 10, alignItems: 'center' }}&gt;&#10;                                &lt;Text style={{ fontSize: 15, color: '#7FD3EC', fontFamily: 'Menlo, ui-monospace, monospace' }}&gt;{'0' + (i + 1)}&lt;/Text&gt;&#10;                                &lt;Text style={{ fontSize: 16, color: '#D6E2F5', lineHeight: 1.4, flex: 1 }}&gt;{t}&lt;/Text&gt;&#10;                            &lt;/Box&gt;&#10;                        );&#10;                    })}&#10;                &lt;/Box&gt;&#10;            &lt;/Box&gt;&#10;&#10;            &lt;Box style={{ flex: 1, background: 'rgba(242,135,183,0.14)', borderRadius: 10, padding: '16px 18px', flexDirection: 'column' }}&gt;&#10;                &lt;Box style={{ flexDirection: 'row', alignItems: 'center', gap: 9, marginBottom: 10 }}&gt;&#10;                    &lt;FAIcon name='exclamation-circle' style={{ fill: '#B3528A', width: 18, height: 18 }} /&gt;&#10;                    &lt;Text style={{ fontSize: 18, fontWeight: 'bold', color: '#7A2F5C' }}&gt;演示时要提前说明&lt;/Text&gt;&#10;                &lt;/Box&gt;&#10;                &lt;Box style={{ flexDirection: 'column', gap: 9, flex: 1 }}&gt;&#10;                    &lt;Text style={{ fontSize: 16, color: '#5C3A4D', lineHeight: 1.5 }}&gt;&#10;                        登录页只要格式对就能进，任何合规的会员 ID 加六位以上密码都算成功 —— 这是演示版的设定，没有真实鉴权。&#10;                    &lt;/Text&gt;&#10;                    &lt;Text style={{ fontSize: 16, color: '#5C3A4D', lineHeight: 1.5 }}&gt;&#10;                        页面上的 Remember me 勾选和 Forgot password 链接目前都没有接逻辑，点了不会有反应。&#10;                    &lt;/Text&gt;&#10;                &lt;/Box&gt;&#10;                &lt;Box style={{ marginTop: 12, padding: '10px 12px', background: '#FFFFFF', borderRadius: 6 }}&gt;&#10;                    &lt;Text style={{ fontSize: 15, color: '#5C646A', lineHeight: 1.45 }}&gt;&#10;                        演示账号已预填：会员 ID 为 &lt;span style={{ fontFamily: 'Menlo, ui-monospace, monospace', color: '#7A2F5C' }}&gt;NG09246375&lt;/span&gt;，密码六位。&#10;                    &lt;/Text&gt;&#10;                &lt;/Box&gt;&#10;            &lt;/Box&gt;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17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提交之后：自动登录与推荐关系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注册即登录，不需要再走一遍登录页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71500" y="1143000"/>
            <a:ext cx="6629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点下</a:t>
            </a: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 Save </a:t>
            </a: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之后，一共动了五处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609600" y="1476375"/>
            <a:ext cx="6629400" cy="942975"/>
          </a:xfrm>
          <a:prstGeom prst="roundRect">
            <a:avLst>
              <a:gd name="adj" fmla="val 808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609600" y="1476375"/>
            <a:ext cx="6629400" cy="942975"/>
          </a:xfrm>
          <a:custGeom>
            <a:pathLst>
              <a:path w="696" h="9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5"/>
                </a:lnTo>
                <a:cubicBezTo>
                  <a:pt x="4" y="97"/>
                  <a:pt x="5" y="99"/>
                  <a:pt x="7" y="99"/>
                </a:cubicBezTo>
                <a:cubicBezTo>
                  <a:pt x="3" y="99"/>
                  <a:pt x="0" y="95"/>
                  <a:pt x="0" y="9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762000" y="186690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2259"/>
                </a:solidFill>
                <a:latin typeface="Menlo"/>
                <a:ea typeface="Menlo"/>
              </a:rPr>
              <a:t>al.auth.user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2000250" y="1600200"/>
            <a:ext cx="504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写入登录态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2000250" y="1819275"/>
            <a:ext cx="50482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整份表单数据直接写进登录记录并广播登录状态变化，页面头部立刻切成已登录样子。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609600" y="2505075"/>
            <a:ext cx="6629400" cy="942975"/>
          </a:xfrm>
          <a:prstGeom prst="roundRect">
            <a:avLst>
              <a:gd name="adj" fmla="val 808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609600" y="2505075"/>
            <a:ext cx="6629400" cy="942975"/>
          </a:xfrm>
          <a:custGeom>
            <a:pathLst>
              <a:path w="696" h="9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5"/>
                </a:lnTo>
                <a:cubicBezTo>
                  <a:pt x="4" y="97"/>
                  <a:pt x="5" y="99"/>
                  <a:pt x="7" y="99"/>
                </a:cubicBezTo>
                <a:cubicBezTo>
                  <a:pt x="3" y="99"/>
                  <a:pt x="0" y="95"/>
                  <a:pt x="0" y="9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762000" y="289560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A7CF"/>
                </a:solidFill>
                <a:latin typeface="Menlo"/>
                <a:ea typeface="Menlo"/>
              </a:rPr>
              <a:t>al.cart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2000250" y="2628900"/>
            <a:ext cx="504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同步购物车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2000250" y="2847975"/>
            <a:ext cx="50482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先清空再逐条写入所选商品与数量，所以注册完直接进结算页就是刚选的那批货。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09600" y="3533775"/>
            <a:ext cx="6629400" cy="933450"/>
          </a:xfrm>
          <a:prstGeom prst="roundRect">
            <a:avLst>
              <a:gd name="adj" fmla="val 8163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609600" y="3533775"/>
            <a:ext cx="6629400" cy="933450"/>
          </a:xfrm>
          <a:custGeom>
            <a:pathLst>
              <a:path w="696" h="9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4"/>
                </a:lnTo>
                <a:cubicBezTo>
                  <a:pt x="4" y="96"/>
                  <a:pt x="5" y="98"/>
                  <a:pt x="7" y="98"/>
                </a:cubicBezTo>
                <a:cubicBezTo>
                  <a:pt x="3" y="98"/>
                  <a:pt x="0" y="94"/>
                  <a:pt x="0" y="9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62000" y="3914775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A7CF"/>
                </a:solidFill>
                <a:latin typeface="Menlo"/>
                <a:ea typeface="Menlo"/>
              </a:rPr>
              <a:t>al.orders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2000250" y="3648075"/>
            <a:ext cx="504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追加一条订单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2000250" y="3867150"/>
            <a:ext cx="50482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生成一条状态为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completed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的订单，含商品明细、金额、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BV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、地址与支付方式。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09600" y="4552950"/>
            <a:ext cx="6629400" cy="942975"/>
          </a:xfrm>
          <a:prstGeom prst="roundRect">
            <a:avLst>
              <a:gd name="adj" fmla="val 808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609600" y="4552950"/>
            <a:ext cx="6629400" cy="942975"/>
          </a:xfrm>
          <a:custGeom>
            <a:pathLst>
              <a:path w="696" h="9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5"/>
                </a:lnTo>
                <a:cubicBezTo>
                  <a:pt x="4" y="97"/>
                  <a:pt x="5" y="99"/>
                  <a:pt x="7" y="99"/>
                </a:cubicBezTo>
                <a:cubicBezTo>
                  <a:pt x="3" y="99"/>
                  <a:pt x="0" y="95"/>
                  <a:pt x="0" y="9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762000" y="4943475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287B7"/>
                </a:solidFill>
                <a:latin typeface="Menlo"/>
                <a:ea typeface="Menlo"/>
              </a:rPr>
              <a:t>al.bvCredits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2000250" y="4676775"/>
            <a:ext cx="504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记推荐返佣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2000250" y="4895850"/>
            <a:ext cx="50482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当推荐人有效且不等于本人时，往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台账写一条返佣流水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——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这是推荐关系第一次真正产生价值。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609600" y="5581650"/>
            <a:ext cx="6629400" cy="704850"/>
          </a:xfrm>
          <a:prstGeom prst="roundRect">
            <a:avLst>
              <a:gd name="adj" fmla="val 1081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81" name=""/>
          <p:cNvSpPr/>
          <p:nvPr/>
        </p:nvSpPr>
        <p:spPr>
          <a:xfrm rot="0" flipH="0" flipV="0">
            <a:off x="609600" y="5581650"/>
            <a:ext cx="6629400" cy="704850"/>
          </a:xfrm>
          <a:custGeom>
            <a:pathLst>
              <a:path w="696" h="7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0"/>
                </a:lnTo>
                <a:cubicBezTo>
                  <a:pt x="4" y="72"/>
                  <a:pt x="5" y="74"/>
                  <a:pt x="7" y="74"/>
                </a:cubicBezTo>
                <a:cubicBezTo>
                  <a:pt x="3" y="74"/>
                  <a:pt x="0" y="70"/>
                  <a:pt x="0" y="6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762000" y="584835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2259"/>
                </a:solidFill>
                <a:latin typeface="Menlo"/>
                <a:ea typeface="Menlo"/>
              </a:rPr>
              <a:t>account.html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2000250" y="5705475"/>
            <a:ext cx="504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倒计时跳转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2000250" y="5924550"/>
            <a:ext cx="5048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按钮文字变成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Redirecting in 3s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并逐秒递减，三秒后进入我的账户页。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7429500" y="1143000"/>
            <a:ext cx="4191000" cy="2371725"/>
          </a:xfrm>
          <a:prstGeom prst="roundRect">
            <a:avLst>
              <a:gd name="adj" fmla="val 4016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7639050" y="133350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SIGN IN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7639050" y="1581150"/>
            <a:ext cx="37719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FFFFFF"/>
                </a:solidFill>
                <a:latin typeface="Inter"/>
                <a:ea typeface="Inter"/>
              </a:rPr>
              <a:t>登录只有一种方式：会员</a:t>
            </a:r>
            <a:r>
              <a:rPr lang="en-US" sz="1650" b="1">
                <a:solidFill>
                  <a:srgbClr val="FFFFFF"/>
                </a:solidFill>
                <a:latin typeface="Inter"/>
                <a:ea typeface="Inter"/>
              </a:rPr>
              <a:t> ID + </a:t>
            </a:r>
            <a:r>
              <a:rPr lang="zh-CN" sz="1650" b="1">
                <a:solidFill>
                  <a:srgbClr val="FFFFFF"/>
                </a:solidFill>
                <a:latin typeface="Inter"/>
                <a:ea typeface="Inter"/>
              </a:rPr>
              <a:t>密码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639050" y="2114550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7FD3EC"/>
                </a:solidFill>
                <a:latin typeface="Menlo"/>
                <a:ea typeface="Menlo"/>
              </a:rPr>
              <a:t>01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7915275" y="2066925"/>
            <a:ext cx="349567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会员</a:t>
            </a:r>
            <a:r>
              <a:rPr lang="en-US" sz="1200">
                <a:solidFill>
                  <a:srgbClr val="D6E2F5"/>
                </a:solidFill>
                <a:latin typeface="Inter"/>
                <a:ea typeface="Inter"/>
              </a:rPr>
              <a:t> ID </a:t>
            </a: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非空，且符合</a:t>
            </a:r>
            <a:r>
              <a:rPr lang="en-US" sz="1200">
                <a:solidFill>
                  <a:srgbClr val="D6E2F5"/>
                </a:solidFill>
                <a:latin typeface="Inter"/>
                <a:ea typeface="Inter"/>
              </a:rPr>
              <a:t> NG </a:t>
            </a: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加</a:t>
            </a:r>
            <a:r>
              <a:rPr lang="en-US" sz="1200">
                <a:solidFill>
                  <a:srgbClr val="D6E2F5"/>
                </a:solidFill>
                <a:latin typeface="Inter"/>
                <a:ea typeface="Inter"/>
              </a:rPr>
              <a:t> 8 </a:t>
            </a: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位数字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7639050" y="2447925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7FD3EC"/>
                </a:solidFill>
                <a:latin typeface="Menlo"/>
                <a:ea typeface="Menlo"/>
              </a:rPr>
              <a:t>02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915275" y="2400300"/>
            <a:ext cx="349567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密码非空，且长度不少于</a:t>
            </a:r>
            <a:r>
              <a:rPr lang="en-US" sz="1200">
                <a:solidFill>
                  <a:srgbClr val="D6E2F5"/>
                </a:solidFill>
                <a:latin typeface="Inter"/>
                <a:ea typeface="Inter"/>
              </a:rPr>
              <a:t> 6 </a:t>
            </a: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位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7639050" y="2781300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7FD3EC"/>
                </a:solidFill>
                <a:latin typeface="Menlo"/>
                <a:ea typeface="Menlo"/>
              </a:rPr>
              <a:t>03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915275" y="2733675"/>
            <a:ext cx="349567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不比对任何已保存的账号或密码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7639050" y="3114675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7FD3EC"/>
                </a:solidFill>
                <a:latin typeface="Menlo"/>
                <a:ea typeface="Menlo"/>
              </a:rPr>
              <a:t>04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7915275" y="3067050"/>
            <a:ext cx="349567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成功后跳</a:t>
            </a:r>
            <a:r>
              <a:rPr lang="en-US" sz="1200">
                <a:solidFill>
                  <a:srgbClr val="D6E2F5"/>
                </a:solidFill>
                <a:latin typeface="Inter"/>
                <a:ea typeface="Inter"/>
              </a:rPr>
              <a:t> ?next= </a:t>
            </a: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指定页，否则回首页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7429500" y="3648075"/>
            <a:ext cx="4191000" cy="2638425"/>
          </a:xfrm>
          <a:prstGeom prst="roundRect">
            <a:avLst>
              <a:gd name="adj" fmla="val 3610"/>
            </a:avLst>
          </a:prstGeom>
          <a:solidFill>
            <a:srgbClr val="F287B7">
              <a:alpha val="14000"/>
            </a:srgbClr>
          </a:solidFill>
          <a:ln/>
        </p:spPr>
        <p:txBody>
          <a:bodyPr/>
          <a:p/>
        </p:txBody>
      </p:sp>
      <p:pic>
        <p:nvPicPr>
          <p:cNvPr id="3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00950" y="3819525"/>
            <a:ext cx="171450" cy="171450"/>
          </a:xfrm>
          <a:prstGeom prst="rect">
            <a:avLst/>
          </a:prstGeom>
          <a:ln/>
        </p:spPr>
      </p:pic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7858125" y="3800475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7A2F5C"/>
                </a:solidFill>
                <a:latin typeface="Inter"/>
                <a:ea typeface="Inter"/>
              </a:rPr>
              <a:t>演示时要提前说明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600950" y="4105275"/>
            <a:ext cx="38481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5C3A4D"/>
                </a:solidFill>
                <a:latin typeface="Inter"/>
                <a:ea typeface="Inter"/>
              </a:rPr>
              <a:t>登录页只要格式对就能进，任何合规的会员</a:t>
            </a:r>
            <a:r>
              <a:rPr lang="en-US" sz="1200">
                <a:solidFill>
                  <a:srgbClr val="5C3A4D"/>
                </a:solidFill>
                <a:latin typeface="Inter"/>
                <a:ea typeface="Inter"/>
              </a:rPr>
              <a:t> ID </a:t>
            </a:r>
            <a:r>
              <a:rPr lang="zh-CN" sz="1200">
                <a:solidFill>
                  <a:srgbClr val="5C3A4D"/>
                </a:solidFill>
                <a:latin typeface="Inter"/>
                <a:ea typeface="Inter"/>
              </a:rPr>
              <a:t>加六位以上密码都算成功</a:t>
            </a:r>
            <a:r>
              <a:rPr lang="en-US" sz="1200">
                <a:solidFill>
                  <a:srgbClr val="5C3A4D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5C3A4D"/>
                </a:solidFill>
                <a:latin typeface="Inter"/>
                <a:ea typeface="Inter"/>
              </a:rPr>
              <a:t>这是演示版的设定，没有真实鉴权。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7600950" y="5019675"/>
            <a:ext cx="3848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5C3A4D"/>
                </a:solidFill>
                <a:latin typeface="Inter"/>
                <a:ea typeface="Inter"/>
              </a:rPr>
              <a:t>页面上的</a:t>
            </a:r>
            <a:r>
              <a:rPr lang="en-US" sz="1200">
                <a:solidFill>
                  <a:srgbClr val="5C3A4D"/>
                </a:solidFill>
                <a:latin typeface="Inter"/>
                <a:ea typeface="Inter"/>
              </a:rPr>
              <a:t> Remember me </a:t>
            </a:r>
            <a:r>
              <a:rPr lang="zh-CN" sz="1200">
                <a:solidFill>
                  <a:srgbClr val="5C3A4D"/>
                </a:solidFill>
                <a:latin typeface="Inter"/>
                <a:ea typeface="Inter"/>
              </a:rPr>
              <a:t>勾选和</a:t>
            </a:r>
            <a:r>
              <a:rPr lang="en-US" sz="1200">
                <a:solidFill>
                  <a:srgbClr val="5C3A4D"/>
                </a:solidFill>
                <a:latin typeface="Inter"/>
                <a:ea typeface="Inter"/>
              </a:rPr>
              <a:t> Forgot password </a:t>
            </a:r>
            <a:r>
              <a:rPr lang="zh-CN" sz="1200">
                <a:solidFill>
                  <a:srgbClr val="5C3A4D"/>
                </a:solidFill>
                <a:latin typeface="Inter"/>
                <a:ea typeface="Inter"/>
              </a:rPr>
              <a:t>链接目前都没有接逻辑，点了不会有反应。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7600950" y="5686425"/>
            <a:ext cx="3848100" cy="44767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7715250" y="578167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演示账号已预填：会员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ID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为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</a:t>
            </a:r>
            <a:r>
              <a:rPr lang="en-US" sz="1125">
                <a:solidFill>
                  <a:srgbClr val="7A2F5C"/>
                </a:solidFill>
                <a:latin typeface="Inter"/>
                <a:ea typeface="Inter"/>
              </a:rPr>
              <a:t>NG09246375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，密码六位。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66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17 / 25</a:t>
            </a:r>
            <a:endParaRPr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6" name="" descr="&lt;Slide style={{ width: 1280, height: 720, position: 'relative', fontFamily: 'Inter, PingFang SC, Helvetica Neue, sans-serif', background: '#0F1034' }}&gt;&#10;    &lt;Image src='resources/images/section_account.jpg' style={{ position: 'absolute', top: 0, left: 0, width: 1280, height: 720, objectFit: 'cover' }} /&gt;&#10;    &lt;Box style={{ position: 'absolute', top: 0, left: 0, width: 1280, height: 720, background: 'linear-gradient(90deg, rgba(15,16,52,0.95) 0%, rgba(15,16,52,0.85) 46%, rgba(15,16,52,0.36) 76%, rgba(15,16,52,0.74) 100%)' }} /&gt;&#10;    &lt;Box style={{ position: 'absolute', bottom: 0, right: 0, width: 520, height: 240, background: 'linear-gradient(315deg, rgba(8,10,32,1) 0%, rgba(8,10,32,0.9) 24%, rgba(8,10,32,0) 64%)' }} /&gt;&#10;&#10;    &lt;Box style={{ position: 'relative', width: '100%', height: '100%', padding: '72px 80px', flexDirection: 'column', justifyContent: 'center' }}&gt;&#10;        &lt;Box style={{ flexDirection: 'row', alignItems: 'center', gap: 16 }}&gt;&#10;            &lt;Text style={{ fontSize: 96, fontWeight: 'bold', color: 'rgba(42,167,207,0.55)', lineHeight: 1, letterSpacing: -3 }}&gt;03&lt;/Text&gt;&#10;            &lt;Box style={{ width: 56, height: 4, background: '#2AA7CF' }} /&gt;&#10;            &lt;Text style={{ fontSize: 17, color: '#7FD3EC', letterSpacing: 3, fontWeight: 'bold' }}&gt;CHAPTER THREE&lt;/Text&gt;&#10;        &lt;/Box&gt;&#10;&#10;        &lt;Text style={{ fontSize: 64, fontWeight: 'bold', color: '#FFFFFF', lineHeight: 1.1, letterSpacing: -1, marginTop: 26 }}&gt;&#10;            我的账户与奖金后台&#10;        &lt;/Text&gt;&#10;        &lt;Text style={{ fontSize: 24, color: '#B9C6E4', lineHeight: 1.5, marginTop: 18, width: 820 }}&gt;&#10;            账户四个 Tab、奖金两个数字的计算口径、九类奖金的周期表，以及 Bonus 与 Ecoin 之间的资金闭环。&#10;        &lt;/Text&gt;&#10;&#10;        &lt;Box style={{ flexDirection: 'row', gap: 14, marginTop: 40 }}&gt;&#10;            {['账户四个 Tab', '奖金双 KPI', '九类奖金体系', '资金闭环', '五条业务线'].map(function (t, i) {&#10;                return (&#10;                    &lt;Box key={i} style={{ padding: '10px 20px', background: 'rgba(255,255,255,0.08)', border: '1px solid rgba(127,211,236,0.3)', borderRadius: 999, flexDirection: 'row', alignItems: 'center', gap: 9 }}&gt;&#10;                        &lt;Box style={{ width: 6, height: 6, borderRadius: 3, background: '#2AA7CF' }} /&gt;&#10;                        &lt;Text style={{ fontSize: 16, color: '#D6E2F5' }}&gt;{t}&lt;/Text&gt;&#10;                    &lt;/Box&gt;&#10;                );&#10;            })}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034"/>
          </a:solidFill>
          <a:ln/>
        </p:spPr>
        <p:txBody>
          <a:bodyPr/>
          <a:p/>
        </p:txBody>
      </p:sp>
      <p:pic>
        <p:nvPicPr>
          <p:cNvPr id="408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034">
                  <a:alpha val="95000"/>
                </a:srgbClr>
              </a:gs>
              <a:gs pos="46000">
                <a:srgbClr val="0F1034">
                  <a:alpha val="85000"/>
                </a:srgbClr>
              </a:gs>
              <a:gs pos="76000">
                <a:srgbClr val="0F1034">
                  <a:alpha val="36000"/>
                </a:srgbClr>
              </a:gs>
              <a:gs pos="100000">
                <a:srgbClr val="0F1034">
                  <a:alpha val="74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10" name=""/>
          <p:cNvSpPr/>
          <p:nvPr/>
        </p:nvSpPr>
        <p:spPr>
          <a:xfrm rot="0" flipH="0" flipV="0">
            <a:off x="7239000" y="4572000"/>
            <a:ext cx="4953000" cy="2286000"/>
          </a:xfrm>
          <a:prstGeom prst="rect">
            <a:avLst/>
          </a:prstGeom>
          <a:gradFill>
            <a:gsLst>
              <a:gs pos="0">
                <a:srgbClr val="080A20">
                  <a:alpha val="100000"/>
                </a:srgbClr>
              </a:gs>
              <a:gs pos="24000">
                <a:srgbClr val="080A20">
                  <a:alpha val="90000"/>
                </a:srgbClr>
              </a:gs>
              <a:gs pos="64000">
                <a:srgbClr val="080A20">
                  <a:alpha val="0"/>
                </a:srgbClr>
              </a:gs>
            </a:gsLst>
            <a:lin ang="13500000" scaled="1"/>
          </a:gra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62000" y="1466850"/>
            <a:ext cx="10477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225">
                <a:solidFill>
                  <a:srgbClr val="2AA7CF">
                    <a:alpha val="55000"/>
                  </a:srgbClr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1962150" y="2000250"/>
            <a:ext cx="533400" cy="38100"/>
          </a:xfrm>
          <a:prstGeom prst="rect">
            <a:avLst/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2647950" y="1924050"/>
            <a:ext cx="1743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225">
                <a:solidFill>
                  <a:srgbClr val="7FD3EC"/>
                </a:solidFill>
                <a:latin typeface="Inter"/>
                <a:ea typeface="Inter"/>
              </a:rPr>
              <a:t>CHAPTER THREE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762000" y="2819400"/>
            <a:ext cx="1066800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 spc="-75">
                <a:solidFill>
                  <a:srgbClr val="FFFFFF"/>
                </a:solidFill>
                <a:latin typeface="Inter"/>
                <a:ea typeface="Inter"/>
              </a:rPr>
              <a:t>我的账户与奖金后台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762000" y="3800475"/>
            <a:ext cx="7810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800">
                <a:solidFill>
                  <a:srgbClr val="B9C6E4"/>
                </a:solidFill>
                <a:latin typeface="Inter"/>
                <a:ea typeface="Inter"/>
              </a:rPr>
              <a:t>账户四个</a:t>
            </a:r>
            <a:r>
              <a:rPr lang="en-US" sz="1800">
                <a:solidFill>
                  <a:srgbClr val="B9C6E4"/>
                </a:solidFill>
                <a:latin typeface="Inter"/>
                <a:ea typeface="Inter"/>
              </a:rPr>
              <a:t> Tab</a:t>
            </a:r>
            <a:r>
              <a:rPr lang="zh-CN" sz="1800">
                <a:solidFill>
                  <a:srgbClr val="B9C6E4"/>
                </a:solidFill>
                <a:latin typeface="Inter"/>
                <a:ea typeface="Inter"/>
              </a:rPr>
              <a:t>、奖金两个数字的计算口径、九类奖金的周期表，以及</a:t>
            </a:r>
            <a:r>
              <a:rPr lang="en-US" sz="1800">
                <a:solidFill>
                  <a:srgbClr val="B9C6E4"/>
                </a:solidFill>
                <a:latin typeface="Inter"/>
                <a:ea typeface="Inter"/>
              </a:rPr>
              <a:t> Bonus </a:t>
            </a:r>
            <a:r>
              <a:rPr lang="zh-CN" sz="1800">
                <a:solidFill>
                  <a:srgbClr val="B9C6E4"/>
                </a:solidFill>
                <a:latin typeface="Inter"/>
                <a:ea typeface="Inter"/>
              </a:rPr>
              <a:t>与</a:t>
            </a:r>
            <a:r>
              <a:rPr lang="en-US" sz="1800">
                <a:solidFill>
                  <a:srgbClr val="B9C6E4"/>
                </a:solidFill>
                <a:latin typeface="Inter"/>
                <a:ea typeface="Inter"/>
              </a:rPr>
              <a:t> Ecoin </a:t>
            </a:r>
            <a:r>
              <a:rPr lang="zh-CN" sz="1800">
                <a:solidFill>
                  <a:srgbClr val="B9C6E4"/>
                </a:solidFill>
                <a:latin typeface="Inter"/>
                <a:ea typeface="Inter"/>
              </a:rPr>
              <a:t>之间的资金闭环。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762000" y="5010150"/>
            <a:ext cx="145732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7" name=""/>
          <p:cNvSpPr/>
          <p:nvPr/>
        </p:nvSpPr>
        <p:spPr>
          <a:xfrm rot="0" flipH="0" flipV="0">
            <a:off x="952500" y="5172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095375" y="5105400"/>
            <a:ext cx="93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账户四个</a:t>
            </a:r>
            <a:r>
              <a:rPr lang="en-US" sz="1200">
                <a:solidFill>
                  <a:srgbClr val="D6E2F5"/>
                </a:solidFill>
                <a:latin typeface="Inter"/>
                <a:ea typeface="Inter"/>
              </a:rPr>
              <a:t> Tab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2352675" y="5010150"/>
            <a:ext cx="1276350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0" name=""/>
          <p:cNvSpPr/>
          <p:nvPr/>
        </p:nvSpPr>
        <p:spPr>
          <a:xfrm rot="0" flipH="0" flipV="0">
            <a:off x="2543175" y="5172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2686050" y="5105400"/>
            <a:ext cx="752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奖金双</a:t>
            </a:r>
            <a:r>
              <a:rPr lang="en-US" sz="1200">
                <a:solidFill>
                  <a:srgbClr val="D6E2F5"/>
                </a:solidFill>
                <a:latin typeface="Inter"/>
                <a:ea typeface="Inter"/>
              </a:rPr>
              <a:t> KPI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3762375" y="5010150"/>
            <a:ext cx="14382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3" name=""/>
          <p:cNvSpPr/>
          <p:nvPr/>
        </p:nvSpPr>
        <p:spPr>
          <a:xfrm rot="0" flipH="0" flipV="0">
            <a:off x="3952875" y="5172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4095750" y="51054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九类奖金体系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5334000" y="5010150"/>
            <a:ext cx="11334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6" name=""/>
          <p:cNvSpPr/>
          <p:nvPr/>
        </p:nvSpPr>
        <p:spPr>
          <a:xfrm rot="0" flipH="0" flipV="0">
            <a:off x="5524500" y="5172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5667375" y="51054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资金闭环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6600825" y="5010150"/>
            <a:ext cx="12858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9" name=""/>
          <p:cNvSpPr/>
          <p:nvPr/>
        </p:nvSpPr>
        <p:spPr>
          <a:xfrm rot="0" flipH="0" flipV="0">
            <a:off x="6791325" y="5172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6934200" y="51054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五条业务线</a:t>
            </a:r>
            <a:endParaRPr/>
          </a:p>
        </p:txBody>
      </p:sp>
    </p:spTree>
  </p:cSld>
</p:sld>
</file>

<file path=ppt/slides/slide1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31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我的账户：四个 Tab&lt;/Text&gt;&#10;        &lt;Text style={{ fontSize: 16, color: '#5C646A', lineHeight: 1.4, marginTop: 6 }}&gt;&#10;            顶部固定显示会员 ID，右侧 Sign out；四个 Tab 各有明确分工&#10;        &lt;/Text&gt;&#10;    &lt;/Box&gt;&#10;&#10;    {/* ===== B 区 内容区（N 卡片横排 · 4 卡） ===== */}&#10;    &lt;Box style={{ height: 540, flexDirection: 'row', gap: 16 }}&gt;&#10;        {[&#10;            {&#10;                icon: 'chart-pie',&#10;                t: 'Overview',&#10;                cn: '总览',&#10;                hot: true,&#10;                rows: [&#10;                    '两张 KPI 卡：Member Bonus 与 Member Ecoin，各带明细展开与 View History',&#10;                    '九宫格功能入口：复购、欢迎包、代客复购、自动维护、会员升级、往期奖金、团队查询、历史累计奖金、充值与转账',&#10;                    '快捷操作：浏览商品与联系客服',&#10;                    '推荐链接区：复制分享链接，并列出推荐产生的 BV 与订单数',&#10;                ],&#10;            },&#10;            {&#10;                icon: 'file-text',&#10;                t: 'Orders',&#10;                cn: '订单',&#10;                hot: false,&#10;                rows: [&#10;                    '分两段：My orders（我自己的单）与 Member orders（我替别人下的单），各带数量角标',&#10;                    '分桶依据是订单上的权益归属人与实际操作账号是否一致',&#10;                    '订单表列出商品编码、名称、数量、单价、总价、总 BV、税率与税额',&#10;                    '单卡片头部给订单号链接、类型徽标、支付状态与 Download 导出',&#10;                ],&#10;            },&#10;            {&#10;                icon: 'user-cog',&#10;                t: 'Profile',&#10;                cn: '资料',&#10;                hot: false,&#10;                rows: [&#10;                    '六张卡片：基础信息、个人信息、登录密码、支付密码、收货地址、通知偏好',&#10;                    '基础信息行展示系统时间、结算周期、会员等级、最高荣誉等级与精英等级',&#10;                    '个人信息里的 Member ID 锁定不可改，编辑态也只放开姓名、国家、邮箱与电话',&#10;                    '通知偏好有三个开关：邮件、短信与 WhatsApp',&#10;                ],&#10;            },&#10;            {&#10;                icon: 'sitemap',&#10;                t: 'Sponsor Network',&#10;                cn: '推荐网络',&#10;                hot: false,&#10;                rows: [&#10;                    '两种模式：Sponsor Network 与 Sponsor Network Ex',&#10;                    '查询条件：顶层会员（会员 ID / 姓名 / PCV）与展开深度',&#10;                    '树节点展示编码、姓名、等级、历史最高等级与个人业绩',&#10;                    '默认展开五层，可查询到下级网络结构',&#10;                ],&#10;            },&#10;        ].map(function (it, i) {&#10;            return (&#10;                &lt;Box key={i} style={{ flex: 1, background: it.hot ? 'rgba(42,167,207,0.10)' : '#F4F6F8', border: it.hot ? '2px solid #2AA7CF' : '1px solid #E3E6E8', borderRadius: 10, padding: '20px 18px', flexDirection: 'column' }}&gt;&#10;                    &lt;Box style={{ width: 46, height: 46, borderRadius: 12, background: it.hot ? '#2AA7CF' : '#FFFFFF', justifyContent: 'center', alignItems: 'center', marginBottom: 14 }}&gt;&#10;                        &lt;FAIcon name={it.icon} style={{ fill: it.hot ? '#FFFFFF' : '#202259', width: 22, height: 22 }} /&gt;&#10;                    &lt;/Box&gt;&#10;                    &lt;Text style={{ fontSize: 21, fontWeight: 'bold', color: '#202259', lineHeight: 1.25 }}&gt;{it.t}&lt;/Text&gt;&#10;                    &lt;Text style={{ fontSize: 15, color: '#2AA7CF', letterSpacing: 1.4, marginTop: 4, marginBottom: 12 }}&gt;{it.cn}&lt;/Text&gt;&#10;                    &lt;Box style={{ flex: 1, flexDirection: 'column', gap: 9 }}&gt;&#10;                        {it.rows.map(function (r, j) {&#10;                            return (&#10;                                &lt;Box key={j} style={{ flexDirection: 'row', gap: 8, alignItems: 'flex-start' }}&gt;&#10;                                    &lt;Box style={{ width: 5, height: 5, borderRadius: 3, background: '#859EB3', marginTop: 7 }} /&gt;&#10;                                    &lt;Text style={{ fontSize: 16, color: '#3F4A55', lineHeight: 1.45, flex: 1 }}&gt;{r}&lt;/Text&gt;&#10;                                &lt;/Box&gt;&#10;                            );&#10;                        })}&#10;                    &lt;/Box&gt;&#10;                    &lt;Box style={{ marginTop: 'auto', paddingTop: 12, borderTop: '1px solid ' + (it.hot ? 'rgba(42,167,207,0.4)' : '#E3E6E8') }}&gt;&#10;                        &lt;Text style={{ fontSize: 14, color: '#5C646A', fontFamily: 'Menlo, ui-monospace, monospace' }}&gt;&#10;                            {'#' + it.t.toLowerCase().replace(' ', '-')}&#10;                        &lt;/Text&gt;&#10;                    &lt;/Box&gt;&#10;                &lt;/Box&gt;&#10;            );&#10;        })}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19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我的账户：四个</a:t>
            </a:r>
            <a:r>
              <a:rPr lang="en-US" sz="2550" b="1">
                <a:solidFill>
                  <a:srgbClr val="202259"/>
                </a:solidFill>
                <a:latin typeface="Inter"/>
                <a:ea typeface="Inter"/>
              </a:rPr>
              <a:t> Tab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顶部固定显示会员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ID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，右侧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Sign out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；四个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Tab 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各有明确分工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571500" y="1143000"/>
            <a:ext cx="2647950" cy="5143500"/>
          </a:xfrm>
          <a:prstGeom prst="roundRect">
            <a:avLst>
              <a:gd name="adj" fmla="val 3597"/>
            </a:avLst>
          </a:prstGeom>
          <a:solidFill>
            <a:srgbClr val="2AA7CF">
              <a:alpha val="10000"/>
            </a:srgbClr>
          </a:solidFill>
          <a:ln w="25400">
            <a:solidFill>
              <a:srgbClr val="2AA7CF"/>
            </a:solidFill>
            <a:prstDash val="solid"/>
          </a:ln>
        </p:spPr>
        <p:txBody>
          <a:bodyPr/>
          <a:p/>
        </p:txBody>
      </p:sp>
      <p:sp>
        <p:nvSpPr>
          <p:cNvPr id="436" name=""/>
          <p:cNvSpPr/>
          <p:nvPr/>
        </p:nvSpPr>
        <p:spPr>
          <a:xfrm rot="0" flipH="0" flipV="0">
            <a:off x="742950" y="13335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AA7CF"/>
          </a:solidFill>
          <a:ln/>
        </p:spPr>
        <p:txBody>
          <a:bodyPr/>
          <a:p/>
        </p:txBody>
      </p:sp>
      <p:pic>
        <p:nvPicPr>
          <p:cNvPr id="4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447800"/>
            <a:ext cx="209550" cy="209550"/>
          </a:xfrm>
          <a:prstGeom prst="rect">
            <a:avLst/>
          </a:prstGeom>
          <a:ln/>
        </p:spPr>
      </p:pic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742950" y="1905000"/>
            <a:ext cx="2305050" cy="3048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02259"/>
                </a:solidFill>
                <a:latin typeface="Inter"/>
                <a:ea typeface="Inter"/>
              </a:rPr>
              <a:t>Overview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742950" y="2247900"/>
            <a:ext cx="230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05">
                <a:solidFill>
                  <a:srgbClr val="2AA7CF"/>
                </a:solidFill>
                <a:latin typeface="Inter"/>
                <a:ea typeface="Inter"/>
              </a:rPr>
              <a:t>总览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742950" y="26003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859EB3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866775" y="2533650"/>
            <a:ext cx="218122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两张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KPI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卡：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Member Bonus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与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Member Ecoin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，各带明细展开与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View History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742950" y="34861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859EB3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66775" y="3419475"/>
            <a:ext cx="2181225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九宫格功能入口：复购、欢迎包、代客复购、自动维护、会员升级、往期奖金、团队查询、历史累计奖金、充值与转账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742950" y="46386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859EB3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66775" y="4572000"/>
            <a:ext cx="21812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快捷操作：浏览商品与联系客服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742950" y="49911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859EB3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866775" y="4924425"/>
            <a:ext cx="21812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推荐链接区：复制分享链接，并列出推荐产生的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与订单数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742950" y="5810250"/>
            <a:ext cx="2305050" cy="295275"/>
          </a:xfrm>
          <a:custGeom>
            <a:pathLst>
              <a:path w="242" h="31">
                <a:moveTo>
                  <a:pt x="0" y="0"/>
                </a:moveTo>
                <a:lnTo>
                  <a:pt x="242" y="0"/>
                </a:lnTo>
                <a:lnTo>
                  <a:pt x="242" y="1"/>
                </a:lnTo>
                <a:lnTo>
                  <a:pt x="0" y="1"/>
                </a:lnTo>
                <a:close/>
              </a:path>
            </a:pathLst>
          </a:custGeom>
          <a:solidFill>
            <a:srgbClr val="2AA7CF">
              <a:alpha val="40000"/>
            </a:srgbClr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742950" y="5934075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46A"/>
                </a:solidFill>
                <a:latin typeface="Menlo"/>
                <a:ea typeface="Menlo"/>
              </a:rPr>
              <a:t>#overview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3371850" y="1143000"/>
            <a:ext cx="2647950" cy="5143500"/>
          </a:xfrm>
          <a:prstGeom prst="roundRect">
            <a:avLst>
              <a:gd name="adj" fmla="val 3597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451" name=""/>
          <p:cNvSpPr/>
          <p:nvPr/>
        </p:nvSpPr>
        <p:spPr>
          <a:xfrm rot="0" flipH="0" flipV="0">
            <a:off x="3543300" y="13335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657600" y="1447800"/>
            <a:ext cx="209550" cy="209550"/>
          </a:xfrm>
          <a:prstGeom prst="rect">
            <a:avLst/>
          </a:prstGeom>
          <a:ln/>
        </p:spPr>
      </p:pic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3543300" y="1905000"/>
            <a:ext cx="2305050" cy="3048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02259"/>
                </a:solidFill>
                <a:latin typeface="Inter"/>
                <a:ea typeface="Inter"/>
              </a:rPr>
              <a:t>Orders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3543300" y="2247900"/>
            <a:ext cx="230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05">
                <a:solidFill>
                  <a:srgbClr val="2AA7CF"/>
                </a:solidFill>
                <a:latin typeface="Inter"/>
                <a:ea typeface="Inter"/>
              </a:rPr>
              <a:t>订单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3543300" y="26003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859EB3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3667125" y="2533650"/>
            <a:ext cx="218122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分两段：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My orders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（我自己的单）与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Member orders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（我替别人下的单），各带数量角标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3543300" y="34861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859EB3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3667125" y="3419475"/>
            <a:ext cx="21812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分桶依据是订单上的权益归属人与实际操作账号是否一致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3543300" y="41052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859EB3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3667125" y="4038600"/>
            <a:ext cx="218122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订单表列出商品编码、名称、数量、单价、总价、总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、税率与税额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3543300" y="49911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859EB3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3667125" y="4924425"/>
            <a:ext cx="218122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单卡片头部给订单号链接、类型徽标、支付状态与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Download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导出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3543300" y="5810250"/>
            <a:ext cx="2305050" cy="295275"/>
          </a:xfrm>
          <a:custGeom>
            <a:pathLst>
              <a:path w="242" h="31">
                <a:moveTo>
                  <a:pt x="0" y="0"/>
                </a:moveTo>
                <a:lnTo>
                  <a:pt x="242" y="0"/>
                </a:lnTo>
                <a:lnTo>
                  <a:pt x="242" y="1"/>
                </a:lnTo>
                <a:lnTo>
                  <a:pt x="0" y="1"/>
                </a:lnTo>
                <a:close/>
              </a:path>
            </a:pathLst>
          </a:custGeom>
          <a:solidFill>
            <a:srgbClr val="E3E6E8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3543300" y="5934075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46A"/>
                </a:solidFill>
                <a:latin typeface="Menlo"/>
                <a:ea typeface="Menlo"/>
              </a:rPr>
              <a:t>#orders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6172200" y="1143000"/>
            <a:ext cx="2647950" cy="5143500"/>
          </a:xfrm>
          <a:prstGeom prst="roundRect">
            <a:avLst>
              <a:gd name="adj" fmla="val 3597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466" name=""/>
          <p:cNvSpPr/>
          <p:nvPr/>
        </p:nvSpPr>
        <p:spPr>
          <a:xfrm rot="0" flipH="0" flipV="0">
            <a:off x="6343650" y="13335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57950" y="1447800"/>
            <a:ext cx="209550" cy="209550"/>
          </a:xfrm>
          <a:prstGeom prst="rect">
            <a:avLst/>
          </a:prstGeom>
          <a:ln/>
        </p:spPr>
      </p:pic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6343650" y="1905000"/>
            <a:ext cx="2305050" cy="3048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02259"/>
                </a:solidFill>
                <a:latin typeface="Inter"/>
                <a:ea typeface="Inter"/>
              </a:rPr>
              <a:t>Profile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343650" y="2247900"/>
            <a:ext cx="230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05">
                <a:solidFill>
                  <a:srgbClr val="2AA7CF"/>
                </a:solidFill>
                <a:latin typeface="Inter"/>
                <a:ea typeface="Inter"/>
              </a:rPr>
              <a:t>资料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6343650" y="26003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859EB3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467475" y="2533650"/>
            <a:ext cx="218122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六张卡片：基础信息、个人信息、登录密码、支付密码、收货地址、通知偏好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6343650" y="34861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859EB3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6467475" y="3419475"/>
            <a:ext cx="218122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基础信息行展示系统时间、结算周期、会员等级、最高荣誉等级与精英等级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6343650" y="43719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859EB3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6467475" y="4305300"/>
            <a:ext cx="218122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个人信息里的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Member ID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锁定不可改，编辑态也只放开姓名、国家、邮箱与电话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6343650" y="5257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859EB3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467475" y="5191125"/>
            <a:ext cx="21812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通知偏好有三个开关：邮件、短信与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WhatsApp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343650" y="5810250"/>
            <a:ext cx="2305050" cy="295275"/>
          </a:xfrm>
          <a:custGeom>
            <a:pathLst>
              <a:path w="242" h="31">
                <a:moveTo>
                  <a:pt x="0" y="0"/>
                </a:moveTo>
                <a:lnTo>
                  <a:pt x="242" y="0"/>
                </a:lnTo>
                <a:lnTo>
                  <a:pt x="242" y="1"/>
                </a:lnTo>
                <a:lnTo>
                  <a:pt x="0" y="1"/>
                </a:lnTo>
                <a:close/>
              </a:path>
            </a:pathLst>
          </a:custGeom>
          <a:solidFill>
            <a:srgbClr val="E3E6E8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343650" y="5934075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46A"/>
                </a:solidFill>
                <a:latin typeface="Menlo"/>
                <a:ea typeface="Menlo"/>
              </a:rPr>
              <a:t>#profile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8972550" y="1143000"/>
            <a:ext cx="2647950" cy="5143500"/>
          </a:xfrm>
          <a:prstGeom prst="roundRect">
            <a:avLst>
              <a:gd name="adj" fmla="val 3597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481" name=""/>
          <p:cNvSpPr/>
          <p:nvPr/>
        </p:nvSpPr>
        <p:spPr>
          <a:xfrm rot="0" flipH="0" flipV="0">
            <a:off x="9144000" y="13335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258300" y="1447800"/>
            <a:ext cx="209550" cy="209550"/>
          </a:xfrm>
          <a:prstGeom prst="rect">
            <a:avLst/>
          </a:prstGeom>
          <a:ln/>
        </p:spPr>
      </p:pic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9144000" y="1905000"/>
            <a:ext cx="2305050" cy="3048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02259"/>
                </a:solidFill>
                <a:latin typeface="Inter"/>
                <a:ea typeface="Inter"/>
              </a:rPr>
              <a:t>Sponsor Network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9144000" y="2247900"/>
            <a:ext cx="230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05">
                <a:solidFill>
                  <a:srgbClr val="2AA7CF"/>
                </a:solidFill>
                <a:latin typeface="Inter"/>
                <a:ea typeface="Inter"/>
              </a:rPr>
              <a:t>推荐网络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9144000" y="26003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859EB3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9267825" y="2533650"/>
            <a:ext cx="21812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两种模式：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Sponsor Network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与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Sponsor Network Ex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9144000" y="32194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859EB3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9267825" y="3152775"/>
            <a:ext cx="21812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查询条件：顶层会员（会员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ID /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姓名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/ PCV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）与展开深度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9144000" y="38385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859EB3"/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9267825" y="3771900"/>
            <a:ext cx="21812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树节点展示编码、姓名、等级、历史最高等级与个人业绩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9144000" y="44577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859EB3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9267825" y="4391025"/>
            <a:ext cx="21812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默认展开五层，可查询到下级网络结构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9144000" y="5810250"/>
            <a:ext cx="2305050" cy="295275"/>
          </a:xfrm>
          <a:custGeom>
            <a:pathLst>
              <a:path w="242" h="31">
                <a:moveTo>
                  <a:pt x="0" y="0"/>
                </a:moveTo>
                <a:lnTo>
                  <a:pt x="242" y="0"/>
                </a:lnTo>
                <a:lnTo>
                  <a:pt x="242" y="1"/>
                </a:lnTo>
                <a:lnTo>
                  <a:pt x="0" y="1"/>
                </a:lnTo>
                <a:close/>
              </a:path>
            </a:pathLst>
          </a:custGeom>
          <a:solidFill>
            <a:srgbClr val="E3E6E8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9144000" y="5934075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46A"/>
                </a:solidFill>
                <a:latin typeface="Menlo"/>
                <a:ea typeface="Menlo"/>
              </a:rPr>
              <a:t>#sponsor-network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19 / 25</a:t>
            </a:r>
            <a:endParaRPr/>
          </a:p>
        </p:txBody>
      </p:sp>
    </p:spTree>
  </p:cSld>
</p:sld>
</file>

<file path=ppt/slides/slide2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44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奖金看板：两个数字怎么算出来&lt;/Text&gt;&#10;        &lt;Text style={{ fontSize: 16, color: '#5C646A', lineHeight: 1.4, marginTop: 6 }}&gt;&#10;            总览页最显眼的两张 KPI 卡，口径分别是这样的&#10;        &lt;/Text&gt;&#10;    &lt;/Box&gt;&#10;&#10;    {/* ===== B 区 内容区（巨型数字 + 洞察） ===== */}&#10;    &lt;Box style={{ height: 540, flexDirection: 'column', gap: 20 }}&gt;&#10;        {/* 双 KPI */}&#10;        &lt;Box style={{ height: 218, flexDirection: 'row', gap: 20 }}&gt;&#10;            &lt;Box style={{ flex: 1, background: '#202259', borderRadius: 10, padding: '24px 28px', flexDirection: 'column' }}&gt;&#10;                &lt;Box style={{ flexDirection: 'row', alignItems: 'center', justifyContent: 'space-between' }}&gt;&#10;                    &lt;Text style={{ fontSize: 15, color: '#7FD3EC', letterSpacing: 2, fontWeight: 'bold' }}&gt;MEMBER BONUS&lt;/Text&gt;&#10;                    &lt;Text style={{ fontSize: 15, color: '#859EB3', fontFamily: 'Menlo, ui-monospace, monospace' }}&gt;al.bvCredits + al.orders&lt;/Text&gt;&#10;                &lt;/Box&gt;&#10;                &lt;Box style={{ flexDirection: 'row', alignItems: 'baseline', gap: 10, marginTop: 12 }}&gt;&#10;                    &lt;Text style={{ fontSize: 88, fontWeight: 'bold', color: '#FFFFFF', lineHeight: 1, letterSpacing: -3, fontFamily: 'Menlo, ui-monospace, monospace' }}&gt;312&lt;/Text&gt;&#10;                    &lt;Text style={{ fontSize: 26, color: '#7FD3EC', fontWeight: 'bold' }}&gt;BV&lt;/Text&gt;&#10;                &lt;/Box&gt;&#10;                &lt;Text style={{ fontSize: 17, color: '#B9C6E4', marginTop: 'auto' }}&gt;&#10;                    Earned 312 from your orders · 0 from referrals&#10;                &lt;/Text&gt;&#10;            &lt;/Box&gt;&#10;&#10;            &lt;Box style={{ flex: 1, background: '#F4F6F8', border: '2px solid #F287B7', borderRadius: 10, padding: '24px 28px', flexDirection: 'column' }}&gt;&#10;                &lt;Box style={{ flexDirection: 'row', alignItems: 'center', justifyContent: 'space-between' }}&gt;&#10;                    &lt;Text style={{ fontSize: 15, color: '#B3528A', letterSpacing: 2, fontWeight: 'bold' }}&gt;MEMBER ECOIN&lt;/Text&gt;&#10;                    &lt;Text style={{ fontSize: 15, color: '#859EB3', fontFamily: 'Menlo, ui-monospace, monospace' }}&gt;al.ecoin&lt;/Text&gt;&#10;                &lt;/Box&gt;&#10;                &lt;Box style={{ flexDirection: 'row', alignItems: 'baseline', gap: 10, marginTop: 12 }}&gt;&#10;                    &lt;Text style={{ fontSize: 88, fontWeight: 'bold', color: '#F287B7', lineHeight: 1, letterSpacing: -3, fontFamily: 'Menlo, ui-monospace, monospace' }}&gt;43&lt;/Text&gt;&#10;                    &lt;Text style={{ fontSize: 26, color: '#B3528A', fontWeight: 'bold' }}&gt;EC&lt;/Text&gt;&#10;                &lt;/Box&gt;&#10;                &lt;Text style={{ fontSize: 17, color: '#3F4A55', marginTop: 'auto' }}&gt;&#10;                    无流水时副标题显示 No ecoin yet&#10;                &lt;/Text&gt;&#10;            &lt;/Box&gt;&#10;        &lt;/Box&gt;&#10;&#10;        {/* 口径拆解 */}&#10;        &lt;Box style={{ flex: 1, flexDirection: 'row', gap: 18 }}&gt;&#10;            &lt;Box style={{ flex: 1, background: '#F4F6F8', borderRadius: 10, padding: '18px 20px', flexDirection: 'column' }}&gt;&#10;                &lt;Text style={{ fontSize: 19, fontWeight: 'bold', color: '#202259', marginBottom: 12 }}&gt;口径拆解&lt;/Text&gt;&#10;                &lt;Box style={{ flexDirection: 'column', gap: 10, flex: 1 }}&gt;&#10;                    {[&#10;                        { k: '自购 BV', d: '把自己名下所有订单的 bv 字段累加，标签是 Your orders。' },&#10;                        { k: '推荐 BV', d: '从 BV 台账里取出记在自己名下的条目累加，标签是 From referrals。' },&#10;                        { k: '合计', d: '两者相加就是卡片上的 Member Bonus 数字，展开 Breakdown 能看到这两行。' },&#10;                        { k: 'Ecoin', d: '走另一本台账，按充值、扣减逐条累计，与 BV 互不影响。' },&#10;                    ].map(function (it, i) {&#10;                        return (&#10;                            &lt;Box key={i} style={{ flex: 1, flexDirection: 'row', gap: 12, alignItems: 'center', background: '#FFFFFF', borderRadius: 8, padding: '0 14px' }}&gt;&#10;                                &lt;Text style={{ fontSize: 16, fontWeight: 'bold', color: i === 2 ? '#F287B7' : '#202259', width: 84 }}&gt;{it.k}&lt;/Text&gt;&#10;                                &lt;Text style={{ fontSize: 16, color: '#3F4A55', lineHeight: 1.4, flex: 1 }}&gt;{it.d}&lt;/Text&gt;&#10;                            &lt;/Box&gt;&#10;                        );&#10;                    })}&#10;                &lt;/Box&gt;&#10;            &lt;/Box&gt;&#10;&#10;            &lt;Box style={{ width: 400, background: 'rgba(42,167,207,0.10)', borderRadius: 10, padding: '18px 20px', flexDirection: 'column' }}&gt;&#10;                &lt;Box style={{ flexDirection: 'row', alignItems: 'center', gap: 10, marginBottom: 12 }}&gt;&#10;                    &lt;FAIcon name='lightbulb' style={{ fill: '#2AA7CF', width: 20, height: 20 }} /&gt;&#10;                    &lt;Text style={{ fontSize: 19, fontWeight: 'bold', color: '#202259' }}&gt;讲解抓手&lt;/Text&gt;&#10;                &lt;/Box&gt;&#10;                &lt;Text style={{ fontSize: 17, color: '#3F4A55', lineHeight: 1.55 }}&gt;&#10;                    讲这两个数字时，只要说清&quot;一个来自订单、一个来自台账&quot;，负责人立刻能理解为什么推荐别人下单也能涨自己的奖金。&#10;                &lt;/Text&gt;&#10;                &lt;Box style={{ marginTop: 'auto', padding: '12px 14px', background: '#FFFFFF', borderRadius: 8 }}&gt;&#10;                    &lt;Text style={{ fontSize: 16, color: '#202259', lineHeight: 1.5 }}&gt;&#10;                        两张卡右上角的 View History 会打开各自的流水明细弹窗，逐条可查、带前后余额。&#10;                    &lt;/Text&gt;&#10;                &lt;/Box&gt;&#10;            &lt;/Box&gt;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20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奖金看板：两个数字怎么算出来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总览页最显眼的两张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KPI 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卡，口径分别是这样的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571500" y="1143000"/>
            <a:ext cx="5429250" cy="2076450"/>
          </a:xfrm>
          <a:prstGeom prst="roundRect">
            <a:avLst>
              <a:gd name="adj" fmla="val 4587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38200" y="137160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MEMBER BONUS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3667125" y="1371600"/>
            <a:ext cx="2066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59EB3"/>
                </a:solidFill>
                <a:latin typeface="Menlo"/>
                <a:ea typeface="Menlo"/>
              </a:rPr>
              <a:t>al.bvCredits + al.orders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838200" y="1657350"/>
            <a:ext cx="142875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 spc="-225">
                <a:solidFill>
                  <a:srgbClr val="FFFFFF"/>
                </a:solidFill>
                <a:latin typeface="Menlo"/>
                <a:ea typeface="Menlo"/>
              </a:rPr>
              <a:t>312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2362200" y="1657350"/>
            <a:ext cx="3429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7FD3EC"/>
                </a:solidFill>
                <a:latin typeface="Inter"/>
                <a:ea typeface="Inter"/>
              </a:rPr>
              <a:t>BV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838200" y="2790825"/>
            <a:ext cx="4895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B9C6E4"/>
                </a:solidFill>
                <a:latin typeface="Inter"/>
                <a:ea typeface="Inter"/>
              </a:rPr>
              <a:t>Earned 312 from your orders · 0 from referrals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6191250" y="1143000"/>
            <a:ext cx="5429250" cy="2076450"/>
          </a:xfrm>
          <a:prstGeom prst="roundRect">
            <a:avLst>
              <a:gd name="adj" fmla="val 4587"/>
            </a:avLst>
          </a:prstGeom>
          <a:solidFill>
            <a:srgbClr val="F4F6F8"/>
          </a:solidFill>
          <a:ln w="25400">
            <a:solidFill>
              <a:srgbClr val="F287B7"/>
            </a:solidFill>
            <a:prstDash val="solid"/>
          </a:ln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457950" y="137160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B3528A"/>
                </a:solidFill>
                <a:latin typeface="Inter"/>
                <a:ea typeface="Inter"/>
              </a:rPr>
              <a:t>MEMBER ECOIN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10658475" y="1371600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59EB3"/>
                </a:solidFill>
                <a:latin typeface="Menlo"/>
                <a:ea typeface="Menlo"/>
              </a:rPr>
              <a:t>al.ecoin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457950" y="1657350"/>
            <a:ext cx="9525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 spc="-225">
                <a:solidFill>
                  <a:srgbClr val="F287B7"/>
                </a:solidFill>
                <a:latin typeface="Menlo"/>
                <a:ea typeface="Menlo"/>
              </a:rPr>
              <a:t>43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7505700" y="1657350"/>
            <a:ext cx="3429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3528A"/>
                </a:solidFill>
                <a:latin typeface="Inter"/>
                <a:ea typeface="Inter"/>
              </a:rPr>
              <a:t>EC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6457950" y="2790825"/>
            <a:ext cx="4895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无流水时副标题显示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 No ecoin yet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571500" y="3409950"/>
            <a:ext cx="7067550" cy="2876550"/>
          </a:xfrm>
          <a:prstGeom prst="roundRect">
            <a:avLst>
              <a:gd name="adj" fmla="val 331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762000" y="3581400"/>
            <a:ext cx="6686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口径拆解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762000" y="3914775"/>
            <a:ext cx="66865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895350" y="4057650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自购</a:t>
            </a: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 BV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1809750" y="4029075"/>
            <a:ext cx="5505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把自己名下所有订单的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字段累加，标签是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Your orders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762000" y="4486275"/>
            <a:ext cx="6686550" cy="48577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895350" y="4638675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推荐</a:t>
            </a: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 BV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1809750" y="4600575"/>
            <a:ext cx="5505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从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台账里取出记在自己名下的条目累加，标签是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From referrals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762000" y="5067300"/>
            <a:ext cx="66865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895350" y="5210175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287B7"/>
                </a:solidFill>
                <a:latin typeface="Inter"/>
                <a:ea typeface="Inter"/>
              </a:rPr>
              <a:t>合计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1809750" y="5181600"/>
            <a:ext cx="5505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两者相加就是卡片上的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Member Bonus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数字，展开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Breakdown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能看到这两行。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762000" y="5638800"/>
            <a:ext cx="66865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895350" y="5781675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Ecoin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1809750" y="5753100"/>
            <a:ext cx="5505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走另一本台账，按充值、扣减逐条累计，与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互不影响。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7810500" y="3409950"/>
            <a:ext cx="3810000" cy="2876550"/>
          </a:xfrm>
          <a:prstGeom prst="roundRect">
            <a:avLst>
              <a:gd name="adj" fmla="val 3311"/>
            </a:avLst>
          </a:prstGeom>
          <a:solidFill>
            <a:srgbClr val="2AA7CF">
              <a:alpha val="10000"/>
            </a:srgbClr>
          </a:solidFill>
          <a:ln/>
        </p:spPr>
        <p:txBody>
          <a:bodyPr/>
          <a:p/>
        </p:txBody>
      </p:sp>
      <p:pic>
        <p:nvPicPr>
          <p:cNvPr id="5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0" y="3600450"/>
            <a:ext cx="190500" cy="190500"/>
          </a:xfrm>
          <a:prstGeom prst="rect">
            <a:avLst/>
          </a:prstGeom>
          <a:ln/>
        </p:spPr>
      </p:pic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286750" y="35814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讲解抓手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8001000" y="3914775"/>
            <a:ext cx="34290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讲这两个数字时，只要说清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一个来自订单、一个来自台账</a:t>
            </a:r>
            <a:r>
              <a:rPr lang="en-US" sz="1275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3F4A55"/>
                </a:solidFill>
                <a:latin typeface="Inter"/>
                <a:ea typeface="Inter"/>
              </a:rPr>
              <a:t>，负责人立刻能理解为什么推荐别人下单也能涨自己的奖金。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8001000" y="5334000"/>
            <a:ext cx="34290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8134350" y="5448300"/>
            <a:ext cx="3162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202259"/>
                </a:solidFill>
                <a:latin typeface="Inter"/>
                <a:ea typeface="Inter"/>
              </a:rPr>
              <a:t>两张卡右上角的</a:t>
            </a:r>
            <a:r>
              <a:rPr lang="en-US" sz="1200">
                <a:solidFill>
                  <a:srgbClr val="202259"/>
                </a:solidFill>
                <a:latin typeface="Inter"/>
                <a:ea typeface="Inter"/>
              </a:rPr>
              <a:t> View History </a:t>
            </a:r>
            <a:r>
              <a:rPr lang="zh-CN" sz="1200">
                <a:solidFill>
                  <a:srgbClr val="202259"/>
                </a:solidFill>
                <a:latin typeface="Inter"/>
                <a:ea typeface="Inter"/>
              </a:rPr>
              <a:t>会打开各自的流水明细弹窗，逐条可查、带前后余额。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11115675" y="640080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20 / 25</a:t>
            </a:r>
            <a:endParaRPr/>
          </a:p>
        </p:txBody>
      </p:sp>
    </p:spTree>
  </p:cSld>
</p:sld>
</file>

<file path=ppt/slides/slide21.xml><?xml version="1.0" encoding="utf-8"?>
<p:sld xmlns:a16="http://schemas.microsoft.com/office/drawing/2014/main"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16 asvg">
  <p:cSld>
    <p:spTree>
      <p:nvGrpSpPr>
        <p:cNvPr id="583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奖金体系：九类 · 周期 · 累计&lt;/Text&gt;&#10;        &lt;Text style={{ fontSize: 16, color: '#5C646A', lineHeight: 1.4, marginTop: 6 }}&gt;&#10;            九类奖金名称是展示字段，周期表与累计视图都基于同一批数据&#10;        &lt;/Text&gt;&#10;    &lt;/Box&gt;&#10;&#10;    {/* ===== B 区 内容区（非对称双栏 55:45） ===== */}&#10;    &lt;Box style={{ height: 540, flexDirection: 'column', gap: 16 }}&gt;&#10;        {/* 九类奖金 */}&#10;        &lt;Box style={{ height: 186, flexDirection: 'row', gap: 20 }}&gt;&#10;            &lt;Box style={{ flex: 1, flexDirection: 'column' }}&gt;&#10;                &lt;Text style={{ fontSize: 19, fontWeight: 'bold', color: '#202259', marginBottom: 10 }}&gt;&#10;                    往期奖金弹窗里出现的全部九类&#10;                &lt;/Text&gt;&#10;                &lt;Box style={{ flexDirection: 'row', flexWrap: 'wrap', gap: 9 }}&gt;&#10;                    {['Elite Bonus', 'Pro Elite Bonus', 'Super Elite Bonus', 'Stockist Bonus', 'LeaderShip Bonus', 'Welcome Bonus', 'Car Bonus', 'Performance Bonus', 'Builder Bonus'].map(function (t, i) {&#10;                        return (&#10;                            &lt;Box key={i} style={{ padding: '8px 14px', background: i === 4 ? 'rgba(242,135,183,0.16)' : '#F4F6F8', border: '1px solid ' + (i === 4 ? '#F287B7' : '#E3E6E8'), borderRadius: 6 }}&gt;&#10;                                &lt;Text style={{ fontSize: 16, color: i === 4 ? '#7A2F5C' : '#202259', fontWeight: 'bold' }}&gt;{t}&lt;/Text&gt;&#10;                            &lt;/Box&gt;&#10;                        );&#10;                    })}&#10;                    &lt;Box style={{ padding: '8px 14px', background: '#202259', borderRadius: 6 }}&gt;&#10;                        &lt;Text style={{ fontSize: 16, color: '#FFFFFF', fontWeight: 'bold' }}&gt;Total Bonus 合计&lt;/Text&gt;&#10;                    &lt;/Box&gt;&#10;                &lt;/Box&gt;&#10;            &lt;/Box&gt;&#10;&#10;            &lt;Box style={{ width: 400, background: 'rgba(42,167,207,0.10)', borderRadius: 10, padding: '16px 18px', flexDirection: 'column' }}&gt;&#10;                &lt;Box style={{ flexDirection: 'row', alignItems: 'center', gap: 10, marginBottom: 8 }}&gt;&#10;                    &lt;FAIcon name='info-circle' style={{ fill: '#2AA7CF', width: 20, height: 20 }} /&gt;&#10;                    &lt;Text style={{ fontSize: 18, fontWeight: 'bold', color: '#202259' }}&gt;务必先说清一句&lt;/Text&gt;&#10;                &lt;/Box&gt;&#10;                &lt;Text style={{ fontSize: 16, color: '#3F4A55', lineHeight: 1.5, flex: 1 }}&gt;&#10;                    这九类名称目前是&lt;span style={{ fontWeight: 'bold', color: '#202259' }}&gt;展示型字段&lt;/span&gt;，页面上没有任何佣金比例、计算规则或晋升条件。周期数据来自演示数据，不是业务结果。&#10;                &lt;/Text&gt;&#10;                &lt;Text style={{ fontSize: 15, color: '#5C646A', lineHeight: 1.45, marginTop: 8 }}&gt;&#10;                    对外统一口径：奖金规则由注册你的经销商线下完整说明。&#10;                &lt;/Text&gt;&#10;            &lt;/Box&gt;&#10;        &lt;/Box&gt;&#10;&#10;        {/* 周期表 */}&#10;        &lt;Box style={{ flex: 1, flexDirection: 'column' }}&gt;&#10;            &lt;Box style={{ flexDirection: 'row', alignItems: 'center', justifyContent: 'space-between', marginBottom: 10 }}&gt;&#10;                &lt;Text style={{ fontSize: 19, fontWeight: 'bold', color: '#202259' }}&gt;Previous Bonus — Historical Periods · 演示数值&lt;/Text&gt;&#10;                &lt;Text style={{ fontSize: 15, color: '#5C646A' }}&gt;每行可点 View 查看该周期明细&lt;/Text&gt;&#10;            &lt;/Box&gt;&#10;            &lt;Table&#10;                style={{ width: '100%', height: 268 }}&#10;                defaultTextStyle={{ fontSize: 13, textAlign: 'center', color: '#25292C' }}&#10;                defaultCellStyle={{&#10;                    border: {&#10;                        left: { width: 1, color: '#E3E6E8' },&#10;                        right: { width: 1, color: '#E3E6E8' },&#10;                        top: { width: 1, color: '#E3E6E8' },&#10;                        bottom: { width: 1, color: '#E3E6E8' },&#10;                    },&#10;                }}&#10;                cells={[&#10;                    [&#10;                        { text: 'Pay Cycle', textStyle: { bold: true, color: '#FFFFFF', fontSize: 13 }, cellStyle: { background: { color: '#202259' } } },&#10;                        { text: 'Level', textStyle: { bold: true, color: '#FFFFFF', fontSize: 13 }, cellStyle: { background: { color: '#202259' } } },&#10;                        { text: 'Elite', textStyle: { bold: true, color: '#FFFFFF', fontSize: 13 }, cellStyle: { background: { color: '#202259' } } },&#10;                        { text: 'Pro Elite', textStyle: { bold: true, color: '#FFFFFF', fontSize: 13 }, cellStyle: { background: { color: '#202259' } } },&#10;                        { text: 'Super Elite', textStyle: { bold: true, color: '#FFFFFF', fontSize: 13 }, cellStyle: { background: { color: '#202259' } } },&#10;                        { text: 'Stockist', textStyle: { bold: true, color: '#FFFFFF', fontSize: 13 }, cellStyle: { background: { color: '#202259' } } },&#10;                        { text: 'LeaderShip', textStyle: { bold: true, color: '#FFFFFF', fontSize: 13 }, cellStyle: { background: { color: '#202259' } } },&#10;                        { text: 'Welcome', textStyle: { bold: true, color: '#FFFFFF', fontSize: 13 }, cellStyle: { background: { color: '#202259' } } },&#10;                        { text: 'Car', textStyle: { bold: true, color: '#FFFFFF', fontSize: 13 }, cellStyle: { background: { color: '#202259' } } },&#10;                        { text: 'Performance', textStyle: { bold: true, color: '#FFFFFF', fontSize: 13 }, cellStyle: { background: { color: '#202259' } } },&#10;                        { text: 'Builder', textStyle: { bold: true, color: '#FFFFFF', fontSize: 13 }, cellStyle: { background: { color: '#202259' } } },&#10;                        { text: 'Total', textStyle: { bold: true, color: '#7FD3EC', fontSize: 13 }, cellStyle: { background: { color: '#202259' } } },&#10;                    ],&#10;                    ['165', 'Gold', '0', '0', '0', '0', '0', '0', '0', '0', '0', { text: '0.00', textStyle: { bold: true, color: '#5C646A' } }],&#10;                    [&#10;                        { text: '164', cellStyle: { background: { color: '#F4F6F8' } } },&#10;                        { text: 'Silver', cellStyle: { background: { color: '#F4F6F8' } } },&#10;                        { text: '150', cellStyle: { background: { color: '#F4F6F8' } } },&#10;                        { text: '50', cellStyle: { background: { color: '#F4F6F8' } } },&#10;                        { text: '0', cellStyle: { background: { color: '#F4F6F8' } } },&#10;                        { text: '25', cellStyle: { background: { color: '#F4F6F8' } } },&#10;                        { text: '75', cellStyle: { background: { color: '#F4F6F8' } } },&#10;                        { text: '0', cellStyle: { background: { color: '#F4F6F8' } } },&#10;                        { text: '0', cellStyle: { background: { color: '#F4F6F8' } } },&#10;                        { text: '100', cellStyle: { background: { color: '#F4F6F8' } } },&#10;                        { text: '30', cellStyle: { background: { color: '#F4F6F8' } } },&#10;                        { text: '430.00', textStyle: { bold: true, color: '#202259' }, cellStyle: { background: { color: '#F4F6F8' } } },&#10;                    ],&#10;                    ['163', 'Bronze', '80', '0', '0', '10', '0', '0', '0', '45', '15', { text: '150.00', textStyle: { bold: true, color: '#202259' } }],&#10;                    [&#10;                        { text: '162', cellStyle: { background: { color: '#F4F6F8' } } },&#10;                        { text: 'Silver', cellStyle: { background: { color: '#F4F6F8' } } },&#10;                        { text: '200', cellStyle: { background: { color: '#F4F6F8' } } },&#10;                        { text: '75', cellStyle: { background: { color: '#F4F6F8' } } },&#10;                        { text: '25', cellStyle: { background: { color: '#F4F6F8' } } },&#10;                        { text: '50', cellStyle: { background: { color: '#F4F6F8' } } },&#10;                        { text: '100', cellStyle: { background: { color: '#F4F6F8' } } },&#10;                        { text: '0', cellStyle: { background: { color: '#F4F6F8' } } },&#10;                        { text: '0', cellStyle: { background: { color: '#F4F6F8' } } },&#10;                        { text: '150', cellStyle: { background: { color: '#F4F6F8' } } },&#10;                        { text: '40', cellStyle: { background: { color: '#F4F6F8' } } },&#10;                        { text: '640.00', textStyle: { bold: true, color: '#202259' }, cellStyle: { background: { color: '#F4F6F8' } } },&#10;                    ],&#10;                    ['161', 'Gold', '300', '120', '60', '80', '200', '0', '0', '250', '60', { text: '1070.00', textStyle: { bold: true, color: '#B3528A' } }],&#10;                ]}&#10;            /&gt;&#10;            &lt;Text style={{ fontSize: 15, color: '#5C646A', lineHeight: 1.45, marginTop: 10 }}&gt;&#10;                历史累计视图把各周期同类奖金相加。以演示数据为例：Elite 累计 730、LeaderShip 累计 375，Car 与 Welcome 均为 0 —— 累计视图不包含 Performance 与 Total 两项。&#10;            &lt;/Text&gt;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21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奖金体系：九类</a:t>
            </a:r>
            <a:r>
              <a:rPr lang="en-US" sz="2550" b="1">
                <a:solidFill>
                  <a:srgbClr val="202259"/>
                </a:solidFill>
                <a:latin typeface="Inter"/>
                <a:ea typeface="Inter"/>
              </a:rPr>
              <a:t> · </a:t>
            </a: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周期</a:t>
            </a:r>
            <a:r>
              <a:rPr lang="en-US" sz="2550" b="1">
                <a:solidFill>
                  <a:srgbClr val="202259"/>
                </a:solidFill>
                <a:latin typeface="Inter"/>
                <a:ea typeface="Inter"/>
              </a:rPr>
              <a:t> · </a:t>
            </a: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累计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九类奖金名称是展示字段，周期表与累计视图都基于同一批数据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571500" y="1143000"/>
            <a:ext cx="7048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往期奖金弹窗里出现的全部九类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571500" y="1457325"/>
            <a:ext cx="1095375" cy="34290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704850" y="1533525"/>
            <a:ext cx="828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Elite Bonus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1752600" y="1457325"/>
            <a:ext cx="1390650" cy="34290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1885950" y="1533525"/>
            <a:ext cx="112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Pro Elite Bonus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3228975" y="1457325"/>
            <a:ext cx="1571625" cy="34290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3362325" y="1533525"/>
            <a:ext cx="1304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Super Elite Bonus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4886325" y="1457325"/>
            <a:ext cx="1371600" cy="34290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5019675" y="1533525"/>
            <a:ext cx="110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Stockist Bonus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571500" y="1885950"/>
            <a:ext cx="1600200" cy="342900"/>
          </a:xfrm>
          <a:prstGeom prst="roundRect">
            <a:avLst>
              <a:gd name="adj" fmla="val 16667"/>
            </a:avLst>
          </a:prstGeom>
          <a:solidFill>
            <a:srgbClr val="F287B7">
              <a:alpha val="16000"/>
            </a:srgbClr>
          </a:solidFill>
          <a:ln w="12700">
            <a:solidFill>
              <a:srgbClr val="F287B7"/>
            </a:solidFill>
            <a:prstDash val="solid"/>
          </a:ln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704850" y="1962150"/>
            <a:ext cx="133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7A2F5C"/>
                </a:solidFill>
                <a:latin typeface="Inter"/>
                <a:ea typeface="Inter"/>
              </a:rPr>
              <a:t>LeaderShip Bonus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2257425" y="1885950"/>
            <a:ext cx="1447800" cy="34290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2390775" y="1962150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Welcome Bonus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3790950" y="1885950"/>
            <a:ext cx="1028700" cy="34290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3924300" y="19621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Car Bonus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4905375" y="1885950"/>
            <a:ext cx="1704975" cy="34290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5038725" y="1962150"/>
            <a:ext cx="1438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Performance Bonus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571500" y="2314575"/>
            <a:ext cx="1285875" cy="34290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704850" y="2390775"/>
            <a:ext cx="1019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Builder Bonus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1943100" y="2314575"/>
            <a:ext cx="1495425" cy="342900"/>
          </a:xfrm>
          <a:prstGeom prst="roundRect">
            <a:avLst>
              <a:gd name="adj" fmla="val 16667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2076450" y="2390775"/>
            <a:ext cx="1228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Inter"/>
                <a:ea typeface="Inter"/>
              </a:rPr>
              <a:t>Total Bonus </a:t>
            </a:r>
            <a:r>
              <a:rPr lang="zh-CN" sz="1200" b="1">
                <a:solidFill>
                  <a:srgbClr val="FFFFFF"/>
                </a:solidFill>
                <a:latin typeface="Inter"/>
                <a:ea typeface="Inter"/>
              </a:rPr>
              <a:t>合计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7810500" y="1143000"/>
            <a:ext cx="3810000" cy="2000250"/>
          </a:xfrm>
          <a:prstGeom prst="roundRect">
            <a:avLst>
              <a:gd name="adj" fmla="val 4762"/>
            </a:avLst>
          </a:prstGeom>
          <a:solidFill>
            <a:srgbClr val="2AA7CF">
              <a:alpha val="10000"/>
            </a:srgbClr>
          </a:solidFill>
          <a:ln/>
        </p:spPr>
        <p:txBody>
          <a:bodyPr/>
          <a:p/>
        </p:txBody>
      </p:sp>
      <p:pic>
        <p:nvPicPr>
          <p:cNvPr id="6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81950" y="1304925"/>
            <a:ext cx="190500" cy="190500"/>
          </a:xfrm>
          <a:prstGeom prst="rect">
            <a:avLst/>
          </a:prstGeom>
          <a:ln/>
        </p:spPr>
      </p:pic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8267700" y="129540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务必先说清一句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7981950" y="1581150"/>
            <a:ext cx="34671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这九类名称目前是</a:t>
            </a: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展示型字段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，页面上没有任何佣金比例、计算规则或晋升条件。周期数据来自演示数据，不是业务结果。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7981950" y="2486025"/>
            <a:ext cx="3467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对外统一口径：奖金规则由注册你的经销商线下完整说明。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571500" y="3067050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Previous Bonus — Historical Periods · </a:t>
            </a: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演示数值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9629775" y="3095625"/>
            <a:ext cx="1990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每行可点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View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查看该周期明细</a:t>
            </a:r>
            <a:endParaRPr/>
          </a:p>
        </p:txBody>
      </p:sp>
      <p:graphicFrame>
        <p:nvGraphicFramePr>
          <p:cNvPr id="615" name=""/>
          <p:cNvGraphicFramePr/>
          <p:nvPr/>
        </p:nvGraphicFramePr>
        <p:xfrm rot="0" flipH="0" flipV="0">
          <a:off x="571500" y="3381375"/>
          <a:ext cx="11049000" cy="2552700"/>
        </p:xfrm>
        <a:graphic>
          <a:graphicData uri="http://schemas.openxmlformats.org/drawingml/2006/table">
            <a:tbl>
              <a:tblGrid>
                <a:gridCol w="1067335">
                  <a:extLst>
                    <a:ext uri="{9D8B030D-6E8A-4147-A177-3AD203B41FA5}">
                      <a16:colId val="1"/>
                    </a:ext>
                  </a:extLst>
                </a:gridCol>
                <a:gridCol w="769196">
                  <a:extLst>
                    <a:ext uri="{9D8B030D-6E8A-4147-A177-3AD203B41FA5}">
                      <a16:colId val="2"/>
                    </a:ext>
                  </a:extLst>
                </a:gridCol>
                <a:gridCol w="560500">
                  <a:extLst>
                    <a:ext uri="{9D8B030D-6E8A-4147-A177-3AD203B41FA5}">
                      <a16:colId val="3"/>
                    </a:ext>
                  </a:extLst>
                </a:gridCol>
                <a:gridCol w="933172">
                  <a:extLst>
                    <a:ext uri="{9D8B030D-6E8A-4147-A177-3AD203B41FA5}">
                      <a16:colId val="4"/>
                    </a:ext>
                  </a:extLst>
                </a:gridCol>
                <a:gridCol w="1156776">
                  <a:extLst>
                    <a:ext uri="{9D8B030D-6E8A-4147-A177-3AD203B41FA5}">
                      <a16:colId val="5"/>
                    </a:ext>
                  </a:extLst>
                </a:gridCol>
                <a:gridCol w="903359">
                  <a:extLst>
                    <a:ext uri="{9D8B030D-6E8A-4147-A177-3AD203B41FA5}">
                      <a16:colId val="6"/>
                    </a:ext>
                  </a:extLst>
                </a:gridCol>
                <a:gridCol w="1201497">
                  <a:extLst>
                    <a:ext uri="{9D8B030D-6E8A-4147-A177-3AD203B41FA5}">
                      <a16:colId val="7"/>
                    </a:ext>
                  </a:extLst>
                </a:gridCol>
                <a:gridCol w="992800">
                  <a:extLst>
                    <a:ext uri="{9D8B030D-6E8A-4147-A177-3AD203B41FA5}">
                      <a16:colId val="8"/>
                    </a:ext>
                  </a:extLst>
                </a:gridCol>
                <a:gridCol w="471058">
                  <a:extLst>
                    <a:ext uri="{9D8B030D-6E8A-4147-A177-3AD203B41FA5}">
                      <a16:colId val="9"/>
                    </a:ext>
                  </a:extLst>
                </a:gridCol>
                <a:gridCol w="1335659">
                  <a:extLst>
                    <a:ext uri="{9D8B030D-6E8A-4147-A177-3AD203B41FA5}">
                      <a16:colId val="10"/>
                    </a:ext>
                  </a:extLst>
                </a:gridCol>
                <a:gridCol w="813917">
                  <a:extLst>
                    <a:ext uri="{9D8B030D-6E8A-4147-A177-3AD203B41FA5}">
                      <a16:colId val="11"/>
                    </a:ext>
                  </a:extLst>
                </a:gridCol>
                <a:gridCol w="843731">
                  <a:extLst>
                    <a:ext uri="{9D8B030D-6E8A-4147-A177-3AD203B41FA5}">
                      <a16:colId val="12"/>
                    </a:ext>
                  </a:extLst>
                </a:gridCol>
              </a:tblGrid>
              <a:tr h="4254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Pay Cycle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25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Level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25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Elite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25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Pro Elite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25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Super Elite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25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Stockist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25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LeaderShip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25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Welcome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25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Car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25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Performance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25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Builder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25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7FD3EC"/>
                          </a:solidFill>
                          <a:latin typeface="Microsoft YaHei"/>
                          <a:ea typeface="Microsoft YaHei"/>
                        </a:rPr>
                        <a:t>Total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259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254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165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Gold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5C646A"/>
                          </a:solidFill>
                          <a:latin typeface="Microsoft YaHei"/>
                          <a:ea typeface="Microsoft YaHei"/>
                        </a:rPr>
                        <a:t>0.00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254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164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Silver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150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50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25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75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100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30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02259"/>
                          </a:solidFill>
                          <a:latin typeface="Microsoft YaHei"/>
                          <a:ea typeface="Microsoft YaHei"/>
                        </a:rPr>
                        <a:t>430.00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254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163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Bronze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80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45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15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02259"/>
                          </a:solidFill>
                          <a:latin typeface="Microsoft YaHei"/>
                          <a:ea typeface="Microsoft YaHei"/>
                        </a:rPr>
                        <a:t>150.00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254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162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Silver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75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25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50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100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150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40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02259"/>
                          </a:solidFill>
                          <a:latin typeface="Microsoft YaHei"/>
                          <a:ea typeface="Microsoft YaHei"/>
                        </a:rPr>
                        <a:t>640.00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254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161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Gold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300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120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60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80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250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25292C"/>
                          </a:solidFill>
                          <a:latin typeface="Microsoft YaHei"/>
                          <a:ea typeface="Microsoft YaHei"/>
                        </a:rPr>
                        <a:t>60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B3528A"/>
                          </a:solidFill>
                          <a:latin typeface="Microsoft YaHei"/>
                          <a:ea typeface="Microsoft YaHei"/>
                        </a:rPr>
                        <a:t>1070.00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571500" y="6029325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历史累计视图把各周期同类奖金相加。以演示数据为例：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Elite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累计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730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、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LeaderShip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累计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375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，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Car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与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Welcome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均为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0 ——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累计视图不包含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Performance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与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Total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两项。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21 / 25</a:t>
            </a:r>
            <a:endParaRPr/>
          </a:p>
        </p:txBody>
      </p:sp>
    </p:spTree>
  </p:cSld>
</p:sld>
</file>

<file path=ppt/slides/slide2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20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资金闭环：充值 · 转账 · Ecoin&lt;/Text&gt;&#10;        &lt;Text style={{ fontSize: 16, color: '#5C646A', lineHeight: 1.4, marginTop: 6 }}&gt;&#10;            奖金与 Ecoin 是两本账，转账就是在两本账之间搬钱&#10;        &lt;/Text&gt;&#10;    &lt;/Box&gt;&#10;&#10;    {/* ===== B 区 内容区（上大图 + 下方卡片） ===== */}&#10;    &lt;Box style={{ height: 540, flexDirection: 'column', gap: 16 }}&gt;&#10;        {/* 流转图 */}&#10;        &lt;Box style={{ height: 240, background: '#F4F6F8', borderRadius: 10, padding: 14, justifyContent: 'center' }}&gt;&#10;            &lt;svg width={1132} height={212} viewBox='0 0 1132 212'&gt;&#10;                {/* 上排：充值 -&gt; Bonus -&gt; Ecoin -&gt; 订单支付 */}&#10;                &lt;rect x='0' y='26' width='190' height='64' rx='8' fill='#FFFFFF' stroke='#202259' strokeWidth='2' /&gt;&#10;                &lt;text x='95' y='52' fill='#202259' fontSize='17' fontWeight='bold' textAnchor='middle' fontFamily='Inter, PingFang SC, sans-serif'&gt;Recharge 充值&lt;/text&gt;&#10;                &lt;text x='95' y='74' fill='#5C646A' fontSize='14' textAnchor='middle' fontFamily='Inter, PingFang SC, sans-serif'&gt;现金充值入口&lt;/text&gt;&#10;&#10;                &lt;line x1='190' y1='58' x2='242' y2='58' stroke='#2AA7CF' strokeWidth='3' /&gt;&#10;                &lt;polygon points='242,50 256,58 242,66' fill='#2AA7CF' /&gt;&#10;&#10;                &lt;rect x='256' y='26' width='200' height='64' rx='8' fill='#202259' /&gt;&#10;                &lt;text x='356' y='52' fill='#FFFFFF' fontSize='17' fontWeight='bold' textAnchor='middle' fontFamily='Inter, PingFang SC, sans-serif'&gt;Member Bonus&lt;/text&gt;&#10;                &lt;text x='356' y='74' fill='#7FD3EC' fontSize='14' textAnchor='middle' fontFamily='Inter, PingFang SC, sans-serif'&gt;BV 台账&lt;/text&gt;&#10;&#10;                &lt;line x1='456' y1='58' x2='508' y2='58' stroke='#2AA7CF' strokeWidth='3' /&gt;&#10;                &lt;polygon points='508,50 522,58 508,66' fill='#2AA7CF' /&gt;&#10;                &lt;text x='466' y='46' fill='#B3528A' fontSize='13' fontWeight='bold' fontFamily='Inter, PingFang SC, sans-serif'&gt;Bonus To Ecoin&lt;/text&gt;&#10;&#10;                &lt;rect x='522' y='26' width='200' height='64' rx='8' fill='#202259' /&gt;&#10;                &lt;text x='622' y='52' fill='#FFFFFF' fontSize='17' fontWeight='bold' textAnchor='middle' fontFamily='Inter, PingFang SC, sans-serif'&gt;Member Ecoin&lt;/text&gt;&#10;                &lt;text x='622' y='74' fill='#7FD3EC' fontSize='14' textAnchor='middle' fontFamily='Inter, PingFang SC, sans-serif'&gt;EC 台账&lt;/text&gt;&#10;&#10;                &lt;line x1='722' y1='58' x2='774' y2='58' stroke='#2AA7CF' strokeWidth='3' /&gt;&#10;                &lt;polygon points='774,50 788,58 774,66' fill='#2AA7CF' /&gt;&#10;&#10;                &lt;rect x='788' y='26' width='200' height='64' rx='8' fill='#FFFFFF' stroke='#202259' strokeWidth='2' /&gt;&#10;                &lt;text x='888' y='52' fill='#202259' fontSize='17' fontWeight='bold' textAnchor='middle' fontFamily='Inter, PingFang SC, sans-serif'&gt;结算页余额支付&lt;/text&gt;&#10;                &lt;text x='888' y='74' fill='#5C646A' fontSize='14' textAnchor='middle' fontFamily='Inter, PingFang SC, sans-serif'&gt;当场扣减并置为 Paid&lt;/text&gt;&#10;&#10;                {/* 下排：Ecoin -&gt; 其他会员 */}&#10;                &lt;rect x='522' y='140' width='200' height='60' rx='8' fill='#FFFFFF' stroke='#F287B7' strokeWidth='2' /&gt;&#10;                &lt;text x='622' y='165' fill='#B3528A' fontSize='17' fontWeight='bold' textAnchor='middle' fontFamily='Inter, PingFang SC, sans-serif'&gt;其他会员的 Ecoin&lt;/text&gt;&#10;                &lt;text x='622' y='186' fill='#5C646A' fontSize='14' textAnchor='middle' fontFamily='Inter, PingFang SC, sans-serif'&gt;按会员编码定向转出&lt;/text&gt;&#10;&#10;                &lt;line x1='622' y1='90' x2='622' y2='140' stroke='#F287B7' strokeWidth='3' /&gt;&#10;                &lt;polygon points='614,140 622,154 630,140' fill='#F287B7' /&gt;&#10;                &lt;text x='636' y='118' fill='#B3528A' fontSize='13' fontWeight='bold' fontFamily='Inter, PingFang SC, sans-serif'&gt;Ecoin To Ecoin&lt;/text&gt;&#10;&#10;                {/* 流水说明 */}&#10;                &lt;text x='0' y='166' fill='#5C646A' fontSize='14' fontFamily='Inter, PingFang SC, sans-serif'&gt;每一次充值、转账都会在两本台账各自留下一条带时间、金额与备注的流水，&lt;/text&gt;&#10;                &lt;text x='0' y='188' fill='#5C646A' fontSize='14' fontFamily='Inter, PingFang SC, sans-serif'&gt;账户页的 View History 就是把这些流水按时间正序渲染成表格。&lt;/text&gt;&#10;            &lt;/svg&gt;&#10;        &lt;/Box&gt;&#10;&#10;        {/* 三张说明卡 */}&#10;        &lt;Box style={{ flex: 1, flexDirection: 'row', gap: 16 }}&gt;&#10;            {[&#10;                { icon: 'wallet', t: '充值 Recharge', d: '表单四项：充值金额（带加减步进，最小 1）、类型（目前只有 Cash）、支付日期、备注。记录列表展示创建时间、金额、状态、类型、银行、支付参考号与充值凭证，状态有 Pending 与 Approved 两种。提交后金额会同时写进 Bonus 流水。' },&#10;                { icon: 'exchange-alt', t: '转账 Transfer', d: '两种类型：Bonus To Ecoin 与 Ecoin To Ecoin。表单要填会员编码（须符合 NG 加 8 位规则）、金额与备注，界面上只读显示当前可用 Bonus 与可用 Ecoin。列表按转出账户、转入账户、收款人、金额、时间与备注展示。' },&#10;                { icon: 'balance-scale', t: '余额怎么取', d: 'Bonus To Ecoin 的可用 Bonus 取 BV 台账最后一条记录的期末余额；Ecoin To Ecoin 的可用 Ecoin 取 Ecoin 台账累计值。提交成功后同时写扣减方与增加方的流水，余额不足则拦住提交。' },&#10;            ].map(function (it, i) {&#10;                return (&#10;                    &lt;Box key={i} style={{ flex: 1, background: '#FFFFFF', border: '1px solid #E3E6E8', borderRadius: 10, padding: '16px 18px', flexDirection: 'column' }}&gt;&#10;                        &lt;Box style={{ flexDirection: 'row', alignItems: 'center', gap: 10, marginBottom: 10 }}&gt;&#10;                            &lt;FAIcon name={it.icon} style={{ fill: '#2AA7CF', width: 22, height: 22 }} /&gt;&#10;                            &lt;Text style={{ fontSize: 20, fontWeight: 'bold', color: '#202259' }}&gt;{it.t}&lt;/Text&gt;&#10;                        &lt;/Box&gt;&#10;                        &lt;Text style={{ fontSize: 16, color: '#3F4A55', lineHeight: 1.55 }}&gt;{it.d}&lt;/Text&gt;&#10;                    &lt;/Box&gt;&#10;                );&#10;            })}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22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资金闭环：充值</a:t>
            </a:r>
            <a:r>
              <a:rPr lang="en-US" sz="2550" b="1">
                <a:solidFill>
                  <a:srgbClr val="202259"/>
                </a:solidFill>
                <a:latin typeface="Inter"/>
                <a:ea typeface="Inter"/>
              </a:rPr>
              <a:t> · </a:t>
            </a: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转账</a:t>
            </a:r>
            <a:r>
              <a:rPr lang="en-US" sz="2550" b="1">
                <a:solidFill>
                  <a:srgbClr val="202259"/>
                </a:solidFill>
                <a:latin typeface="Inter"/>
                <a:ea typeface="Inter"/>
              </a:rPr>
              <a:t> · Ecoin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奖金与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Ecoin 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是两本账，转账就是在两本账之间搬钱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571500" y="1143000"/>
            <a:ext cx="11049000" cy="2286000"/>
          </a:xfrm>
          <a:prstGeom prst="roundRect">
            <a:avLst>
              <a:gd name="adj" fmla="val 4167"/>
            </a:avLst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6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4850" y="1276350"/>
            <a:ext cx="10782300" cy="2019300"/>
          </a:xfrm>
          <a:prstGeom prst="rect">
            <a:avLst/>
          </a:prstGeom>
          <a:ln/>
        </p:spPr>
      </p:pic>
      <p:sp>
        <p:nvSpPr>
          <p:cNvPr id="626" name=""/>
          <p:cNvSpPr/>
          <p:nvPr/>
        </p:nvSpPr>
        <p:spPr>
          <a:xfrm rot="0" flipH="0" flipV="0">
            <a:off x="571500" y="3581400"/>
            <a:ext cx="3581400" cy="270510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pic>
        <p:nvPicPr>
          <p:cNvPr id="6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42950" y="3743325"/>
            <a:ext cx="209550" cy="209550"/>
          </a:xfrm>
          <a:prstGeom prst="rect">
            <a:avLst/>
          </a:prstGeom>
          <a:ln/>
        </p:spPr>
      </p:pic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1047750" y="3733800"/>
            <a:ext cx="131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充值</a:t>
            </a:r>
            <a:r>
              <a:rPr lang="en-US" sz="1500" b="1">
                <a:solidFill>
                  <a:srgbClr val="202259"/>
                </a:solidFill>
                <a:latin typeface="Inter"/>
                <a:ea typeface="Inter"/>
              </a:rPr>
              <a:t> Recharge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742950" y="4057650"/>
            <a:ext cx="3238500" cy="1704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表单四项：充值金额（带加减步进，最小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1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）、类型（目前只有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Cash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）、支付日期、备注。记录列表展示创建时间、金额、状态、类型、银行、支付参考号与充值凭证，状态有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Pending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与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Approved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两种。提交后金额会同时写进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Bonus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流水。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4305300" y="3581400"/>
            <a:ext cx="3581400" cy="270510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pic>
        <p:nvPicPr>
          <p:cNvPr id="6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476750" y="3743325"/>
            <a:ext cx="209550" cy="209550"/>
          </a:xfrm>
          <a:prstGeom prst="rect">
            <a:avLst/>
          </a:prstGeom>
          <a:ln/>
        </p:spPr>
      </p:pic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4781550" y="3733800"/>
            <a:ext cx="1209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转账</a:t>
            </a:r>
            <a:r>
              <a:rPr lang="en-US" sz="1500" b="1">
                <a:solidFill>
                  <a:srgbClr val="202259"/>
                </a:solidFill>
                <a:latin typeface="Inter"/>
                <a:ea typeface="Inter"/>
              </a:rPr>
              <a:t> Transfer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4476750" y="4057650"/>
            <a:ext cx="3238500" cy="1419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两种类型：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Bonus To Ecoin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与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Ecoin To Ecoin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。表单要填会员编码（须符合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NG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加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8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位规则）、金额与备注，界面上只读显示当前可用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Bonus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与可用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Ecoin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。列表按转出账户、转入账户、收款人、金额、时间与备注展示。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8039100" y="3581400"/>
            <a:ext cx="3581400" cy="270510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pic>
        <p:nvPicPr>
          <p:cNvPr id="6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210550" y="3743325"/>
            <a:ext cx="209550" cy="209550"/>
          </a:xfrm>
          <a:prstGeom prst="rect">
            <a:avLst/>
          </a:prstGeom>
          <a:ln/>
        </p:spPr>
      </p:pic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8515350" y="373380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余额怎么取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8210550" y="4057650"/>
            <a:ext cx="3238500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Bonus To Ecoin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的可用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Bonus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取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台账最后一条记录的期末余额；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Ecoin To Ecoin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的可用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Ecoin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取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Ecoin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台账累计值。提交成功后同时写扣减方与增加方的流水，余额不足则拦住提交。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11115675" y="640080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22 / 25</a:t>
            </a:r>
            <a:endParaRPr/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641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五条会员业务线&lt;/Text&gt;&#10;        &lt;Text style={{ fontSize: 16, color: '#5C646A', lineHeight: 1.4, marginTop: 6 }}&gt;&#10;            从账户页九宫格可以逐个进入，其中自动维护有硬性门槛&#10;        &lt;/Text&gt;&#10;    &lt;/Box&gt;&#10;&#10;    {/* ===== B 区 内容区（N 卡片横排 · 2+3 错位） ===== */}&#10;    &lt;Box style={{ height: 540, flexDirection: 'column', gap: 14 }}&gt;&#10;        {/* 上排 2 卡 */}&#10;        &lt;Box style={{ height: 216, flexDirection: 'row', gap: 16 }}&gt;&#10;            {[&#10;                {&#10;                    tag: 'member-welcome.html',&#10;                    t: 'Member Welcome Pack',&#10;                    cn: '欢迎包',&#10;                    hot: false,&#10;                    d: '注册与首购合成一张表：基本资料、商品、网络信息、个人信息、配送方式、地址、支付方式七个分区，结构与注册页几乎一致。推荐人两个字段会自动带出当前登录会员，若链接上带了推荐参数则优先取链接里的值。提交后生成订单并写入推荐返佣流水，三秒后跳转账户页。',&#10;                    foot: '适合：邀请新会员当场完成首购',&#10;                },&#10;                {&#10;                    tag: 'member-repurchase.html',&#10;                    t: 'Member Repeat Purchase',&#10;                    cn: '代客复购',&#10;                    hot: false,&#10;                    d: '输入会员 ID 搜索到人，再替他选商品下单。商品行同时展示两个价格：DP 是经销商价也就是实际成交价，RP 是零售参考价，两者并列但只按 DP 计算金额与 BV。页面自动带出自己的报单中心，用于归属这笔订单的业绩；生成的订单会标记来源为复购。',&#10;                    foot: '注意：DP 与 RP 并列展示，成交按 DP',&#10;                },&#10;            ].map(function (it, i) {&#10;                return (&#10;                    &lt;Box key={i} style={{ flex: 1, background: '#F4F6F8', borderRadius: 10, padding: '18px 20px', flexDirection: 'column' }}&gt;&#10;                        &lt;Box style={{ flexDirection: 'row', alignItems: 'center', gap: 12, marginBottom: 10 }}&gt;&#10;                            &lt;Text style={{ fontSize: 21, fontWeight: 'bold', color: '#202259' }}&gt;{it.t}&lt;/Text&gt;&#10;                            &lt;Box style={{ padding: '3px 10px', background: '#202259', borderRadius: 4 }}&gt;&#10;                                &lt;Text style={{ fontSize: 13, color: '#FFFFFF' }}&gt;{it.cn}&lt;/Text&gt;&#10;                            &lt;/Box&gt;&#10;                            &lt;Text style={{ fontSize: 14, color: '#859EB3', fontFamily: 'Menlo, ui-monospace, monospace', marginLeft: 'auto' }}&gt;{it.tag}&lt;/Text&gt;&#10;                        &lt;/Box&gt;&#10;                        &lt;Text style={{ fontSize: 16, color: '#3F4A55', lineHeight: 1.55, flex: 1 }}&gt;{it.d}&lt;/Text&gt;&#10;                        &lt;Box style={{ marginTop: 10, paddingTop: 10, borderTop: '1px solid #E3E6E8' }}&gt;&#10;                            &lt;Text style={{ fontSize: 15, color: '#2AA7CF', fontWeight: 'bold' }}&gt;{it.foot}&lt;/Text&gt;&#10;                        &lt;/Box&gt;&#10;                    &lt;/Box&gt;&#10;                );&#10;            })}&#10;        &lt;/Box&gt;&#10;&#10;        {/* 下排 3 卡 */}&#10;        &lt;Box style={{ flex: 1, flexDirection: 'row', gap: 16 }}&gt;&#10;            {[&#10;                {&#10;                    tag: 'member-auto-maintenance',&#10;                    t: 'Auto-Maintenance',&#10;                    cn: '自动维护',&#10;                    hot: true,&#10;                    d: '操作方式与代客复购完全同构，区别是加了一条硬门槛：所选商品的总 BV 必须达到 90 BV。摘要区会实时显示三态提示 —— 未达标显示 need ≥ 90 BV，刚好达标显示分数加对勾，差一点则显示 not enough。',&#10;                    foot: '门槛：所选商品总 BV ≥ 90 BV',&#10;                },&#10;                {&#10;                    tag: 'member-upgrade',&#10;                    t: 'Member Upgrade',&#10;                    cn: '会员升级',&#10;                    hot: false,&#10;                    d: '按会员 ID 查询后，页面只开放一个可编辑字段：会员等级。姓名与加入日期都是只读展示。等级共六档：Bronze、Silver、Gold、Platinum、Diamond、Corporate，保存后立即生效。',&#10;                    foot: '等级六档，其余字段只读',&#10;                },&#10;                {&#10;                    tag: 'team-inquiry',&#10;                    t: 'Team Inquiry',&#10;                    cn: '团队查询',&#10;                    hot: false,&#10;                    d: '上下两张表，列完全相同：序号、会员编码、会员姓名、状态、个人 BV、PGS 与总 BV。上表是自己，下表是直属团队，成员状态有 ACTIVE、PENDING、INACTIVE 三种徽标。',&#10;                    foot: '刷新时点：每个结算周期结束时',&#10;                },&#10;            ].map(function (it, i) {&#10;                return (&#10;                    &lt;Box key={i} style={{ flex: 1, background: it.hot ? 'rgba(242,135,183,0.12)' : '#F4F6F8', border: it.hot ? '1px solid #F287B7' : '1px solid #E3E6E8', borderRadius: 10, padding: '16px 18px', flexDirection: 'column' }}&gt;&#10;                        &lt;Text style={{ fontSize: 20, fontWeight: 'bold', color: '#202259', lineHeight: 1.25 }}&gt;{it.t}&lt;/Text&gt;&#10;                        &lt;Box style={{ flexDirection: 'row', alignItems: 'center', gap: 10, marginTop: 6, marginBottom: 10 }}&gt;&#10;                            &lt;Box style={{ padding: '3px 10px', background: it.hot ? '#F287B7' : '#202259', borderRadius: 4 }}&gt;&#10;                                &lt;Text style={{ fontSize: 13, color: '#FFFFFF' }}&gt;{it.cn}&lt;/Text&gt;&#10;                            &lt;/Box&gt;&#10;                            &lt;Text style={{ fontSize: 13, color: '#859EB3', fontFamily: 'Menlo, ui-monospace, monospace' }}&gt;{it.tag}&lt;/Text&gt;&#10;                        &lt;/Box&gt;&#10;                        &lt;Text style={{ fontSize: 16, color: '#3F4A55', lineHeight: 1.5, flex: 1 }}&gt;{it.d}&lt;/Text&gt;&#10;                        &lt;Box style={{ marginTop: 10, paddingTop: 10, borderTop: '1px solid ' + (it.hot ? 'rgba(242,135,183,0.45)' : '#E3E6E8') }}&gt;&#10;                            &lt;Text style={{ fontSize: 15, color: it.hot ? '#B3528A' : '#2AA7CF', fontWeight: 'bold', lineHeight: 1.4 }}&gt;{it.foot}&lt;/Text&gt;&#10;                        &lt;/Box&gt;&#10;                    &lt;/Box&gt;&#10;                );&#10;            })}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23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五条会员业务线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从账户页九宫格可以逐个进入，其中自动维护有硬性门槛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571500" y="1143000"/>
            <a:ext cx="5448300" cy="2200275"/>
          </a:xfrm>
          <a:prstGeom prst="roundRect">
            <a:avLst>
              <a:gd name="adj" fmla="val 432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762000" y="1314450"/>
            <a:ext cx="2266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202259"/>
                </a:solidFill>
                <a:latin typeface="Inter"/>
                <a:ea typeface="Inter"/>
              </a:rPr>
              <a:t>Member Welcome Pack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3143250" y="1333500"/>
            <a:ext cx="561975" cy="209550"/>
          </a:xfrm>
          <a:prstGeom prst="roundRect">
            <a:avLst>
              <a:gd name="adj" fmla="val 18182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3238500" y="13620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Inter"/>
                <a:ea typeface="Inter"/>
              </a:rPr>
              <a:t>欢迎包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4295775" y="1362075"/>
            <a:ext cx="1533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59EB3"/>
                </a:solidFill>
                <a:latin typeface="Menlo"/>
                <a:ea typeface="Menlo"/>
              </a:rPr>
              <a:t>member-welcome.html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762000" y="1657350"/>
            <a:ext cx="5067300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注册与首购合成一张表：基本资料、商品、网络信息、个人信息、配送方式、地址、支付方式七个分区，结构与注册页几乎一致。推荐人两个字段会自动带出当前登录会员，若链接上带了推荐参数则优先取链接里的值。提交后生成订单并写入推荐返佣流水，三秒后跳转账户页。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762000" y="2895600"/>
            <a:ext cx="5067300" cy="285750"/>
          </a:xfrm>
          <a:custGeom>
            <a:pathLst>
              <a:path w="532" h="3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E3E6E8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762000" y="3000375"/>
            <a:ext cx="506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AA7CF"/>
                </a:solidFill>
                <a:latin typeface="Inter"/>
                <a:ea typeface="Inter"/>
              </a:rPr>
              <a:t>适合：邀请新会员当场完成首购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6172200" y="1143000"/>
            <a:ext cx="5448300" cy="2200275"/>
          </a:xfrm>
          <a:prstGeom prst="roundRect">
            <a:avLst>
              <a:gd name="adj" fmla="val 432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6362700" y="1314450"/>
            <a:ext cx="24288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202259"/>
                </a:solidFill>
                <a:latin typeface="Inter"/>
                <a:ea typeface="Inter"/>
              </a:rPr>
              <a:t>Member Repeat Purchase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8905875" y="1333500"/>
            <a:ext cx="676275" cy="209550"/>
          </a:xfrm>
          <a:prstGeom prst="roundRect">
            <a:avLst>
              <a:gd name="adj" fmla="val 18182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9001125" y="1362075"/>
            <a:ext cx="485775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Inter"/>
                <a:ea typeface="Inter"/>
              </a:rPr>
              <a:t>代客复购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9696450" y="136207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59EB3"/>
                </a:solidFill>
                <a:latin typeface="Menlo"/>
                <a:ea typeface="Menlo"/>
              </a:rPr>
              <a:t>member-repurchase.html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6362700" y="1657350"/>
            <a:ext cx="5067300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输入会员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ID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搜索到人，再替他选商品下单。商品行同时展示两个价格：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DP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是经销商价也就是实际成交价，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RP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是零售参考价，两者并列但只按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DP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计算金额与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。页面自动带出自己的报单中心，用于归属这笔订单的业绩；生成的订单会标记来源为复购。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6362700" y="2895600"/>
            <a:ext cx="5067300" cy="285750"/>
          </a:xfrm>
          <a:custGeom>
            <a:pathLst>
              <a:path w="532" h="3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E3E6E8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6362700" y="3000375"/>
            <a:ext cx="506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AA7CF"/>
                </a:solidFill>
                <a:latin typeface="Inter"/>
                <a:ea typeface="Inter"/>
              </a:rPr>
              <a:t>注意：</a:t>
            </a:r>
            <a:r>
              <a:rPr lang="en-US" sz="1125" b="1">
                <a:solidFill>
                  <a:srgbClr val="2AA7CF"/>
                </a:solidFill>
                <a:latin typeface="Inter"/>
                <a:ea typeface="Inter"/>
              </a:rPr>
              <a:t>DP </a:t>
            </a:r>
            <a:r>
              <a:rPr lang="zh-CN" sz="1125" b="1">
                <a:solidFill>
                  <a:srgbClr val="2AA7CF"/>
                </a:solidFill>
                <a:latin typeface="Inter"/>
                <a:ea typeface="Inter"/>
              </a:rPr>
              <a:t>与</a:t>
            </a:r>
            <a:r>
              <a:rPr lang="en-US" sz="1125" b="1">
                <a:solidFill>
                  <a:srgbClr val="2AA7CF"/>
                </a:solidFill>
                <a:latin typeface="Inter"/>
                <a:ea typeface="Inter"/>
              </a:rPr>
              <a:t> RP </a:t>
            </a:r>
            <a:r>
              <a:rPr lang="zh-CN" sz="1125" b="1">
                <a:solidFill>
                  <a:srgbClr val="2AA7CF"/>
                </a:solidFill>
                <a:latin typeface="Inter"/>
                <a:ea typeface="Inter"/>
              </a:rPr>
              <a:t>并列展示，成交按</a:t>
            </a:r>
            <a:r>
              <a:rPr lang="en-US" sz="1125" b="1">
                <a:solidFill>
                  <a:srgbClr val="2AA7CF"/>
                </a:solidFill>
                <a:latin typeface="Inter"/>
                <a:ea typeface="Inter"/>
              </a:rPr>
              <a:t> DP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571500" y="3333750"/>
            <a:ext cx="3581400" cy="2952750"/>
          </a:xfrm>
          <a:prstGeom prst="roundRect">
            <a:avLst>
              <a:gd name="adj" fmla="val 3226"/>
            </a:avLst>
          </a:prstGeom>
          <a:solidFill>
            <a:srgbClr val="F287B7">
              <a:alpha val="12000"/>
            </a:srgbClr>
          </a:solidFill>
          <a:ln w="12700">
            <a:solidFill>
              <a:srgbClr val="F287B7"/>
            </a:solidFill>
            <a:prstDash val="solid"/>
          </a:ln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742950" y="3486150"/>
            <a:ext cx="3238500" cy="2857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500" b="1">
                <a:solidFill>
                  <a:srgbClr val="202259"/>
                </a:solidFill>
                <a:latin typeface="Inter"/>
                <a:ea typeface="Inter"/>
              </a:rPr>
              <a:t>Auto-Maintenance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742950" y="3829050"/>
            <a:ext cx="685800" cy="209550"/>
          </a:xfrm>
          <a:prstGeom prst="roundRect">
            <a:avLst>
              <a:gd name="adj" fmla="val 18182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838200" y="38576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Inter"/>
                <a:ea typeface="Inter"/>
              </a:rPr>
              <a:t>自动维护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1524000" y="3857625"/>
            <a:ext cx="1724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Menlo"/>
                <a:ea typeface="Menlo"/>
              </a:rPr>
              <a:t>member-auto-maintenance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742950" y="4133850"/>
            <a:ext cx="3238500" cy="1552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操作方式与代客复购完全同构，区别是加了一条硬门槛：所选商品的总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必须达到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90 BV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。摘要区会实时显示三态提示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未达标显示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need ≥ 90 BV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，刚好达标显示分数加对勾，差一点则显示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not enough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742950" y="5781675"/>
            <a:ext cx="3238500" cy="361950"/>
          </a:xfrm>
          <a:custGeom>
            <a:pathLst>
              <a:path w="340" h="38">
                <a:moveTo>
                  <a:pt x="0" y="0"/>
                </a:moveTo>
                <a:lnTo>
                  <a:pt x="340" y="0"/>
                </a:lnTo>
                <a:lnTo>
                  <a:pt x="34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87B7">
              <a:alpha val="45000"/>
            </a:srgbClr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742950" y="5886450"/>
            <a:ext cx="3238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B3528A"/>
                </a:solidFill>
                <a:latin typeface="Inter"/>
                <a:ea typeface="Inter"/>
              </a:rPr>
              <a:t>门槛：所选商品总</a:t>
            </a:r>
            <a:r>
              <a:rPr lang="en-US" sz="1125" b="1">
                <a:solidFill>
                  <a:srgbClr val="B3528A"/>
                </a:solidFill>
                <a:latin typeface="Inter"/>
                <a:ea typeface="Inter"/>
              </a:rPr>
              <a:t> BV ≥ 90 BV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4305300" y="3333750"/>
            <a:ext cx="3581400" cy="2952750"/>
          </a:xfrm>
          <a:prstGeom prst="roundRect">
            <a:avLst>
              <a:gd name="adj" fmla="val 3226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4476750" y="3486150"/>
            <a:ext cx="3238500" cy="2857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500" b="1">
                <a:solidFill>
                  <a:srgbClr val="202259"/>
                </a:solidFill>
                <a:latin typeface="Inter"/>
                <a:ea typeface="Inter"/>
              </a:rPr>
              <a:t>Member Upgrade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4476750" y="3829050"/>
            <a:ext cx="685800" cy="209550"/>
          </a:xfrm>
          <a:prstGeom prst="roundRect">
            <a:avLst>
              <a:gd name="adj" fmla="val 18182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4572000" y="38576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Inter"/>
                <a:ea typeface="Inter"/>
              </a:rPr>
              <a:t>会员升级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5257800" y="3857625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Menlo"/>
                <a:ea typeface="Menlo"/>
              </a:rPr>
              <a:t>member-upgrade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4476750" y="4133850"/>
            <a:ext cx="3238500" cy="1552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按会员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ID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查询后，页面只开放一个可编辑字段：会员等级。姓名与加入日期都是只读展示。等级共六档：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Bronze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、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Silver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、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Gold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、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Platinum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、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Diamond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、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Corporate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，保存后立即生效。</a:t>
            </a:r>
            <a:endParaRPr/>
          </a:p>
        </p:txBody>
      </p:sp>
      <p:sp>
        <p:nvSpPr>
          <p:cNvPr id="675" name=""/>
          <p:cNvSpPr/>
          <p:nvPr/>
        </p:nvSpPr>
        <p:spPr>
          <a:xfrm rot="0" flipH="0" flipV="0">
            <a:off x="4476750" y="5781675"/>
            <a:ext cx="3238500" cy="361950"/>
          </a:xfrm>
          <a:custGeom>
            <a:pathLst>
              <a:path w="340" h="38">
                <a:moveTo>
                  <a:pt x="0" y="0"/>
                </a:moveTo>
                <a:lnTo>
                  <a:pt x="340" y="0"/>
                </a:lnTo>
                <a:lnTo>
                  <a:pt x="340" y="1"/>
                </a:lnTo>
                <a:lnTo>
                  <a:pt x="0" y="1"/>
                </a:lnTo>
                <a:close/>
              </a:path>
            </a:pathLst>
          </a:custGeom>
          <a:solidFill>
            <a:srgbClr val="E3E6E8"/>
          </a:solidFill>
          <a:ln/>
        </p:spPr>
        <p:txBody>
          <a:bodyPr/>
          <a:p/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4476750" y="5886450"/>
            <a:ext cx="3238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AA7CF"/>
                </a:solidFill>
                <a:latin typeface="Inter"/>
                <a:ea typeface="Inter"/>
              </a:rPr>
              <a:t>等级六档，其余字段只读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8039100" y="3333750"/>
            <a:ext cx="3581400" cy="2952750"/>
          </a:xfrm>
          <a:prstGeom prst="roundRect">
            <a:avLst>
              <a:gd name="adj" fmla="val 3226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8210550" y="3486150"/>
            <a:ext cx="3238500" cy="2857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500" b="1">
                <a:solidFill>
                  <a:srgbClr val="202259"/>
                </a:solidFill>
                <a:latin typeface="Inter"/>
                <a:ea typeface="Inter"/>
              </a:rPr>
              <a:t>Team Inquiry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8210550" y="3829050"/>
            <a:ext cx="685800" cy="209550"/>
          </a:xfrm>
          <a:prstGeom prst="roundRect">
            <a:avLst>
              <a:gd name="adj" fmla="val 18182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8305800" y="38576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Inter"/>
                <a:ea typeface="Inter"/>
              </a:rPr>
              <a:t>团队查询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8991600" y="3857625"/>
            <a:ext cx="895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Menlo"/>
                <a:ea typeface="Menlo"/>
              </a:rPr>
              <a:t>team-inquiry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8210550" y="4133850"/>
            <a:ext cx="3238500" cy="1552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上下两张表，列完全相同：序号、会员编码、会员姓名、状态、个人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、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PGS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与总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。上表是自己，下表是直属团队，成员状态有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ACTIVE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、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PENDING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、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INACTIVE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三种徽标。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8210550" y="5781675"/>
            <a:ext cx="3238500" cy="361950"/>
          </a:xfrm>
          <a:custGeom>
            <a:pathLst>
              <a:path w="340" h="38">
                <a:moveTo>
                  <a:pt x="0" y="0"/>
                </a:moveTo>
                <a:lnTo>
                  <a:pt x="340" y="0"/>
                </a:lnTo>
                <a:lnTo>
                  <a:pt x="340" y="1"/>
                </a:lnTo>
                <a:lnTo>
                  <a:pt x="0" y="1"/>
                </a:lnTo>
                <a:close/>
              </a:path>
            </a:pathLst>
          </a:custGeom>
          <a:solidFill>
            <a:srgbClr val="E3E6E8"/>
          </a:solidFill>
          <a:ln/>
        </p:spPr>
        <p:txBody>
          <a:bodyPr/>
          <a:p/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8210550" y="5886450"/>
            <a:ext cx="3238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AA7CF"/>
                </a:solidFill>
                <a:latin typeface="Inter"/>
                <a:ea typeface="Inter"/>
              </a:rPr>
              <a:t>刷新时点：每个结算周期结束时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11115675" y="640080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23 / 25</a:t>
            </a:r>
            <a:endParaRPr/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688" name="" descr="&lt;Slide style={{ width: 1280, height: 720, padding: '20px 60px', fontFamily: 'Inter, PingFang SC, Helvetica Neue, sans-serif', background: '#FFFFFF' }}&gt;&#10;    {/* ===== A 区 标题块 ===== */}&#10;    &lt;Box style={{ height: 100, flexDirection: 'column', justifyContent: 'flex-start' }}&gt;&#10;        &lt;Text style={{ fontSize: 34, fontWeight: 'bold', color: '#202259', lineHeight: 1.3 }}&gt;现场演示动线&lt;/Text&gt;&#10;        &lt;Text style={{ fontSize: 16, color: '#5C646A', lineHeight: 1.4, marginTop: 6 }}&gt;&#10;            按这个顺序点一遍，三个章节的内容都能自然串起来&#10;        &lt;/Text&gt;&#10;    &lt;/Box&gt;&#10;&#10;    {/* ===== B 区 内容区（左标题栏 + 右内容） ===== */}&#10;    &lt;Box style={{ height: 540, flexDirection: 'row', gap: 22 }}&gt;&#10;        {/* 左栏：演示前准备 */}&#10;        &lt;Box style={{ width: 380, background: '#202259', borderRadius: 10, padding: '24px 22px', flexDirection: 'column' }}&gt;&#10;            &lt;Text style={{ fontSize: 15, color: '#7FD3EC', letterSpacing: 2, fontWeight: 'bold' }}&gt;BEFORE YOU START&lt;/Text&gt;&#10;            &lt;Text style={{ fontSize: 28, fontWeight: 'bold', color: '#FFFFFF', lineHeight: 1.25, marginTop: 12 }}&gt;&#10;                演示前&#10;                &lt;br /&gt;&#10;                必做两步&#10;            &lt;/Text&gt;&#10;&#10;            &lt;Box style={{ flexDirection: 'column', gap: 14, marginTop: 20 }}&gt;&#10;                {[&#10;                    { n: '1', t: '先清空一次浏览器数据', d: '演示账号与示例订单只在本地数据为空时自动注入。不清就直接打开账户页，看到的可能是上一轮演示留下的旧数据。' },&#10;                    { n: '2', t: '统一会员姓名口径', d: '同一个演示会员 ID 在不同页面里显示过不同姓名，这是演示数据不统一造成的。讲解时以账户页首屏显示的为准。' },&#10;                ].map(function (it, i) {&#10;                    return (&#10;                        &lt;Box key={i} style={{ flexDirection: 'row', gap: 12, alignItems: 'flex-start' }}&gt;&#10;                            &lt;Box style={{ width: 26, height: 26, borderRadius: 13, background: '#F287B7', justifyContent: 'center', alignItems: 'center' }}&gt;&#10;                                &lt;Text style={{ fontSize: 15, fontWeight: 'bold', color: '#FFFFFF' }}&gt;{it.n}&lt;/Text&gt;&#10;                            &lt;/Box&gt;&#10;                            &lt;Box style={{ flex: 1, flexDirection: 'column' }}&gt;&#10;                                &lt;Text style={{ fontSize: 18, fontWeight: 'bold', color: '#FFFFFF' }}&gt;{it.t}&lt;/Text&gt;&#10;                                &lt;Text style={{ fontSize: 16, color: '#B9C6E4', lineHeight: 1.5, marginTop: 4 }}&gt;{it.d}&lt;/Text&gt;&#10;                            &lt;/Box&gt;&#10;                        &lt;/Box&gt;&#10;                    );&#10;                })}&#10;            &lt;/Box&gt;&#10;&#10;            &lt;Box style={{ marginTop: 'auto', paddingTop: 16, borderTop: '1px solid rgba(127,211,236,0.3)' }}&gt;&#10;                &lt;Text style={{ fontSize: 16, color: '#CFE9F4', lineHeight: 1.5 }}&gt;&#10;                    两处提醒：USSD 固定码直接照读即可；点 Place order 之前记得先把两项同意勾上。&#10;                &lt;/Text&gt;&#10;            &lt;/Box&gt;&#10;        &lt;/Box&gt;&#10;&#10;        {/* 右栏：时间轴 */}&#10;        &lt;Box style={{ flex: 1, flexDirection: 'column' }}&gt;&#10;            &lt;Text style={{ fontSize: 19, fontWeight: 'bold', color: '#202259', marginBottom: 10 }}&gt;&#10;                建议点击顺序&#10;            &lt;/Text&gt;&#10;            &lt;Box style={{ flex: 1, flexDirection: 'column', gap: 8 }}&gt;&#10;                {[&#10;                    { s: '01', t: '注册页：亮出 Member ID 是自动生成的', d: 'signup.html · 填必填项 → Save → 自动登录 → 三秒跳账户页' },&#10;                    { s: '02', t: '账户页首屏：奖金与 Ecoin 两张卡', d: 'account.html · 展开 Breakdown 与 View History 流水' },&#10;                    { s: '03', t: '加购到下单：走完整条链', d: '商品页加购 → 购物车改数量 → 结算选配送与自提点 → 切支付方式 → Place order' },&#10;                    { s: '04', t: '落地页与订单详情', d: 'shipping.html 显示订单号与 BV 归属 → 点进 order.html 看字段与自动复制链接' },&#10;                    { s: '05', t: '订单分桶：个人单与代下单', d: '账户页 Orders · 切 My orders 与 Member orders 两段' },&#10;                    { s: '06', t: '奖金弹窗四件套', d: 'Trading Record → Previous Bonus 周期表 → 周期明细 → 历史累计' },&#10;                    { s: '07', t: '充值与转账', d: 'Recharge and Transfer · 展示两本账之间的搬钱路径' },&#10;                    { s: '08', t: '五条业务线与推荐网络', d: '复购 / 自动维护（验 90 BV 门槛）/ 升级 / 团队查询 / Sponsor Network 树' },&#10;                ].map(function (it, i) {&#10;                    return (&#10;                        &lt;Box key={i} style={{ flex: 1, flexDirection: 'row', gap: 14, alignItems: 'center', background: i % 2 === 0 ? '#F4F6F8' : '#FFFFFF', border: '1px solid #E3E6E8', borderRadius: 8, padding: '0 16px' }}&gt;&#10;                            &lt;Text style={{ fontSize: 17, fontWeight: 'bold', color: '#2AA7CF', fontFamily: 'Menlo, ui-monospace, monospace', width: 30 }}&gt;{it.s}&lt;/Text&gt;&#10;                            &lt;Box style={{ flex: 1, flexDirection: 'column' }}&gt;&#10;                                &lt;Text style={{ fontSize: 17, fontWeight: 'bold', color: '#202259', lineHeight: 1.3 }}&gt;{it.t}&lt;/Text&gt;&#10;                                &lt;Text style={{ fontSize: 15, color: '#5C646A', lineHeight: 1.35, marginTop: 2 }}&gt;{it.d}&lt;/Text&gt;&#10;                            &lt;/Box&gt;&#10;                        &lt;/Box&gt;&#10;                    );&#10;                })}&#10;            &lt;/Box&gt;&#10;        &lt;/Box&gt;&#10;    &lt;/Box&gt;&#10;&#10;    {/* ===== C 区 页脚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前端系统功能讲解&lt;/Text&gt;&#10;        &lt;/Box&gt;&#10;        &lt;Text style={{ fontSize: 14, color: '#5C646A', letterSpacing: 0.3 }}&gt;24 / 2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现场演示动线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按这个顺序点一遍，三个章节的内容都能自然串起来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571500" y="1143000"/>
            <a:ext cx="3619500" cy="5143500"/>
          </a:xfrm>
          <a:prstGeom prst="roundRect">
            <a:avLst>
              <a:gd name="adj" fmla="val 2632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781050" y="1371600"/>
            <a:ext cx="320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BEFORE YOU START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781050" y="1657350"/>
            <a:ext cx="32004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100" b="1">
                <a:solidFill>
                  <a:srgbClr val="FFFFFF"/>
                </a:solidFill>
                <a:latin typeface="Inter"/>
                <a:ea typeface="Inter"/>
              </a:rPr>
              <a:t>演示前</a:t>
            </a:r>
            <a:endParaRPr/>
          </a:p>
          <a:p>
            <a:pPr>
              <a:lnSpc>
                <a:spcPct val="125000"/>
              </a:lnSpc>
            </a:pPr>
            <a:r>
              <a:rPr lang="zh-CN" sz="2100" b="1">
                <a:solidFill>
                  <a:srgbClr val="FFFFFF"/>
                </a:solidFill>
                <a:latin typeface="Inter"/>
                <a:ea typeface="Inter"/>
              </a:rPr>
              <a:t>必做两步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781050" y="26479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876300" y="2686050"/>
            <a:ext cx="66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1143000" y="2647950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Inter"/>
                <a:ea typeface="Inter"/>
              </a:rPr>
              <a:t>先清空一次浏览器数据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1143000" y="2895600"/>
            <a:ext cx="28384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演示账号与示例订单只在本地数据为空时自动注入。不清就直接打开账户页，看到的可能是上一轮演示留下的旧数据。</a:t>
            </a:r>
            <a:endParaRPr/>
          </a:p>
        </p:txBody>
      </p:sp>
      <p:sp>
        <p:nvSpPr>
          <p:cNvPr id="699" name=""/>
          <p:cNvSpPr/>
          <p:nvPr/>
        </p:nvSpPr>
        <p:spPr>
          <a:xfrm rot="0" flipH="0" flipV="0">
            <a:off x="781050" y="38576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866775" y="389572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2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1143000" y="3857625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Inter"/>
                <a:ea typeface="Inter"/>
              </a:rPr>
              <a:t>统一会员姓名口径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1143000" y="4105275"/>
            <a:ext cx="28384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同一个演示会员</a:t>
            </a:r>
            <a:r>
              <a:rPr lang="en-US" sz="1200">
                <a:solidFill>
                  <a:srgbClr val="B9C6E4"/>
                </a:solidFill>
                <a:latin typeface="Inter"/>
                <a:ea typeface="Inter"/>
              </a:rPr>
              <a:t> ID </a:t>
            </a: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在不同页面里显示过不同姓名，这是演示数据不统一造成的。讲解时以账户页首屏显示的为准。</a:t>
            </a:r>
            <a:endParaRPr/>
          </a:p>
        </p:txBody>
      </p:sp>
      <p:sp>
        <p:nvSpPr>
          <p:cNvPr id="703" name=""/>
          <p:cNvSpPr/>
          <p:nvPr/>
        </p:nvSpPr>
        <p:spPr>
          <a:xfrm rot="0" flipH="0" flipV="0">
            <a:off x="781050" y="5343525"/>
            <a:ext cx="3200400" cy="723900"/>
          </a:xfrm>
          <a:custGeom>
            <a:pathLst>
              <a:path w="336" h="76">
                <a:moveTo>
                  <a:pt x="0" y="0"/>
                </a:moveTo>
                <a:lnTo>
                  <a:pt x="336" y="0"/>
                </a:lnTo>
                <a:lnTo>
                  <a:pt x="336" y="1"/>
                </a:lnTo>
                <a:lnTo>
                  <a:pt x="0" y="1"/>
                </a:lnTo>
                <a:close/>
              </a:path>
            </a:pathLst>
          </a:custGeom>
          <a:solidFill>
            <a:srgbClr val="7FD3EC">
              <a:alpha val="30000"/>
            </a:srgbClr>
          </a:solidFill>
          <a:ln/>
        </p:spPr>
        <p:txBody>
          <a:bodyPr/>
          <a:p/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781050" y="5505450"/>
            <a:ext cx="3200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两处提醒：</a:t>
            </a:r>
            <a:r>
              <a:rPr lang="en-US" sz="1200">
                <a:solidFill>
                  <a:srgbClr val="CFE9F4"/>
                </a:solidFill>
                <a:latin typeface="Inter"/>
                <a:ea typeface="Inter"/>
              </a:rPr>
              <a:t>USSD </a:t>
            </a: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固定码直接照读即可；点</a:t>
            </a:r>
            <a:r>
              <a:rPr lang="en-US" sz="1200">
                <a:solidFill>
                  <a:srgbClr val="CFE9F4"/>
                </a:solidFill>
                <a:latin typeface="Inter"/>
                <a:ea typeface="Inter"/>
              </a:rPr>
              <a:t> Place order </a:t>
            </a: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之前记得先把两项同意勾上。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4400550" y="1143000"/>
            <a:ext cx="7219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建议点击顺序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4400550" y="1457325"/>
            <a:ext cx="7219950" cy="533400"/>
          </a:xfrm>
          <a:prstGeom prst="roundRect">
            <a:avLst>
              <a:gd name="adj" fmla="val 14286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4552950" y="1628775"/>
            <a:ext cx="28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A7CF"/>
                </a:solidFill>
                <a:latin typeface="Menlo"/>
                <a:ea typeface="Menlo"/>
              </a:rPr>
              <a:t>01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4972050" y="1466850"/>
            <a:ext cx="64960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注册页：亮出</a:t>
            </a: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 Member ID </a:t>
            </a: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是自动生成的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4972050" y="1743075"/>
            <a:ext cx="64960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signup.html ·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填必填项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→ Save →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自动登录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→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三秒跳账户页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4400550" y="2066925"/>
            <a:ext cx="7219950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4552950" y="2238375"/>
            <a:ext cx="28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A7CF"/>
                </a:solidFill>
                <a:latin typeface="Menlo"/>
                <a:ea typeface="Menlo"/>
              </a:rPr>
              <a:t>02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4972050" y="2085975"/>
            <a:ext cx="64960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账户页首屏：奖金与</a:t>
            </a: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 Ecoin </a:t>
            </a: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两张卡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4972050" y="2362200"/>
            <a:ext cx="64960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account.html ·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展开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Breakdown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与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View History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流水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4400550" y="2686050"/>
            <a:ext cx="7219950" cy="533400"/>
          </a:xfrm>
          <a:prstGeom prst="roundRect">
            <a:avLst>
              <a:gd name="adj" fmla="val 14286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4552950" y="2857500"/>
            <a:ext cx="28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A7CF"/>
                </a:solidFill>
                <a:latin typeface="Menlo"/>
                <a:ea typeface="Menlo"/>
              </a:rPr>
              <a:t>03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4972050" y="2695575"/>
            <a:ext cx="64960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加购到下单：走完整条链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4972050" y="2971800"/>
            <a:ext cx="64960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商品页加购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→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购物车改数量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→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结算选配送与自提点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→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切支付方式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→ Place order</a:t>
            </a:r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4400550" y="3295650"/>
            <a:ext cx="7219950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4552950" y="3467100"/>
            <a:ext cx="28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A7CF"/>
                </a:solidFill>
                <a:latin typeface="Menlo"/>
                <a:ea typeface="Menlo"/>
              </a:rPr>
              <a:t>04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4972050" y="3314700"/>
            <a:ext cx="64960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落地页与订单详情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4972050" y="3590925"/>
            <a:ext cx="64960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shipping.html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显示订单号与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BV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归属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→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点进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order.html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看字段与自动复制链接</a:t>
            </a:r>
            <a:endParaRPr/>
          </a:p>
        </p:txBody>
      </p:sp>
      <p:sp>
        <p:nvSpPr>
          <p:cNvPr id="722" name=""/>
          <p:cNvSpPr/>
          <p:nvPr/>
        </p:nvSpPr>
        <p:spPr>
          <a:xfrm rot="0" flipH="0" flipV="0">
            <a:off x="4400550" y="3914775"/>
            <a:ext cx="7219950" cy="533400"/>
          </a:xfrm>
          <a:prstGeom prst="roundRect">
            <a:avLst>
              <a:gd name="adj" fmla="val 14286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4552950" y="4086225"/>
            <a:ext cx="28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A7CF"/>
                </a:solidFill>
                <a:latin typeface="Menlo"/>
                <a:ea typeface="Menlo"/>
              </a:rPr>
              <a:t>05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4972050" y="3924300"/>
            <a:ext cx="64960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订单分桶：个人单与代下单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4972050" y="4200525"/>
            <a:ext cx="64960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账户页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Orders ·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切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My orders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与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Member orders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两段</a:t>
            </a:r>
            <a:endParaRPr/>
          </a:p>
        </p:txBody>
      </p:sp>
      <p:sp>
        <p:nvSpPr>
          <p:cNvPr id="726" name=""/>
          <p:cNvSpPr/>
          <p:nvPr/>
        </p:nvSpPr>
        <p:spPr>
          <a:xfrm rot="0" flipH="0" flipV="0">
            <a:off x="4400550" y="4524375"/>
            <a:ext cx="72199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4552950" y="4695825"/>
            <a:ext cx="28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A7CF"/>
                </a:solidFill>
                <a:latin typeface="Menlo"/>
                <a:ea typeface="Menlo"/>
              </a:rPr>
              <a:t>06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4972050" y="4533900"/>
            <a:ext cx="64960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奖金弹窗四件套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4972050" y="4810125"/>
            <a:ext cx="64960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Trading Record → Previous Bonus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周期表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→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周期明细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→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历史累计</a:t>
            </a:r>
            <a:endParaRPr/>
          </a:p>
        </p:txBody>
      </p:sp>
      <p:sp>
        <p:nvSpPr>
          <p:cNvPr id="730" name=""/>
          <p:cNvSpPr/>
          <p:nvPr/>
        </p:nvSpPr>
        <p:spPr>
          <a:xfrm rot="0" flipH="0" flipV="0">
            <a:off x="4400550" y="5133975"/>
            <a:ext cx="7219950" cy="542925"/>
          </a:xfrm>
          <a:prstGeom prst="roundRect">
            <a:avLst>
              <a:gd name="adj" fmla="val 14035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4552950" y="5305425"/>
            <a:ext cx="28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A7CF"/>
                </a:solidFill>
                <a:latin typeface="Menlo"/>
                <a:ea typeface="Menlo"/>
              </a:rPr>
              <a:t>07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4972050" y="5153025"/>
            <a:ext cx="64960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充值与转账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4972050" y="5429250"/>
            <a:ext cx="64960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Recharge and Transfer ·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展示两本账之间的搬钱路径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4400550" y="5753100"/>
            <a:ext cx="72199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4552950" y="5924550"/>
            <a:ext cx="28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A7CF"/>
                </a:solidFill>
                <a:latin typeface="Menlo"/>
                <a:ea typeface="Menlo"/>
              </a:rPr>
              <a:t>08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4972050" y="5762625"/>
            <a:ext cx="64960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五条业务线与推荐网络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4972050" y="6038850"/>
            <a:ext cx="64960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复购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/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自动维护（验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90 BV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门槛）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/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升级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/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团队查询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/ Sponsor Network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树</a:t>
            </a:r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11115675" y="640080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24 / 25</a:t>
            </a:r>
            <a:endParaRPr/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741" name="" descr="&lt;Slide style={{ width: 1280, height: 720, position: 'relative', fontFamily: 'Inter, PingFang SC, Helvetica Neue, sans-serif', background: '#202259' }}&gt;&#10;    {/* 极简底纹 */}&#10;    &lt;Box style={{ position: 'absolute', top: 0, left: 0, width: 1280, height: 720, background: 'linear-gradient(135deg, #202259 0%, #2A3170 48%, #1B5C78 100%)' }} /&gt;&#10;    &lt;Box style={{ position: 'absolute', top: -180, right: -140, width: 560, height: 560, borderRadius: 280, background: 'rgba(42,167,207,0.20)' }} /&gt;&#10;    &lt;Box style={{ position: 'absolute', bottom: -220, left: -160, width: 620, height: 620, borderRadius: 310, background: 'rgba(242,135,183,0.14)' }} /&gt;&#10;&#10;    &lt;Box style={{ position: 'relative', width: '100%', height: '100%', padding: '64px 80px', flexDirection: 'column', justifyContent: 'space-between' }}&gt;&#10;        {/* 巨型数字三连 */}&#10;        &lt;Box style={{ flexDirection: 'row', justifyContent: 'space-between', marginTop: 24 }}&gt;&#10;            {[&#10;                { n: '3', u: '条链路', d: '下单、注册、账户奖金，今天全部走了一遍' },&#10;                { n: '6', u: '个存储键', d: '支撑全站数据的 localStorage 键位' },&#10;                { n: '9', u: '类奖金', d: '名称齐全，比例与条件留给线下说明' },&#10;            ].map(function (it, i) {&#10;                return (&#10;                    &lt;Box key={i} style={{ width: 340, flexDirection: 'column' }}&gt;&#10;                        &lt;Box style={{ flexDirection: 'row', alignItems: 'baseline', gap: 8 }}&gt;&#10;                            &lt;Text style={{ fontSize: 96, fontWeight: 'bold', color: i === 2 ? '#F287B7' : '#7FD3EC', lineHeight: 1, letterSpacing: -4 }}&gt;{it.n}&lt;/Text&gt;&#10;                            &lt;Text style={{ fontSize: 24, color: '#FFFFFF', fontWeight: 'bold' }}&gt;{it.u}&lt;/Text&gt;&#10;                        &lt;/Box&gt;&#10;                        &lt;Box style={{ width: 76, height: 3, background: i === 2 ? '#F287B7' : '#2AA7CF', marginTop: 14, marginBottom: 14 }} /&gt;&#10;                        &lt;Text style={{ fontSize: 18, color: '#B9C6E4', lineHeight: 1.5 }}&gt;{it.d}&lt;/Text&gt;&#10;                    &lt;/Box&gt;&#10;                );&#10;            })}&#10;        &lt;/Box&gt;&#10;&#10;        {/* 收束金句 */}&#10;        &lt;Box style={{ flexDirection: 'column' }}&gt;&#10;            &lt;Text style={{ fontSize: 46, fontWeight: 'bold', color: '#FFFFFF', lineHeight: 1.25, letterSpacing: -0.8 }}&gt;&#10;                讲清实现边界，比讲全功能更重要。&#10;            &lt;/Text&gt;&#10;            &lt;Text style={{ fontSize: 20, color: '#B9C6E4', lineHeight: 1.55, marginTop: 16, width: 880 }}&gt;&#10;                今天每条结论都能在页面上点出来。哪一条需要变成正式需求，随时拉上技术一起过一遍。&#10;            &lt;/Text&gt;&#10;        &lt;/Box&gt;&#10;&#10;        {/* 落款 */}&#10;        &lt;Box style={{ flexDirection: 'row', justifyContent: 'space-between', alignItems: 'center' }}&gt;&#10;            &lt;Box style={{ flexDirection: 'row', alignItems: 'center', gap: 10 }}&gt;&#10;                &lt;Box style={{ width: 10, height: 10, background: '#F287B7', borderRadius: 2 }} /&gt;&#10;                &lt;Text style={{ fontSize: 16, color: '#8A9BC0', letterSpacing: 0.4 }}&gt;AQUALIFE · 前端系统功能讲解&lt;/Text&gt;&#10;            &lt;/Box&gt;&#10;            &lt;Text style={{ fontSize: 16, color: '#8A9BC0', letterSpacing: 0.4 }}&gt;2026-09-14 · 25 / 25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7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02259"/>
              </a:gs>
              <a:gs pos="48000">
                <a:srgbClr val="2A3170"/>
              </a:gs>
              <a:gs pos="100000">
                <a:srgbClr val="1B5C7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44" name=""/>
          <p:cNvSpPr/>
          <p:nvPr/>
        </p:nvSpPr>
        <p:spPr>
          <a:xfrm rot="0" flipH="0" flipV="0">
            <a:off x="8191500" y="-1714500"/>
            <a:ext cx="5334000" cy="5334000"/>
          </a:xfrm>
          <a:prstGeom prst="roundRect">
            <a:avLst>
              <a:gd name="adj" fmla="val 50000"/>
            </a:avLst>
          </a:prstGeom>
          <a:solidFill>
            <a:srgbClr val="2AA7CF">
              <a:alpha val="20000"/>
            </a:srgbClr>
          </a:solidFill>
          <a:ln/>
        </p:spPr>
        <p:txBody>
          <a:bodyPr/>
          <a:p/>
        </p:txBody>
      </p:sp>
      <p:sp>
        <p:nvSpPr>
          <p:cNvPr id="745" name=""/>
          <p:cNvSpPr/>
          <p:nvPr/>
        </p:nvSpPr>
        <p:spPr>
          <a:xfrm rot="0" flipH="0" flipV="0">
            <a:off x="-1524000" y="3048000"/>
            <a:ext cx="5905500" cy="5905500"/>
          </a:xfrm>
          <a:prstGeom prst="roundRect">
            <a:avLst>
              <a:gd name="adj" fmla="val 50000"/>
            </a:avLst>
          </a:prstGeom>
          <a:solidFill>
            <a:srgbClr val="F287B7">
              <a:alpha val="14000"/>
            </a:srgbClr>
          </a:solidFill>
          <a:ln/>
        </p:spPr>
        <p:txBody>
          <a:bodyPr/>
          <a:p/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762000" y="838200"/>
            <a:ext cx="5143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300">
                <a:solidFill>
                  <a:srgbClr val="7FD3EC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1352550" y="838200"/>
            <a:ext cx="685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Inter"/>
                <a:ea typeface="Inter"/>
              </a:rPr>
              <a:t>条链路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762000" y="2076450"/>
            <a:ext cx="723900" cy="28575"/>
          </a:xfrm>
          <a:prstGeom prst="rect">
            <a:avLst/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762000" y="2238375"/>
            <a:ext cx="32385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B9C6E4"/>
                </a:solidFill>
                <a:latin typeface="Inter"/>
                <a:ea typeface="Inter"/>
              </a:rPr>
              <a:t>下单、注册、账户奖金，今天全部走了一遍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4476750" y="838200"/>
            <a:ext cx="5143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300">
                <a:solidFill>
                  <a:srgbClr val="7FD3EC"/>
                </a:solidFill>
                <a:latin typeface="Inter"/>
                <a:ea typeface="Inter"/>
              </a:rPr>
              <a:t>6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5067300" y="838200"/>
            <a:ext cx="9144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Inter"/>
                <a:ea typeface="Inter"/>
              </a:rPr>
              <a:t>个存储键</a:t>
            </a:r>
            <a:endParaRPr/>
          </a:p>
        </p:txBody>
      </p:sp>
      <p:sp>
        <p:nvSpPr>
          <p:cNvPr id="752" name=""/>
          <p:cNvSpPr/>
          <p:nvPr/>
        </p:nvSpPr>
        <p:spPr>
          <a:xfrm rot="0" flipH="0" flipV="0">
            <a:off x="4476750" y="2076450"/>
            <a:ext cx="723900" cy="28575"/>
          </a:xfrm>
          <a:prstGeom prst="rect">
            <a:avLst/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4476750" y="2238375"/>
            <a:ext cx="3238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B9C6E4"/>
                </a:solidFill>
                <a:latin typeface="Inter"/>
                <a:ea typeface="Inter"/>
              </a:rPr>
              <a:t>支撑全站数据的</a:t>
            </a:r>
            <a:r>
              <a:rPr lang="en-US" sz="1350">
                <a:solidFill>
                  <a:srgbClr val="B9C6E4"/>
                </a:solidFill>
                <a:latin typeface="Inter"/>
                <a:ea typeface="Inter"/>
              </a:rPr>
              <a:t> localStorage </a:t>
            </a:r>
            <a:r>
              <a:rPr lang="zh-CN" sz="1350">
                <a:solidFill>
                  <a:srgbClr val="B9C6E4"/>
                </a:solidFill>
                <a:latin typeface="Inter"/>
                <a:ea typeface="Inter"/>
              </a:rPr>
              <a:t>键位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8191500" y="838200"/>
            <a:ext cx="5143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300">
                <a:solidFill>
                  <a:srgbClr val="F287B7"/>
                </a:solidFill>
                <a:latin typeface="Inter"/>
                <a:ea typeface="Inter"/>
              </a:rPr>
              <a:t>9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8782050" y="838200"/>
            <a:ext cx="685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Inter"/>
                <a:ea typeface="Inter"/>
              </a:rPr>
              <a:t>类奖金</a:t>
            </a:r>
            <a:endParaRPr/>
          </a:p>
        </p:txBody>
      </p:sp>
      <p:sp>
        <p:nvSpPr>
          <p:cNvPr id="756" name=""/>
          <p:cNvSpPr/>
          <p:nvPr/>
        </p:nvSpPr>
        <p:spPr>
          <a:xfrm rot="0" flipH="0" flipV="0">
            <a:off x="8191500" y="2076450"/>
            <a:ext cx="723900" cy="28575"/>
          </a:xfrm>
          <a:prstGeom prst="rect">
            <a:avLst/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8191500" y="2238375"/>
            <a:ext cx="3238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B9C6E4"/>
                </a:solidFill>
                <a:latin typeface="Inter"/>
                <a:ea typeface="Inter"/>
              </a:rPr>
              <a:t>名称齐全，比例与条件留给线下说明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762000" y="3876675"/>
            <a:ext cx="10668000" cy="657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450" b="1" spc="-60">
                <a:solidFill>
                  <a:srgbClr val="FFFFFF"/>
                </a:solidFill>
                <a:latin typeface="Inter"/>
                <a:ea typeface="Inter"/>
              </a:rPr>
              <a:t>讲清实现边界，比讲全功能更重要。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762000" y="4686300"/>
            <a:ext cx="8382000" cy="3619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00">
                <a:solidFill>
                  <a:srgbClr val="B9C6E4"/>
                </a:solidFill>
                <a:latin typeface="Inter"/>
                <a:ea typeface="Inter"/>
              </a:rPr>
              <a:t>今天每条结论都能在页面上点出来。哪一条需要变成正式需求，随时拉上技术一起过一遍。</a:t>
            </a:r>
            <a:endParaRPr/>
          </a:p>
        </p:txBody>
      </p:sp>
      <p:sp>
        <p:nvSpPr>
          <p:cNvPr id="760" name=""/>
          <p:cNvSpPr/>
          <p:nvPr/>
        </p:nvSpPr>
        <p:spPr>
          <a:xfrm rot="0" flipH="0" flipV="0">
            <a:off x="762000" y="6105525"/>
            <a:ext cx="95250" cy="95250"/>
          </a:xfrm>
          <a:prstGeom prst="roundRect">
            <a:avLst>
              <a:gd name="adj" fmla="val 20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952500" y="6057900"/>
            <a:ext cx="2209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">
                <a:solidFill>
                  <a:srgbClr val="8A9BC0"/>
                </a:solidFill>
                <a:latin typeface="Inter"/>
                <a:ea typeface="Inter"/>
              </a:rPr>
              <a:t>AQUALIFE · </a:t>
            </a:r>
            <a:r>
              <a:rPr lang="zh-CN" sz="1200" spc="30">
                <a:solidFill>
                  <a:srgbClr val="8A9BC0"/>
                </a:solidFill>
                <a:latin typeface="Inter"/>
                <a:ea typeface="Inter"/>
              </a:rPr>
              <a:t>前端系统功能讲解</a:t>
            </a:r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9744075" y="6057900"/>
            <a:ext cx="1685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">
                <a:solidFill>
                  <a:srgbClr val="8A9BC0"/>
                </a:solidFill>
                <a:latin typeface="Inter"/>
                <a:ea typeface="Inter"/>
              </a:rPr>
              <a:t>2026-09-14 · 25 / 25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2026-09-14T11:23:45Z</dcterms:created>
  <dcterms:modified xsi:type="dcterms:W3CDTF">2026-09-14T11:23:45Z</dcterms:modified>
</cp:coreProperties>
</file>